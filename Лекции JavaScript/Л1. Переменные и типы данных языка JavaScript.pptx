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9"/>
  </p:notesMasterIdLst>
  <p:sldIdLst>
    <p:sldId id="256" r:id="rId2"/>
    <p:sldId id="282" r:id="rId3"/>
    <p:sldId id="329" r:id="rId4"/>
    <p:sldId id="330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40" r:id="rId13"/>
    <p:sldId id="339" r:id="rId14"/>
    <p:sldId id="341" r:id="rId15"/>
    <p:sldId id="342" r:id="rId16"/>
    <p:sldId id="327" r:id="rId17"/>
    <p:sldId id="307" r:id="rId18"/>
    <p:sldId id="306" r:id="rId19"/>
    <p:sldId id="308" r:id="rId20"/>
    <p:sldId id="309" r:id="rId21"/>
    <p:sldId id="310" r:id="rId22"/>
    <p:sldId id="315" r:id="rId23"/>
    <p:sldId id="317" r:id="rId24"/>
    <p:sldId id="311" r:id="rId25"/>
    <p:sldId id="316" r:id="rId26"/>
    <p:sldId id="312" r:id="rId27"/>
    <p:sldId id="313" r:id="rId28"/>
    <p:sldId id="314" r:id="rId29"/>
    <p:sldId id="318" r:id="rId30"/>
    <p:sldId id="319" r:id="rId31"/>
    <p:sldId id="320" r:id="rId32"/>
    <p:sldId id="321" r:id="rId33"/>
    <p:sldId id="322" r:id="rId34"/>
    <p:sldId id="365" r:id="rId35"/>
    <p:sldId id="323" r:id="rId36"/>
    <p:sldId id="366" r:id="rId37"/>
    <p:sldId id="367" r:id="rId38"/>
    <p:sldId id="368" r:id="rId39"/>
    <p:sldId id="325" r:id="rId40"/>
    <p:sldId id="369" r:id="rId41"/>
    <p:sldId id="324" r:id="rId42"/>
    <p:sldId id="370" r:id="rId43"/>
    <p:sldId id="371" r:id="rId44"/>
    <p:sldId id="345" r:id="rId45"/>
    <p:sldId id="346" r:id="rId46"/>
    <p:sldId id="347" r:id="rId47"/>
    <p:sldId id="348" r:id="rId48"/>
    <p:sldId id="349" r:id="rId49"/>
    <p:sldId id="350" r:id="rId50"/>
    <p:sldId id="351" r:id="rId51"/>
    <p:sldId id="352" r:id="rId52"/>
    <p:sldId id="353" r:id="rId53"/>
    <p:sldId id="354" r:id="rId54"/>
    <p:sldId id="355" r:id="rId55"/>
    <p:sldId id="356" r:id="rId56"/>
    <p:sldId id="357" r:id="rId57"/>
    <p:sldId id="372" r:id="rId58"/>
    <p:sldId id="358" r:id="rId59"/>
    <p:sldId id="359" r:id="rId60"/>
    <p:sldId id="360" r:id="rId61"/>
    <p:sldId id="361" r:id="rId62"/>
    <p:sldId id="362" r:id="rId63"/>
    <p:sldId id="373" r:id="rId64"/>
    <p:sldId id="363" r:id="rId65"/>
    <p:sldId id="364" r:id="rId66"/>
    <p:sldId id="326" r:id="rId67"/>
    <p:sldId id="258" r:id="rId6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BD7C564-1479-48FB-A486-18059AE28D5A}">
          <p14:sldIdLst>
            <p14:sldId id="256"/>
            <p14:sldId id="282"/>
            <p14:sldId id="329"/>
            <p14:sldId id="330"/>
            <p14:sldId id="332"/>
            <p14:sldId id="333"/>
            <p14:sldId id="334"/>
            <p14:sldId id="335"/>
            <p14:sldId id="336"/>
            <p14:sldId id="337"/>
            <p14:sldId id="338"/>
            <p14:sldId id="340"/>
            <p14:sldId id="339"/>
            <p14:sldId id="341"/>
            <p14:sldId id="342"/>
            <p14:sldId id="327"/>
            <p14:sldId id="307"/>
            <p14:sldId id="306"/>
            <p14:sldId id="308"/>
            <p14:sldId id="309"/>
            <p14:sldId id="310"/>
            <p14:sldId id="315"/>
            <p14:sldId id="317"/>
            <p14:sldId id="311"/>
            <p14:sldId id="316"/>
            <p14:sldId id="312"/>
            <p14:sldId id="313"/>
            <p14:sldId id="314"/>
            <p14:sldId id="318"/>
            <p14:sldId id="319"/>
            <p14:sldId id="320"/>
          </p14:sldIdLst>
        </p14:section>
        <p14:section name="Преобразование типов" id="{B315F472-CB51-4C9B-B5E6-F20D6891335B}">
          <p14:sldIdLst>
            <p14:sldId id="321"/>
            <p14:sldId id="322"/>
            <p14:sldId id="365"/>
            <p14:sldId id="323"/>
            <p14:sldId id="366"/>
            <p14:sldId id="367"/>
            <p14:sldId id="368"/>
            <p14:sldId id="325"/>
            <p14:sldId id="369"/>
            <p14:sldId id="324"/>
            <p14:sldId id="370"/>
            <p14:sldId id="371"/>
          </p14:sldIdLst>
        </p14:section>
        <p14:section name="Операторы языка" id="{591800F2-2812-407D-A2F4-80666064993A}">
          <p14:sldIdLst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55"/>
            <p14:sldId id="356"/>
            <p14:sldId id="357"/>
            <p14:sldId id="372"/>
            <p14:sldId id="358"/>
            <p14:sldId id="359"/>
            <p14:sldId id="360"/>
            <p14:sldId id="361"/>
            <p14:sldId id="362"/>
            <p14:sldId id="373"/>
            <p14:sldId id="363"/>
            <p14:sldId id="364"/>
            <p14:sldId id="326"/>
            <p14:sldId id="25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490C"/>
    <a:srgbClr val="1054B0"/>
    <a:srgbClr val="16BE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5131" autoAdjust="0"/>
    <p:restoredTop sz="57928" autoAdjust="0"/>
  </p:normalViewPr>
  <p:slideViewPr>
    <p:cSldViewPr snapToGrid="0">
      <p:cViewPr varScale="1">
        <p:scale>
          <a:sx n="50" d="100"/>
          <a:sy n="50" d="100"/>
        </p:scale>
        <p:origin x="1469" y="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991667A-CD68-4A4A-8351-BB4BF584E846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5EBD1D-8FAA-4097-A84C-B41C92EFAAB1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21110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849006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43104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5366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827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24469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540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60164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5014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72221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fontAlgn="ctr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1548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50576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2398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70153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5734350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977187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2128661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165247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1448065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108504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30984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0209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605258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011400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50825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72269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75090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57380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157513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412721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986116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755173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678294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4634753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BB200C-97A9-BA6A-AB83-B2221BA9B7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CB85CD82-3E58-1FF4-0FAE-1F6789AA61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911778A-8330-E218-8984-6B1C00E244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E2528C-9148-2634-AF02-59F25D3722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92671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312017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860E7B-868C-B981-A546-D04C6D372F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38A052A9-E369-D207-AD86-03CF95E592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ACF481B-0E40-DF49-C3C9-4833F7807A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1BFD79F-DB61-9AFF-C15A-9DE0F3437B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9100499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B17EAB-984A-53E9-A8BB-7DB8BF96EC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4AFC565-FF34-0881-22F5-800E38BE8CF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06D403-2035-AF26-9824-C89816BCC13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1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CE887A2-391B-713E-8B78-87B2C29A16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6340290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9D45-1C0E-1147-95AB-AF0451797C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F0C4116-B397-18AB-0135-A0B6261CE3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B3599E51-2631-3CA2-1F32-D8380C005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BD3B740-EC82-14C6-6DAB-9103379432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312088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39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0821759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6BA5A-74C2-13B8-025E-9640F49193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4998BAD-0850-8B1A-5295-EBF0D3302F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6D807551-0721-11C7-C022-80997F39C1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3B59F9B-6877-57AB-8980-1968DA6EA1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7810532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517746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DD1F2F-ACB3-4499-556F-08F017362B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DA975261-595B-8114-2D6A-7321D3C4B13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EFAFBC0-F3CE-9DA0-4AF4-8F60801E41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D280A70-9B0A-94E6-6057-C0D66132CE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290834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348619-8795-2EF6-4291-5241401B7B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EFC52C47-5855-23A2-8546-71FD40D90A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F789756A-829A-E80D-F7A1-744ABD91F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F75932-1489-3171-6058-C2323939D2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37803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134460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7321892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7648526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5780770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1050995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49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4152667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4461543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8710218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11790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54212400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5857690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445361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5938637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C86369-0BD9-E40D-6869-84924EC62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45267FA9-897C-2FF2-3161-88D1A649CE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3E7B0245-3911-9A08-3EBA-E5539E87F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06F7DA2-14EE-0646-47B9-1057F07E6D3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37779654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383197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59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1797236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60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0532856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61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4085425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62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7930155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490F8-B56B-054C-7934-0010CFF17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6D86720-F2BC-5440-86F9-B5007F7693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636CFC6-5D98-5B69-2AA4-F94C8BCF46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b="1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823206-4C7D-C08F-E421-D4E1F06B8F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63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201542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64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00555042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65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9291432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66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584995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5EBD1D-8FAA-4097-A84C-B41C92EFAAB1}" type="slidenum">
              <a:rPr lang="ru-RU" smtClean="0"/>
              <a:t>67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471473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0799B8-E028-4635-BDDC-879D7231A7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35545FB-C6EE-493F-8316-3673AE82AE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F55223-659A-4181-B23A-287380ADC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FCE8BD-071F-4583-A31C-654B03484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E19132-AA36-4978-908F-38D1FF6C9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044530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475D5AD-F4E4-48AC-A8BD-695FDA88A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8FD038-7A80-441B-98E9-6A8F896CE9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BEAD88A-0BE5-4CA1-BFDE-1EC1F4C13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C3E7AC8-C25E-4DF3-9FC7-988350F57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4C49FB-B6C2-4013-9AF3-0541AFB07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74598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FEA8308-18D8-44CF-B8C5-748069386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31754B8-6E24-44A2-8058-D7F293AB4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B1EE3E5-4280-4571-A5EF-535AC98CC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ECB071D-1248-4FC1-A1CA-2411C82AA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FCE026C-DE0C-43D2-AF8D-CF1C2D07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56942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B93B2C-91D8-4BBB-BE95-5EC2D078D8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67A7759-0489-460A-A2FF-38F82B8D64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38B89DC-42C4-4F26-8F8D-28651ECE1C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D0CF2E9-2BC4-4E5C-B49F-E96E4D5C2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B1864C3-D7CA-40D4-8BB5-16F83C2BC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5730566-7E55-4042-984A-57E2881C0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995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32E7DB-30A6-4C2B-B2AA-8224DCBAAF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4CA700D-0C35-44D9-9E60-38170CF194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9244463-61C2-412B-9C60-E2228B38EC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66815D5-D921-4661-B12F-DEEA248623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4687229-40C0-476C-9F14-D608BAB6F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6B76E6D-40E9-4979-9859-79EFF050E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5E1F738-6F5D-4061-A363-ABA2C218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73A84C68-27FD-40AD-B277-EAD3E1FFF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828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446F02-AF8D-4DFA-9377-4CF83035D7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E852254-E936-49C6-9AB0-A4DE88BF7B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75995507-FF49-4105-840A-34A9A3603F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188EE6A-22E7-4A35-B393-13D0038233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50711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13D61B1-20A5-4389-AD60-17F3FA69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377B21-5836-4343-97B5-B466B4CD2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FB9E4EE9-810F-4444-AA2D-87126F74F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49684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D60C7-B8B0-4A52-BDB1-9D32C3A26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0818F7-5361-4F7B-96F0-16F4802FEF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FD340F2-4F46-45E3-ADB2-7256EEF3F4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3695717-3C5F-436B-872C-A081C828D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7D4ACF8-F2DA-4525-908F-6B4D1C4F3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D7C8658-5C9A-4F0F-B481-F50B6943C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5308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861A20-6CEF-4903-8D55-EC6069470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DFAA5FB-F0AA-4A94-9C7A-4103C21A57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BE4CB74-41A5-4852-B743-06C2AE915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EEC462-61FD-4363-AF6C-44B0E1F83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AC2AFD4-1D26-4D5F-8B2B-8161235118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AB4B937-A8DB-4085-8A9B-7B084D7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48663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9C76E9-4D50-43C6-86D4-11A7A285E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BA9A42FA-7372-4984-B14D-6E5BBCC7F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E7C77F-77B0-4083-B6F7-03DFA4FEE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9535D5E-2234-4B9C-859C-E3E4B3F60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CC4DA6D-A4AB-48D2-8E37-94E5654D3B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3492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019AFDB-AEB4-4811-A069-2EC1C68D835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1888417B-BB83-4AFA-803F-A46D6AD0CE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26EE468-D973-438B-9A97-1C64FD9E9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8C44983-F949-4999-AC3D-4C635BFE60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46F308-AA90-4D0C-B9C0-958DAA4F0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3729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3CABF55-0DF2-4DCA-A530-E6682802B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AB82AC2-EAC2-44A2-9007-F71A3D0932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5D7C19A-5B06-4C03-9CFC-FD72D65A1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E42D77-D5A3-43A9-9BA4-FD97F0D31094}" type="datetimeFigureOut">
              <a:rPr lang="ru-RU" smtClean="0"/>
              <a:t>14.11.2025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053B276-1FAC-4604-93FD-DD84AA9BC8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7E6145-DB10-4F28-84B0-CCA48DFBCA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758487-88DE-4BF5-86D2-978952E65E7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9314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3.pn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hyperlink" Target="http://es6-features.org/" TargetMode="External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bonsaiden.github.io/JavaScript-Garden/ru/" TargetMode="External"/><Relationship Id="rId5" Type="http://schemas.openxmlformats.org/officeDocument/2006/relationships/hyperlink" Target="https://www.gitbook.com/book/karmazzin/eloquentjavascript_ru/details" TargetMode="External"/><Relationship Id="rId4" Type="http://schemas.openxmlformats.org/officeDocument/2006/relationships/hyperlink" Target="https://learn.javascript.ru/books" TargetMode="Externa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1769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Появление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2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Text Box 52">
            <a:extLst>
              <a:ext uri="{FF2B5EF4-FFF2-40B4-BE49-F238E27FC236}">
                <a16:creationId xmlns:a16="http://schemas.microsoft.com/office/drawing/2014/main" id="{2DAE8300-5584-3C3D-E36D-BD3B69380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086" y="811099"/>
            <a:ext cx="11431524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ru-RU" sz="2000" b="1" dirty="0"/>
              <a:t>В 90-е годы Веб нуждался в лёгком скриптовом языке </a:t>
            </a:r>
            <a:r>
              <a:rPr lang="ru-RU" sz="2000" b="1" i="1" dirty="0"/>
              <a:t>(или языке сценариев — </a:t>
            </a:r>
            <a:r>
              <a:rPr lang="ru-RU" sz="2000" b="1" i="1" dirty="0" err="1"/>
              <a:t>прим.ред</a:t>
            </a:r>
            <a:r>
              <a:rPr lang="ru-RU" sz="2000" b="1" i="1" dirty="0"/>
              <a:t>.)</a:t>
            </a:r>
            <a:r>
              <a:rPr lang="ru-RU" sz="2000" b="1" dirty="0"/>
              <a:t>, способном работать с DOM, который в те дни не был стандартизирован.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3BF1CAF-F8A0-9487-524B-497368834849}"/>
              </a:ext>
            </a:extLst>
          </p:cNvPr>
          <p:cNvSpPr/>
          <p:nvPr/>
        </p:nvSpPr>
        <p:spPr>
          <a:xfrm>
            <a:off x="3626517" y="2258646"/>
            <a:ext cx="36826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JAVA – </a:t>
            </a:r>
            <a:r>
              <a:rPr lang="ru-RU" sz="2800" b="1" dirty="0">
                <a:solidFill>
                  <a:srgbClr val="C00000"/>
                </a:solidFill>
              </a:rPr>
              <a:t>для инженеров</a:t>
            </a:r>
            <a:endParaRPr lang="ru-RU" sz="2800" dirty="0">
              <a:solidFill>
                <a:srgbClr val="C00000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B5156F7E-B22B-78CB-219F-32141E620C2D}"/>
              </a:ext>
            </a:extLst>
          </p:cNvPr>
          <p:cNvSpPr/>
          <p:nvPr/>
        </p:nvSpPr>
        <p:spPr>
          <a:xfrm>
            <a:off x="3588897" y="2790987"/>
            <a:ext cx="378770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JAVA – </a:t>
            </a:r>
            <a:r>
              <a:rPr lang="ru-RU" sz="2800" b="1" dirty="0">
                <a:solidFill>
                  <a:srgbClr val="C00000"/>
                </a:solidFill>
              </a:rPr>
              <a:t>для дизайнеров</a:t>
            </a:r>
            <a:endParaRPr lang="ru-RU" sz="2800" dirty="0">
              <a:solidFill>
                <a:srgbClr val="C00000"/>
              </a:solidFill>
            </a:endParaRP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8313FE4A-FC47-38C1-1370-62B4E4A375CA}"/>
              </a:ext>
            </a:extLst>
          </p:cNvPr>
          <p:cNvSpPr/>
          <p:nvPr/>
        </p:nvSpPr>
        <p:spPr>
          <a:xfrm>
            <a:off x="9127312" y="1349574"/>
            <a:ext cx="1923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 err="1"/>
              <a:t>Брендан</a:t>
            </a:r>
            <a:r>
              <a:rPr lang="ru-RU" sz="2400" b="1" dirty="0"/>
              <a:t> </a:t>
            </a:r>
            <a:r>
              <a:rPr lang="ru-RU" sz="2400" b="1" dirty="0" err="1"/>
              <a:t>Айк</a:t>
            </a:r>
            <a:endParaRPr lang="ru-RU" sz="2400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4FD9AD1F-EC01-E1DB-4FD2-3C1EC1E2A60C}"/>
              </a:ext>
            </a:extLst>
          </p:cNvPr>
          <p:cNvSpPr/>
          <p:nvPr/>
        </p:nvSpPr>
        <p:spPr>
          <a:xfrm>
            <a:off x="4650583" y="4757461"/>
            <a:ext cx="740933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Поспешная разработка стала причиной большого количества архитектурных ошибок, которые могли стать настоящим кошмаром.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50C518F0-3810-5D17-DC70-587C930A44BF}"/>
              </a:ext>
            </a:extLst>
          </p:cNvPr>
          <p:cNvSpPr/>
          <p:nvPr/>
        </p:nvSpPr>
        <p:spPr>
          <a:xfrm>
            <a:off x="438375" y="4431754"/>
            <a:ext cx="673067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typeof "</a:t>
            </a:r>
            <a:r>
              <a:rPr lang="ru-RU" sz="2000" b="1" dirty="0" err="1"/>
              <a:t>hello</a:t>
            </a:r>
            <a:r>
              <a:rPr lang="ru-RU" sz="2000" b="1" dirty="0"/>
              <a:t> world"</a:t>
            </a:r>
          </a:p>
          <a:p>
            <a:r>
              <a:rPr lang="ru-RU" sz="2000" b="1" dirty="0">
                <a:solidFill>
                  <a:srgbClr val="C00000"/>
                </a:solidFill>
              </a:rPr>
              <a:t>"string"</a:t>
            </a:r>
          </a:p>
          <a:p>
            <a:r>
              <a:rPr lang="ru-RU" sz="2000" b="1" dirty="0"/>
              <a:t>typeof new String('</a:t>
            </a:r>
            <a:r>
              <a:rPr lang="ru-RU" sz="2000" b="1" dirty="0" err="1"/>
              <a:t>hello</a:t>
            </a:r>
            <a:r>
              <a:rPr lang="ru-RU" sz="2000" b="1" dirty="0"/>
              <a:t> world')</a:t>
            </a:r>
          </a:p>
          <a:p>
            <a:r>
              <a:rPr lang="ru-RU" sz="2000" b="1" dirty="0">
                <a:solidFill>
                  <a:srgbClr val="C00000"/>
                </a:solidFill>
              </a:rPr>
              <a:t>"object"</a:t>
            </a:r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FD79B27B-E42B-3973-9792-3F201D30A6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264" y="1604471"/>
            <a:ext cx="2498323" cy="242484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B0905F4-2674-F590-8120-1CF6F585D9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840" y="1847019"/>
            <a:ext cx="2793107" cy="2781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992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Особенности исполнения кода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C5C1845-080B-A739-BC34-43A9268498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740" y="1070769"/>
            <a:ext cx="3468494" cy="2893190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EB0CDEA-1DDC-E8BC-086F-6482650FE6F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3790234" y="940798"/>
            <a:ext cx="8182558" cy="464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4655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Стандарты языка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4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24B4B51-ED4B-EB3F-5507-56169D67CD5B}"/>
              </a:ext>
            </a:extLst>
          </p:cNvPr>
          <p:cNvSpPr/>
          <p:nvPr/>
        </p:nvSpPr>
        <p:spPr>
          <a:xfrm>
            <a:off x="149957" y="881902"/>
            <a:ext cx="1189208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C00000"/>
                </a:solidFill>
              </a:rPr>
              <a:t>ECMAScript</a:t>
            </a:r>
            <a:r>
              <a:rPr lang="ru-RU" b="1" dirty="0"/>
              <a:t> </a:t>
            </a:r>
            <a:r>
              <a:rPr lang="en-US" b="1" dirty="0"/>
              <a:t>-</a:t>
            </a:r>
            <a:r>
              <a:rPr lang="ru-RU" b="1" dirty="0"/>
              <a:t> это объектно-ориентированный язык программирования с прототипной организацией, имеющий концепцию объекта в качестве базовой абстракции.</a:t>
            </a: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BFD3D8B-A46F-BFFB-0DF8-4A849AA0216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9957" y="1777527"/>
            <a:ext cx="5620870" cy="3195426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1A1B0A2-E52E-C02A-A955-A45F50730FBF}"/>
              </a:ext>
            </a:extLst>
          </p:cNvPr>
          <p:cNvSpPr/>
          <p:nvPr/>
        </p:nvSpPr>
        <p:spPr>
          <a:xfrm>
            <a:off x="5770827" y="1386672"/>
            <a:ext cx="6271216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«</a:t>
            </a:r>
            <a:r>
              <a:rPr lang="ru-RU" b="1" dirty="0">
                <a:solidFill>
                  <a:srgbClr val="C00000"/>
                </a:solidFill>
              </a:rPr>
              <a:t>ES</a:t>
            </a:r>
            <a:r>
              <a:rPr lang="ru-RU" b="1" dirty="0"/>
              <a:t>» – это сокращение от «ECMAScript». Изначально номера версий стандарта обозначались цифрами, прибавляемыми к «ES». </a:t>
            </a:r>
            <a:endParaRPr lang="en-US" b="1" dirty="0"/>
          </a:p>
          <a:p>
            <a:endParaRPr lang="en-US" sz="800" b="1" dirty="0"/>
          </a:p>
          <a:p>
            <a:pPr algn="just"/>
            <a:r>
              <a:rPr lang="ru-RU" b="1" dirty="0"/>
              <a:t>Первые три релиза выходили ежегодно (1997-99гг.), это </a:t>
            </a:r>
            <a:r>
              <a:rPr lang="ru-RU" b="1" dirty="0">
                <a:solidFill>
                  <a:srgbClr val="C00000"/>
                </a:solidFill>
              </a:rPr>
              <a:t>ES1</a:t>
            </a:r>
            <a:r>
              <a:rPr lang="ru-RU" b="1" dirty="0"/>
              <a:t>, </a:t>
            </a:r>
            <a:r>
              <a:rPr lang="ru-RU" b="1" dirty="0">
                <a:solidFill>
                  <a:srgbClr val="C00000"/>
                </a:solidFill>
              </a:rPr>
              <a:t>ES2</a:t>
            </a:r>
            <a:r>
              <a:rPr lang="ru-RU" b="1" dirty="0"/>
              <a:t> и </a:t>
            </a:r>
            <a:r>
              <a:rPr lang="ru-RU" b="1" dirty="0">
                <a:solidFill>
                  <a:srgbClr val="C00000"/>
                </a:solidFill>
              </a:rPr>
              <a:t>ES3</a:t>
            </a:r>
            <a:r>
              <a:rPr lang="ru-RU" b="1" dirty="0"/>
              <a:t>. Четвертый выпуск не состоялся «в связи с политическими расхождениями, касающимися запутанности языка». Следующая версия, </a:t>
            </a:r>
            <a:r>
              <a:rPr lang="ru-RU" b="1" dirty="0">
                <a:solidFill>
                  <a:srgbClr val="C00000"/>
                </a:solidFill>
              </a:rPr>
              <a:t>ES5</a:t>
            </a:r>
            <a:r>
              <a:rPr lang="ru-RU" b="1" dirty="0"/>
              <a:t>, увидела свет почти десять лет спустя, в декабре 2009 года.</a:t>
            </a:r>
          </a:p>
          <a:p>
            <a:endParaRPr lang="ru-RU" b="1" dirty="0"/>
          </a:p>
          <a:p>
            <a:pPr algn="just"/>
            <a:r>
              <a:rPr lang="ru-RU" b="1" dirty="0"/>
              <a:t>Начиная с шестой версии было решено возобновить ежегодный выпуск релизов, а вместо порядкового номера добавлять год издания. Таким образом, в 2015 году вышла не ES6, а </a:t>
            </a:r>
            <a:r>
              <a:rPr lang="ru-RU" b="1" dirty="0">
                <a:solidFill>
                  <a:srgbClr val="C00000"/>
                </a:solidFill>
              </a:rPr>
              <a:t>ES2015</a:t>
            </a:r>
            <a:r>
              <a:rPr lang="ru-RU" b="1" dirty="0"/>
              <a:t>. В течение последующих двух лет вышли </a:t>
            </a:r>
            <a:r>
              <a:rPr lang="ru-RU" b="1" dirty="0">
                <a:solidFill>
                  <a:srgbClr val="C00000"/>
                </a:solidFill>
              </a:rPr>
              <a:t>ES2016</a:t>
            </a:r>
            <a:r>
              <a:rPr lang="ru-RU" b="1" dirty="0"/>
              <a:t> и </a:t>
            </a:r>
            <a:r>
              <a:rPr lang="ru-RU" b="1" dirty="0">
                <a:solidFill>
                  <a:srgbClr val="C00000"/>
                </a:solidFill>
              </a:rPr>
              <a:t>ES2017</a:t>
            </a:r>
            <a:r>
              <a:rPr lang="ru-RU" b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426396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en-US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CoffeeScript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5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9AFDCFA1-013C-2E7F-19CB-B18D8E24DDF6}"/>
              </a:ext>
            </a:extLst>
          </p:cNvPr>
          <p:cNvSpPr/>
          <p:nvPr/>
        </p:nvSpPr>
        <p:spPr>
          <a:xfrm>
            <a:off x="166622" y="750499"/>
            <a:ext cx="1161719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CoffeeScript</a:t>
            </a:r>
            <a:r>
              <a:rPr lang="ru-RU" sz="2000" b="1" dirty="0"/>
              <a:t> это небольшой язык, который транслируется в Javascript. Рубистам он кажется похожим на руби, питонистам он похож на питон, и конечно же, он похож на яваскрипт. CoffeeScript старается упростить использование яваскрипта, сохранив все его сильные стороны.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306B4FB-BBF1-5A26-E6E3-51650AF70755}"/>
              </a:ext>
            </a:extLst>
          </p:cNvPr>
          <p:cNvSpPr/>
          <p:nvPr/>
        </p:nvSpPr>
        <p:spPr>
          <a:xfrm>
            <a:off x="7664624" y="1908333"/>
            <a:ext cx="4308168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# </a:t>
            </a:r>
            <a:r>
              <a:rPr lang="ru-RU" b="1" dirty="0" err="1"/>
              <a:t>Assignment</a:t>
            </a:r>
            <a:r>
              <a:rPr lang="ru-RU" b="1" dirty="0"/>
              <a:t>:</a:t>
            </a:r>
            <a:endParaRPr lang="en-US" b="1" dirty="0"/>
          </a:p>
          <a:p>
            <a:r>
              <a:rPr lang="ru-RU" b="1" dirty="0"/>
              <a:t>number   = 42</a:t>
            </a:r>
            <a:endParaRPr lang="en-US" b="1" dirty="0"/>
          </a:p>
          <a:p>
            <a:r>
              <a:rPr lang="ru-RU" b="1" dirty="0" err="1"/>
              <a:t>opposite</a:t>
            </a:r>
            <a:r>
              <a:rPr lang="ru-RU" b="1" dirty="0"/>
              <a:t> = true</a:t>
            </a:r>
            <a:endParaRPr lang="en-US" b="1" dirty="0"/>
          </a:p>
          <a:p>
            <a:endParaRPr lang="en-US" sz="900" b="1" dirty="0"/>
          </a:p>
          <a:p>
            <a:r>
              <a:rPr lang="ru-RU" b="1" dirty="0"/>
              <a:t># </a:t>
            </a:r>
            <a:r>
              <a:rPr lang="ru-RU" b="1" dirty="0" err="1"/>
              <a:t>Conditions</a:t>
            </a:r>
            <a:r>
              <a:rPr lang="ru-RU" b="1" dirty="0"/>
              <a:t>:</a:t>
            </a:r>
            <a:endParaRPr lang="en-US" b="1" dirty="0"/>
          </a:p>
          <a:p>
            <a:r>
              <a:rPr lang="ru-RU" b="1" dirty="0"/>
              <a:t>number = -42 if </a:t>
            </a:r>
            <a:r>
              <a:rPr lang="ru-RU" b="1" dirty="0" err="1"/>
              <a:t>opposite</a:t>
            </a:r>
            <a:endParaRPr lang="en-US" b="1" dirty="0"/>
          </a:p>
          <a:p>
            <a:endParaRPr lang="en-US" sz="900" b="1" dirty="0"/>
          </a:p>
          <a:p>
            <a:r>
              <a:rPr lang="ru-RU" b="1" dirty="0"/>
              <a:t># Functions:</a:t>
            </a:r>
            <a:endParaRPr lang="en-US" b="1" dirty="0"/>
          </a:p>
          <a:p>
            <a:r>
              <a:rPr lang="ru-RU" b="1" dirty="0" err="1"/>
              <a:t>square</a:t>
            </a:r>
            <a:r>
              <a:rPr lang="ru-RU" b="1" dirty="0"/>
              <a:t> = (x) -&gt; x * x</a:t>
            </a:r>
            <a:endParaRPr lang="en-US" b="1" dirty="0"/>
          </a:p>
          <a:p>
            <a:endParaRPr lang="en-US" sz="900" b="1" dirty="0"/>
          </a:p>
          <a:p>
            <a:r>
              <a:rPr lang="ru-RU" b="1" dirty="0"/>
              <a:t># </a:t>
            </a:r>
            <a:r>
              <a:rPr lang="ru-RU" b="1" dirty="0" err="1"/>
              <a:t>Arrays</a:t>
            </a:r>
            <a:r>
              <a:rPr lang="ru-RU" b="1" dirty="0"/>
              <a:t>:</a:t>
            </a:r>
            <a:endParaRPr lang="en-US" b="1" dirty="0"/>
          </a:p>
          <a:p>
            <a:r>
              <a:rPr lang="ru-RU" b="1" dirty="0"/>
              <a:t>list = [1, 2, 3, 4, 5]</a:t>
            </a:r>
            <a:endParaRPr lang="en-US" b="1" dirty="0"/>
          </a:p>
          <a:p>
            <a:endParaRPr lang="en-US" sz="900" b="1" dirty="0"/>
          </a:p>
          <a:p>
            <a:r>
              <a:rPr lang="ru-RU" b="1" dirty="0"/>
              <a:t># Objects:</a:t>
            </a:r>
            <a:endParaRPr lang="en-US" b="1" dirty="0"/>
          </a:p>
          <a:p>
            <a:r>
              <a:rPr lang="ru-RU" b="1" dirty="0" err="1"/>
              <a:t>math</a:t>
            </a:r>
            <a:r>
              <a:rPr lang="ru-RU" b="1" dirty="0"/>
              <a:t> =  </a:t>
            </a:r>
            <a:endParaRPr lang="en-US" b="1" dirty="0"/>
          </a:p>
          <a:p>
            <a:r>
              <a:rPr lang="en-US" b="1" dirty="0"/>
              <a:t>       </a:t>
            </a:r>
            <a:r>
              <a:rPr lang="ru-RU" b="1" dirty="0"/>
              <a:t>root:   </a:t>
            </a:r>
            <a:r>
              <a:rPr lang="ru-RU" b="1" dirty="0" err="1"/>
              <a:t>Math.sqrt</a:t>
            </a:r>
            <a:r>
              <a:rPr lang="ru-RU" b="1" dirty="0"/>
              <a:t>  </a:t>
            </a:r>
            <a:endParaRPr lang="en-US" b="1" dirty="0"/>
          </a:p>
          <a:p>
            <a:r>
              <a:rPr lang="en-US" b="1" dirty="0"/>
              <a:t>       </a:t>
            </a:r>
            <a:r>
              <a:rPr lang="ru-RU" b="1" dirty="0" err="1"/>
              <a:t>square</a:t>
            </a:r>
            <a:r>
              <a:rPr lang="ru-RU" b="1" dirty="0"/>
              <a:t>: </a:t>
            </a:r>
            <a:r>
              <a:rPr lang="ru-RU" b="1" dirty="0" err="1"/>
              <a:t>square</a:t>
            </a:r>
            <a:r>
              <a:rPr lang="ru-RU" b="1" dirty="0"/>
              <a:t>  </a:t>
            </a:r>
            <a:endParaRPr lang="en-US" b="1" dirty="0"/>
          </a:p>
          <a:p>
            <a:r>
              <a:rPr lang="en-US" b="1" dirty="0"/>
              <a:t>       </a:t>
            </a:r>
            <a:r>
              <a:rPr lang="ru-RU" b="1" dirty="0" err="1"/>
              <a:t>cube</a:t>
            </a:r>
            <a:r>
              <a:rPr lang="ru-RU" b="1" dirty="0"/>
              <a:t>:   (x) -&gt; x * </a:t>
            </a:r>
            <a:r>
              <a:rPr lang="ru-RU" b="1" dirty="0" err="1"/>
              <a:t>square</a:t>
            </a:r>
            <a:r>
              <a:rPr lang="ru-RU" b="1" dirty="0"/>
              <a:t> x</a:t>
            </a:r>
            <a:endParaRPr lang="en-US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9655BC7-C30F-D160-590D-31E57A7D84D7}"/>
              </a:ext>
            </a:extLst>
          </p:cNvPr>
          <p:cNvSpPr/>
          <p:nvPr/>
        </p:nvSpPr>
        <p:spPr>
          <a:xfrm>
            <a:off x="2220346" y="6076305"/>
            <a:ext cx="320735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http://coffeescript.org/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AB2CEDE-1160-B836-D353-DAFC6029D0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622" y="1908333"/>
            <a:ext cx="7314800" cy="388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9045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6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1F2891F-DCA7-B10D-1FD0-DA09D47AE6EF}"/>
              </a:ext>
            </a:extLst>
          </p:cNvPr>
          <p:cNvSpPr/>
          <p:nvPr/>
        </p:nvSpPr>
        <p:spPr>
          <a:xfrm>
            <a:off x="121921" y="718809"/>
            <a:ext cx="11850872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TypeScript</a:t>
            </a:r>
            <a:r>
              <a:rPr lang="ru-RU" sz="2000" b="1" dirty="0"/>
              <a:t> отличается от JavaScript возможностью явного определения типов (статическая типизация), поддержкой использования полноценных классов (как в традиционных объектно-ориентированных языках), а также поддержкой подключения модулей.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4BCD518-4028-E28A-FECA-A05E1FDECE90}"/>
              </a:ext>
            </a:extLst>
          </p:cNvPr>
          <p:cNvSpPr/>
          <p:nvPr/>
        </p:nvSpPr>
        <p:spPr>
          <a:xfrm>
            <a:off x="1587715" y="5808351"/>
            <a:ext cx="42819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http://www.typescriptlang.org/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002CDF74-F435-C663-DBC6-D302D2CF29D6}"/>
              </a:ext>
            </a:extLst>
          </p:cNvPr>
          <p:cNvSpPr/>
          <p:nvPr/>
        </p:nvSpPr>
        <p:spPr>
          <a:xfrm>
            <a:off x="7363465" y="1772244"/>
            <a:ext cx="469112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interface Person {</a:t>
            </a:r>
          </a:p>
          <a:p>
            <a:r>
              <a:rPr lang="ru-RU" b="1" dirty="0"/>
              <a:t>    firstName: string;</a:t>
            </a:r>
          </a:p>
          <a:p>
            <a:r>
              <a:rPr lang="ru-RU" b="1" dirty="0"/>
              <a:t>    lastName: string;</a:t>
            </a:r>
          </a:p>
          <a:p>
            <a:r>
              <a:rPr lang="ru-RU" b="1" dirty="0"/>
              <a:t>}</a:t>
            </a:r>
          </a:p>
          <a:p>
            <a:endParaRPr lang="ru-RU" b="1" dirty="0"/>
          </a:p>
          <a:p>
            <a:r>
              <a:rPr lang="ru-RU" b="1" dirty="0"/>
              <a:t>function </a:t>
            </a:r>
            <a:r>
              <a:rPr lang="ru-RU" b="1" dirty="0" err="1"/>
              <a:t>greeter</a:t>
            </a:r>
            <a:r>
              <a:rPr lang="ru-RU" b="1" dirty="0"/>
              <a:t>(person: Person) {</a:t>
            </a:r>
          </a:p>
          <a:p>
            <a:r>
              <a:rPr lang="ru-RU" b="1" dirty="0"/>
              <a:t>    return "Hello, " + </a:t>
            </a:r>
            <a:r>
              <a:rPr lang="ru-RU" b="1" dirty="0" err="1"/>
              <a:t>person.firstName</a:t>
            </a:r>
            <a:r>
              <a:rPr lang="ru-RU" b="1" dirty="0"/>
              <a:t> + " " + </a:t>
            </a:r>
            <a:r>
              <a:rPr lang="ru-RU" b="1" dirty="0" err="1"/>
              <a:t>person.lastName</a:t>
            </a:r>
            <a:r>
              <a:rPr lang="ru-RU" b="1" dirty="0"/>
              <a:t>;</a:t>
            </a:r>
          </a:p>
          <a:p>
            <a:r>
              <a:rPr lang="ru-RU" b="1" dirty="0"/>
              <a:t>}</a:t>
            </a:r>
          </a:p>
          <a:p>
            <a:endParaRPr lang="ru-RU" b="1" dirty="0"/>
          </a:p>
          <a:p>
            <a:r>
              <a:rPr lang="ru-RU" b="1" dirty="0"/>
              <a:t>let user = { firstName: "</a:t>
            </a:r>
            <a:r>
              <a:rPr lang="ru-RU" b="1" dirty="0" err="1"/>
              <a:t>Jane</a:t>
            </a:r>
            <a:r>
              <a:rPr lang="ru-RU" b="1" dirty="0"/>
              <a:t>", lastName: "User" };</a:t>
            </a:r>
          </a:p>
          <a:p>
            <a:endParaRPr lang="ru-RU" b="1" dirty="0"/>
          </a:p>
          <a:p>
            <a:r>
              <a:rPr lang="ru-RU" b="1" dirty="0" err="1"/>
              <a:t>document.body.innerHTML</a:t>
            </a:r>
            <a:r>
              <a:rPr lang="ru-RU" b="1" dirty="0"/>
              <a:t> = </a:t>
            </a:r>
            <a:r>
              <a:rPr lang="ru-RU" b="1" dirty="0" err="1"/>
              <a:t>greeter</a:t>
            </a:r>
            <a:r>
              <a:rPr lang="ru-RU" b="1" dirty="0"/>
              <a:t>(user);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A9C5FC7E-A43F-401B-7BE3-1F3694AFA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3840" y="1853206"/>
            <a:ext cx="6969760" cy="3529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6756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7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38E5C1C-3D93-7A17-DF97-F85302F57D5B}"/>
              </a:ext>
            </a:extLst>
          </p:cNvPr>
          <p:cNvSpPr/>
          <p:nvPr/>
        </p:nvSpPr>
        <p:spPr>
          <a:xfrm>
            <a:off x="147568" y="753003"/>
            <a:ext cx="1172233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Dart</a:t>
            </a:r>
            <a:r>
              <a:rPr lang="ru-RU" sz="2000" b="1" dirty="0"/>
              <a:t> это объектно-</a:t>
            </a:r>
            <a:r>
              <a:rPr lang="ru-RU" sz="2000" b="1" dirty="0" err="1"/>
              <a:t>ориентированый</a:t>
            </a:r>
            <a:r>
              <a:rPr lang="ru-RU" sz="2000" b="1" dirty="0"/>
              <a:t> язык с полноценной системой классов, лексическими </a:t>
            </a:r>
            <a:r>
              <a:rPr lang="ru-RU" sz="2000" b="1" dirty="0" err="1"/>
              <a:t>скоупами</a:t>
            </a:r>
            <a:r>
              <a:rPr lang="ru-RU" sz="2000" b="1" dirty="0"/>
              <a:t>, замыканиями, и опционально — статической типизацией. Dart помогает создавать структурированные веб приложения и легок в изучении для широкого круга разработчиков. 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AC7F1BA-9FAE-8CD1-F630-6224BCBF7997}"/>
              </a:ext>
            </a:extLst>
          </p:cNvPr>
          <p:cNvSpPr/>
          <p:nvPr/>
        </p:nvSpPr>
        <p:spPr>
          <a:xfrm>
            <a:off x="1868140" y="6168133"/>
            <a:ext cx="354206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http://www.dartlang.org/</a:t>
            </a:r>
            <a:endParaRPr lang="ru-RU" sz="24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BC262B7-0810-CDD6-9F23-2B97A75A386E}"/>
              </a:ext>
            </a:extLst>
          </p:cNvPr>
          <p:cNvSpPr/>
          <p:nvPr/>
        </p:nvSpPr>
        <p:spPr>
          <a:xfrm>
            <a:off x="7238816" y="2214840"/>
            <a:ext cx="4699184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class </a:t>
            </a:r>
            <a:r>
              <a:rPr lang="ru-RU" b="1" dirty="0" err="1"/>
              <a:t>Point</a:t>
            </a:r>
            <a:r>
              <a:rPr lang="ru-RU" b="1" dirty="0"/>
              <a:t> {</a:t>
            </a:r>
          </a:p>
          <a:p>
            <a:r>
              <a:rPr lang="ru-RU" b="1" dirty="0"/>
              <a:t>  final double x, y;</a:t>
            </a:r>
          </a:p>
          <a:p>
            <a:r>
              <a:rPr lang="ru-RU" b="1" dirty="0"/>
              <a:t>  const </a:t>
            </a:r>
            <a:r>
              <a:rPr lang="ru-RU" b="1" dirty="0" err="1"/>
              <a:t>Point</a:t>
            </a:r>
            <a:r>
              <a:rPr lang="ru-RU" b="1" dirty="0"/>
              <a:t>(this.x, this.y);</a:t>
            </a:r>
          </a:p>
          <a:p>
            <a:r>
              <a:rPr lang="ru-RU" b="1" dirty="0"/>
              <a:t>  </a:t>
            </a:r>
            <a:r>
              <a:rPr lang="ru-RU" b="1" dirty="0" err="1"/>
              <a:t>bool</a:t>
            </a:r>
            <a:r>
              <a:rPr lang="ru-RU" b="1" dirty="0"/>
              <a:t> get </a:t>
            </a:r>
            <a:r>
              <a:rPr lang="ru-RU" b="1" dirty="0" err="1"/>
              <a:t>isInsideUnitCircle</a:t>
            </a:r>
            <a:r>
              <a:rPr lang="ru-RU" b="1" dirty="0"/>
              <a:t> =&gt; x * x + y * y &lt;= 1;</a:t>
            </a:r>
          </a:p>
          <a:p>
            <a:r>
              <a:rPr lang="ru-RU" b="1" dirty="0"/>
              <a:t>}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2BB135D-0469-284E-84A6-E4A9EEFA7D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000" y="1872159"/>
            <a:ext cx="6746240" cy="4192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854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Экосистема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8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04F0867-EBEF-4291-2B20-ACAE7C66936E}"/>
              </a:ext>
            </a:extLst>
          </p:cNvPr>
          <p:cNvSpPr/>
          <p:nvPr/>
        </p:nvSpPr>
        <p:spPr>
          <a:xfrm>
            <a:off x="168339" y="811638"/>
            <a:ext cx="1170156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/>
              <a:t>Среда JavaScript стала просто огромной. Она имеет собственную экосистему библиотек, фреймворков, инструментов, менеджеров пакетов и новых языков, которые компилируются до JavaScript.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50649F88-1A2D-EEBB-1AB6-934BD5C22558}"/>
              </a:ext>
            </a:extLst>
          </p:cNvPr>
          <p:cNvSpPr/>
          <p:nvPr/>
        </p:nvSpPr>
        <p:spPr>
          <a:xfrm>
            <a:off x="166313" y="1959670"/>
            <a:ext cx="1165857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C00000"/>
                </a:solidFill>
              </a:rPr>
              <a:t>Библиотека</a:t>
            </a:r>
            <a:r>
              <a:rPr lang="ru-RU" b="1" dirty="0"/>
              <a:t> — это готовый к использованию набор кода, который бежит в контексте приложения, и точно так же выполняет свою работу. То есть библиотека становится при подключении частью приложения.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01BAD2F-C194-3A49-1B79-B0A199FCF9AD}"/>
              </a:ext>
            </a:extLst>
          </p:cNvPr>
          <p:cNvSpPr/>
          <p:nvPr/>
        </p:nvSpPr>
        <p:spPr>
          <a:xfrm>
            <a:off x="183378" y="2713565"/>
            <a:ext cx="11641513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b="1" dirty="0">
                <a:solidFill>
                  <a:srgbClr val="C00000"/>
                </a:solidFill>
              </a:rPr>
              <a:t>Фреймворк</a:t>
            </a:r>
            <a:r>
              <a:rPr lang="ru-RU" b="1" dirty="0"/>
              <a:t> — его функции, в отличии от библиотеки, не вызываются вами, а наоборот, ваш код вызывается из него. Фреймворк можно представить себе в виде полуфабриката приложения, к которому вы дописываете нужную функциональность сами.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A866E422-B55A-D9C1-9781-246399F3E625}"/>
              </a:ext>
            </a:extLst>
          </p:cNvPr>
          <p:cNvSpPr/>
          <p:nvPr/>
        </p:nvSpPr>
        <p:spPr>
          <a:xfrm>
            <a:off x="192052" y="1503865"/>
            <a:ext cx="60571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API</a:t>
            </a:r>
            <a:r>
              <a:rPr lang="ru-RU" b="1" dirty="0"/>
              <a:t> - это интерфейс взаимодействия с программой извне.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099143E-5E38-B3F3-7BC9-583E5C315458}"/>
              </a:ext>
            </a:extLst>
          </p:cNvPr>
          <p:cNvSpPr/>
          <p:nvPr/>
        </p:nvSpPr>
        <p:spPr>
          <a:xfrm>
            <a:off x="974188" y="4131905"/>
            <a:ext cx="22464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API это паттерн.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F7D07FA3-67C8-9928-9B00-2F7DC50E9374}"/>
              </a:ext>
            </a:extLst>
          </p:cNvPr>
          <p:cNvSpPr/>
          <p:nvPr/>
        </p:nvSpPr>
        <p:spPr>
          <a:xfrm>
            <a:off x="2504797" y="3586343"/>
            <a:ext cx="631897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Библиотеки и фреймворки предоставляют API.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5348290-B2C9-52C7-6194-7882954BB31F}"/>
              </a:ext>
            </a:extLst>
          </p:cNvPr>
          <p:cNvSpPr/>
          <p:nvPr/>
        </p:nvSpPr>
        <p:spPr>
          <a:xfrm>
            <a:off x="3048723" y="5161841"/>
            <a:ext cx="615905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API может создаваться на базе фреймворка.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7DB4244A-17F3-6B91-160E-96E090B21F27}"/>
              </a:ext>
            </a:extLst>
          </p:cNvPr>
          <p:cNvSpPr/>
          <p:nvPr/>
        </p:nvSpPr>
        <p:spPr>
          <a:xfrm>
            <a:off x="525092" y="4621131"/>
            <a:ext cx="10149672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Фреймворк состоит из библиотек или являет собой паттерн их соединения.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C4ED6C8-7EEC-B59E-FC1E-5FC0EB3204D3}"/>
              </a:ext>
            </a:extLst>
          </p:cNvPr>
          <p:cNvSpPr/>
          <p:nvPr/>
        </p:nvSpPr>
        <p:spPr>
          <a:xfrm>
            <a:off x="4161263" y="3985944"/>
            <a:ext cx="80686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Библиотека может собираться </a:t>
            </a:r>
            <a:r>
              <a:rPr lang="ru-RU" sz="2400" dirty="0" err="1">
                <a:solidFill>
                  <a:srgbClr val="C00000"/>
                </a:solidFill>
              </a:rPr>
              <a:t>фреймворком</a:t>
            </a:r>
            <a:r>
              <a:rPr lang="ru-RU" sz="2400" dirty="0">
                <a:solidFill>
                  <a:srgbClr val="C00000"/>
                </a:solidFill>
              </a:rPr>
              <a:t> платформы. </a:t>
            </a:r>
          </a:p>
        </p:txBody>
      </p:sp>
    </p:spTree>
    <p:extLst>
      <p:ext uri="{BB962C8B-B14F-4D97-AF65-F5344CB8AC3E}">
        <p14:creationId xmlns:p14="http://schemas.microsoft.com/office/powerpoint/2010/main" val="277525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Библиотека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React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9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32E9CB0-F305-20B2-61B8-50E903967452}"/>
              </a:ext>
            </a:extLst>
          </p:cNvPr>
          <p:cNvSpPr/>
          <p:nvPr/>
        </p:nvSpPr>
        <p:spPr>
          <a:xfrm>
            <a:off x="149956" y="805262"/>
            <a:ext cx="11892087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C00000"/>
                </a:solidFill>
              </a:rPr>
              <a:t>React</a:t>
            </a:r>
            <a:r>
              <a:rPr lang="ru-RU" b="1" dirty="0"/>
              <a:t> — это библиотека JavaScript, созданная разработчиками Facebook и Instagram. React была признана самой любимой технологией среди разработчиков, согласно опросу Stack Overflow Survey 2017. </a:t>
            </a:r>
            <a:endParaRPr lang="en-US" b="1" dirty="0"/>
          </a:p>
          <a:p>
            <a:pPr algn="just"/>
            <a:endParaRPr lang="en-US" sz="800" b="1" dirty="0"/>
          </a:p>
          <a:p>
            <a:pPr algn="just"/>
            <a:r>
              <a:rPr lang="ru-RU" b="1" dirty="0"/>
              <a:t>React является самым популярным проектом JavaScript, основываясь на подсчете звезд GitHub.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0FA06DD-E320-557D-65A5-C21B63DA2877}"/>
              </a:ext>
            </a:extLst>
          </p:cNvPr>
          <p:cNvSpPr/>
          <p:nvPr/>
        </p:nvSpPr>
        <p:spPr>
          <a:xfrm>
            <a:off x="8700599" y="2158646"/>
            <a:ext cx="26874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https://reactjs.org/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6719672-A6A7-99AF-0C2A-75F201D61B28}"/>
              </a:ext>
            </a:extLst>
          </p:cNvPr>
          <p:cNvSpPr/>
          <p:nvPr/>
        </p:nvSpPr>
        <p:spPr>
          <a:xfrm>
            <a:off x="7845982" y="2812062"/>
            <a:ext cx="396052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Можно создать интерактивный интерфейс с использованием декларативного подхода.</a:t>
            </a:r>
          </a:p>
          <a:p>
            <a:pPr algn="just"/>
            <a:endParaRPr lang="ru-RU" b="1" dirty="0"/>
          </a:p>
          <a:p>
            <a:r>
              <a:rPr lang="ru-RU" b="1" dirty="0"/>
              <a:t>Использование компонентной модели и виртуального </a:t>
            </a:r>
            <a:r>
              <a:rPr lang="en-US" b="1" dirty="0"/>
              <a:t>DOM</a:t>
            </a:r>
            <a:r>
              <a:rPr lang="ru-RU" b="1" dirty="0"/>
              <a:t>.</a:t>
            </a:r>
          </a:p>
          <a:p>
            <a:endParaRPr lang="ru-RU" b="1" dirty="0"/>
          </a:p>
          <a:p>
            <a:endParaRPr lang="ru-RU" b="1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328841F-C3BE-3D0E-DCD2-AFFBBEE173F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19" y="1944035"/>
            <a:ext cx="7273721" cy="456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170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Библиотека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jQuery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10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5FDB208-C80A-F04C-9CF0-FF5AD17E67AE}"/>
              </a:ext>
            </a:extLst>
          </p:cNvPr>
          <p:cNvSpPr/>
          <p:nvPr/>
        </p:nvSpPr>
        <p:spPr>
          <a:xfrm>
            <a:off x="135828" y="765472"/>
            <a:ext cx="11920344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800" b="1" dirty="0">
                <a:solidFill>
                  <a:srgbClr val="C00000"/>
                </a:solidFill>
              </a:rPr>
              <a:t>jQuery</a:t>
            </a:r>
            <a:r>
              <a:rPr lang="ru-RU" sz="2000" b="1" dirty="0"/>
              <a:t> — это библиотека, которая рассчитана на манипулирование DOM на основе селекторов CSS, обработку событий и создание вызовов AJAX.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6AAB581-B0D9-866B-6566-4CBA46262BCF}"/>
              </a:ext>
            </a:extLst>
          </p:cNvPr>
          <p:cNvSpPr/>
          <p:nvPr/>
        </p:nvSpPr>
        <p:spPr>
          <a:xfrm>
            <a:off x="8445189" y="1822763"/>
            <a:ext cx="275466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https://jquery.com/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05374A1B-3317-805E-8F27-FAE79B1857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679" y="1680904"/>
            <a:ext cx="7923474" cy="4503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936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Библиотека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D3: Data-Driven Documents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11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B07BDE4-2BB2-D029-4F2E-099FED3E58BE}"/>
              </a:ext>
            </a:extLst>
          </p:cNvPr>
          <p:cNvSpPr/>
          <p:nvPr/>
        </p:nvSpPr>
        <p:spPr>
          <a:xfrm>
            <a:off x="149956" y="820315"/>
            <a:ext cx="118920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C00000"/>
                </a:solidFill>
              </a:rPr>
              <a:t>D3 (или D3.js) </a:t>
            </a:r>
            <a:r>
              <a:rPr lang="ru-RU" b="1" dirty="0"/>
              <a:t>- мощная библиотека JavaScript для создания интерактивных визуализаций с использованием веб-стандартов, таких как SVG, HTML и CSS. В отличие от других библиотек визуализации, D3 предлагает лучший контроль над окончательным визуальным результатом.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64E8C06C-DD97-4D75-201F-1FCB7E7E6C75}"/>
              </a:ext>
            </a:extLst>
          </p:cNvPr>
          <p:cNvSpPr/>
          <p:nvPr/>
        </p:nvSpPr>
        <p:spPr>
          <a:xfrm>
            <a:off x="8170982" y="2732042"/>
            <a:ext cx="38357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D3 работает, связывая данные с DOM и затем преобразуя их в документ.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116744F-26C9-78E4-502F-0A1CE1E7E036}"/>
              </a:ext>
            </a:extLst>
          </p:cNvPr>
          <p:cNvSpPr/>
          <p:nvPr/>
        </p:nvSpPr>
        <p:spPr>
          <a:xfrm>
            <a:off x="8700599" y="1994291"/>
            <a:ext cx="23590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https://d3js.org/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24AF8559-0FA7-E62B-1541-A9A42A2F3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306" y="1864230"/>
            <a:ext cx="7678534" cy="4790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41146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Фреймворк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Angular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12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8C76D17-A1FD-FDA2-1A05-3407EFE17FD3}"/>
              </a:ext>
            </a:extLst>
          </p:cNvPr>
          <p:cNvSpPr/>
          <p:nvPr/>
        </p:nvSpPr>
        <p:spPr>
          <a:xfrm>
            <a:off x="114568" y="741223"/>
            <a:ext cx="1173653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rgbClr val="C00000"/>
                </a:solidFill>
              </a:rPr>
              <a:t>Angular</a:t>
            </a:r>
            <a:r>
              <a:rPr lang="ru-RU" sz="2800" b="1" dirty="0">
                <a:solidFill>
                  <a:srgbClr val="C00000"/>
                </a:solidFill>
              </a:rPr>
              <a:t> </a:t>
            </a:r>
            <a:r>
              <a:rPr lang="ru-RU" sz="2000" b="1" dirty="0"/>
              <a:t>– фреймворк для разработки мобильных и </a:t>
            </a:r>
            <a:r>
              <a:rPr lang="en-US" sz="2000" b="1" dirty="0"/>
              <a:t>Desktop-</a:t>
            </a:r>
            <a:r>
              <a:rPr lang="ru-RU" sz="2000" b="1" dirty="0"/>
              <a:t>интерфейсов на </a:t>
            </a:r>
            <a:r>
              <a:rPr lang="en-US" sz="2000" b="1" dirty="0"/>
              <a:t>JavaScript</a:t>
            </a:r>
            <a:r>
              <a:rPr lang="ru-RU" sz="2000" b="1" dirty="0"/>
              <a:t>.</a:t>
            </a:r>
            <a:endParaRPr lang="ru-RU" sz="20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061319D-26A4-CA4C-4D2F-06104FB2A396}"/>
              </a:ext>
            </a:extLst>
          </p:cNvPr>
          <p:cNvSpPr/>
          <p:nvPr/>
        </p:nvSpPr>
        <p:spPr>
          <a:xfrm>
            <a:off x="8700186" y="1883433"/>
            <a:ext cx="25819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https://angular.io/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0A6EEFC-A18E-D676-FAB0-DC82ADAEEA30}"/>
              </a:ext>
            </a:extLst>
          </p:cNvPr>
          <p:cNvSpPr/>
          <p:nvPr/>
        </p:nvSpPr>
        <p:spPr>
          <a:xfrm>
            <a:off x="8009504" y="2432357"/>
            <a:ext cx="3963288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Некоторые из функций Angular 2 включают: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TypeScript поверх JavaScript как язык по умолчанию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компонентная архитектура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улучшенная производительность как на мобильных, так и на веб-платформах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/>
              <a:t>лучшие инструменты и варианты скаффолдинга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3C2E711-47F6-97F9-A153-0756B6A9DE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68" y="1450658"/>
            <a:ext cx="7732918" cy="485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28158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Фреймворк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Vue.js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13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069DD75C-CA3F-E51E-0E29-0B65D647889B}"/>
              </a:ext>
            </a:extLst>
          </p:cNvPr>
          <p:cNvSpPr/>
          <p:nvPr/>
        </p:nvSpPr>
        <p:spPr>
          <a:xfrm>
            <a:off x="168338" y="706240"/>
            <a:ext cx="1170156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Vue.js</a:t>
            </a:r>
            <a:r>
              <a:rPr lang="ru-RU" b="1" dirty="0">
                <a:solidFill>
                  <a:srgbClr val="C00000"/>
                </a:solidFill>
              </a:rPr>
              <a:t> </a:t>
            </a:r>
            <a:r>
              <a:rPr lang="ru-RU" b="1" dirty="0"/>
              <a:t>– фреймворк предлагает опыт, похожий на React, с его виртуальными DOM и компонентами многократного использования, которые можно использовать для создания как виджетов, так и целых веб-приложений.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171C74D-4C0D-D083-1082-8913A3BD8E4B}"/>
              </a:ext>
            </a:extLst>
          </p:cNvPr>
          <p:cNvSpPr/>
          <p:nvPr/>
        </p:nvSpPr>
        <p:spPr>
          <a:xfrm>
            <a:off x="8826565" y="1924267"/>
            <a:ext cx="25049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https://vuejs.org/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A7FB6DD-F52E-C840-BF3C-70F49A04C4C6}"/>
              </a:ext>
            </a:extLst>
          </p:cNvPr>
          <p:cNvSpPr/>
          <p:nvPr/>
        </p:nvSpPr>
        <p:spPr>
          <a:xfrm>
            <a:off x="7925578" y="2575727"/>
            <a:ext cx="3944321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/>
              <a:t>Vue.js использует систему реактивности, чтобы определить, что изменилось и перераспределяет минимальное количество компонентов.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4D514EF-F58F-28FF-0691-3BD5799708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2101" y="1924267"/>
            <a:ext cx="7416236" cy="4626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54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Инструмент автоматизации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14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C9109C43-4204-EDBB-A496-68307EB884AE}"/>
              </a:ext>
            </a:extLst>
          </p:cNvPr>
          <p:cNvSpPr/>
          <p:nvPr/>
        </p:nvSpPr>
        <p:spPr>
          <a:xfrm>
            <a:off x="149956" y="718809"/>
            <a:ext cx="11892087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solidFill>
                  <a:srgbClr val="C00000"/>
                </a:solidFill>
              </a:rPr>
              <a:t>Babel.JS</a:t>
            </a:r>
            <a:r>
              <a:rPr lang="ru-RU" b="1" dirty="0"/>
              <a:t> – это транспайлер, переписывающий код на ES-2015 (и выше) в код на предыдущем стандарте ES5.</a:t>
            </a:r>
          </a:p>
          <a:p>
            <a:pPr algn="just"/>
            <a:r>
              <a:rPr lang="ru-RU" b="1" dirty="0"/>
              <a:t>Он состоит из двух частей: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    Собственно транспайлер, который переписывает код.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ru-RU" b="1" dirty="0"/>
              <a:t>    Полифилл, который добавляет методы Array.from, String.prototype.repeat и другие.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600D5C5-FFF2-5EA8-1EAD-3A9D91106030}"/>
              </a:ext>
            </a:extLst>
          </p:cNvPr>
          <p:cNvSpPr/>
          <p:nvPr/>
        </p:nvSpPr>
        <p:spPr>
          <a:xfrm>
            <a:off x="8521072" y="2097706"/>
            <a:ext cx="25667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https://babeljs.io/</a:t>
            </a:r>
            <a:endParaRPr lang="ru-RU" sz="2400" b="1" dirty="0">
              <a:solidFill>
                <a:srgbClr val="C00000"/>
              </a:solidFill>
            </a:endParaRP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0FA3754-A778-0B12-9D7F-B04B2D2A9CD2}"/>
              </a:ext>
            </a:extLst>
          </p:cNvPr>
          <p:cNvSpPr/>
          <p:nvPr/>
        </p:nvSpPr>
        <p:spPr>
          <a:xfrm>
            <a:off x="7633360" y="2718247"/>
            <a:ext cx="4408683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Транспайлер (Transpiler) </a:t>
            </a:r>
            <a:r>
              <a:rPr lang="ru-RU" b="1" dirty="0"/>
              <a:t>- это тот же транслятор с той лишь разницей, что у результата примерно тот же уровень абстракции, что и у исходного текста.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64ED725-1909-2186-59DD-ACC6367CEA4A}"/>
              </a:ext>
            </a:extLst>
          </p:cNvPr>
          <p:cNvSpPr/>
          <p:nvPr/>
        </p:nvSpPr>
        <p:spPr>
          <a:xfrm>
            <a:off x="7633360" y="4077452"/>
            <a:ext cx="4218156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dirty="0">
                <a:solidFill>
                  <a:srgbClr val="C00000"/>
                </a:solidFill>
              </a:rPr>
              <a:t>«Полифилл» (англ. </a:t>
            </a:r>
            <a:r>
              <a:rPr lang="ru-RU" b="1" dirty="0" err="1">
                <a:solidFill>
                  <a:srgbClr val="C00000"/>
                </a:solidFill>
              </a:rPr>
              <a:t>polyfill</a:t>
            </a:r>
            <a:r>
              <a:rPr lang="ru-RU" b="1" dirty="0">
                <a:solidFill>
                  <a:srgbClr val="C00000"/>
                </a:solidFill>
              </a:rPr>
              <a:t>) </a:t>
            </a:r>
            <a:r>
              <a:rPr lang="ru-RU" b="1" dirty="0"/>
              <a:t>– это библиотека, которая добавляет в старые браузеры поддержку возможностей, которые в современных браузерах являются встроенными.</a:t>
            </a: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ECB1043-CD50-6B6B-FBAB-84157503D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8936" y="2049243"/>
            <a:ext cx="7256483" cy="4549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48762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Пакетный менеджер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NPM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15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4338745-1DBE-350E-117C-09CB1E6EEE7F}"/>
              </a:ext>
            </a:extLst>
          </p:cNvPr>
          <p:cNvSpPr/>
          <p:nvPr/>
        </p:nvSpPr>
        <p:spPr>
          <a:xfrm>
            <a:off x="149956" y="718809"/>
            <a:ext cx="118920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NPM</a:t>
            </a:r>
            <a:r>
              <a:rPr lang="ru-RU" b="1" dirty="0"/>
              <a:t> (</a:t>
            </a:r>
            <a:r>
              <a:rPr lang="ru-RU" b="1" dirty="0" err="1"/>
              <a:t>Node</a:t>
            </a:r>
            <a:r>
              <a:rPr lang="ru-RU" b="1" dirty="0"/>
              <a:t> </a:t>
            </a:r>
            <a:r>
              <a:rPr lang="ru-RU" b="1" dirty="0" err="1"/>
              <a:t>Package</a:t>
            </a:r>
            <a:r>
              <a:rPr lang="ru-RU" b="1" dirty="0"/>
              <a:t> Manager) — это стандартный менеджер пакетов для среды выполнения JavaScript Node.js. Он позволяет разработчикам легко устанавливать, обновлять и управлять внешними библиотеками (пакетами), а также отслеживать зависимости проекта.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658CF67-FAE0-906D-4FBD-139CE6D9799A}"/>
              </a:ext>
            </a:extLst>
          </p:cNvPr>
          <p:cNvSpPr/>
          <p:nvPr/>
        </p:nvSpPr>
        <p:spPr>
          <a:xfrm>
            <a:off x="8340885" y="2105148"/>
            <a:ext cx="349037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https://www.npmjs.com/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F23804-44FB-D257-C711-418F2471C3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3520" y="2068176"/>
            <a:ext cx="7884156" cy="433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5508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Переменные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16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084E7FF-CEED-9D3C-B533-5095F0B1875D}"/>
              </a:ext>
            </a:extLst>
          </p:cNvPr>
          <p:cNvSpPr/>
          <p:nvPr/>
        </p:nvSpPr>
        <p:spPr>
          <a:xfrm>
            <a:off x="342900" y="940799"/>
            <a:ext cx="11735686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ru-RU" sz="2000" b="1" dirty="0"/>
              <a:t>Чтобы хранить информацию, используются </a:t>
            </a:r>
            <a:r>
              <a:rPr lang="ru-RU" sz="2000" b="1" dirty="0">
                <a:solidFill>
                  <a:srgbClr val="C00000"/>
                </a:solidFill>
              </a:rPr>
              <a:t>переменные</a:t>
            </a:r>
            <a:r>
              <a:rPr lang="ru-RU" sz="2000" b="1" dirty="0"/>
              <a:t>.</a:t>
            </a:r>
            <a:endParaRPr lang="en-US" sz="2000" b="1" dirty="0"/>
          </a:p>
          <a:p>
            <a:pPr algn="just">
              <a:buFont typeface="Wingdings" pitchFamily="2" charset="2"/>
              <a:buNone/>
            </a:pPr>
            <a:endParaRPr lang="en-US" sz="2000" b="1" dirty="0"/>
          </a:p>
          <a:p>
            <a:pPr algn="ctr">
              <a:buFont typeface="Wingdings" pitchFamily="2" charset="2"/>
              <a:buNone/>
            </a:pPr>
            <a:r>
              <a:rPr lang="ru-RU" sz="2800" b="1" dirty="0">
                <a:solidFill>
                  <a:srgbClr val="C00000"/>
                </a:solidFill>
              </a:rPr>
              <a:t>переменная = имя + область памяти (ссылка)</a:t>
            </a:r>
            <a:r>
              <a:rPr lang="en-US" sz="2800" b="1" dirty="0">
                <a:solidFill>
                  <a:srgbClr val="C00000"/>
                </a:solidFill>
              </a:rPr>
              <a:t> </a:t>
            </a:r>
          </a:p>
          <a:p>
            <a:pPr algn="just">
              <a:buFont typeface="Wingdings" pitchFamily="2" charset="2"/>
              <a:buNone/>
            </a:pPr>
            <a:endParaRPr lang="ru-RU" sz="2000" b="1" dirty="0"/>
          </a:p>
          <a:p>
            <a:pPr algn="just">
              <a:buFont typeface="Wingdings" pitchFamily="2" charset="2"/>
              <a:buNone/>
            </a:pPr>
            <a:r>
              <a:rPr lang="ru-RU" sz="2000" b="1" dirty="0"/>
              <a:t>Для объявления или, другими словами, создания переменной используется ключевое слово </a:t>
            </a:r>
            <a:r>
              <a:rPr lang="ru-RU" sz="2000" b="1" dirty="0">
                <a:solidFill>
                  <a:srgbClr val="C00000"/>
                </a:solidFill>
              </a:rPr>
              <a:t>var</a:t>
            </a:r>
            <a:r>
              <a:rPr lang="ru-RU" sz="2000" b="1" dirty="0"/>
              <a:t>:</a:t>
            </a:r>
            <a:endParaRPr lang="en-US" sz="2000" b="1" dirty="0"/>
          </a:p>
          <a:p>
            <a:pPr>
              <a:buFont typeface="Wingdings" pitchFamily="2" charset="2"/>
              <a:buNone/>
            </a:pPr>
            <a:r>
              <a:rPr lang="en-US" sz="2000" b="1" dirty="0"/>
              <a:t>	</a:t>
            </a:r>
            <a:endParaRPr lang="ru-RU" sz="2000" b="1" dirty="0"/>
          </a:p>
          <a:p>
            <a:pPr lvl="4">
              <a:buFont typeface="Wingdings" pitchFamily="2" charset="2"/>
              <a:buNone/>
            </a:pPr>
            <a:r>
              <a:rPr lang="en-US" sz="2000" b="1" i="1" dirty="0"/>
              <a:t>var message;</a:t>
            </a:r>
          </a:p>
          <a:p>
            <a:pPr lvl="4">
              <a:buFont typeface="Wingdings" pitchFamily="2" charset="2"/>
              <a:buNone/>
            </a:pPr>
            <a:r>
              <a:rPr lang="en-US" sz="2000" b="1" i="1" dirty="0"/>
              <a:t>var x=5;</a:t>
            </a:r>
          </a:p>
          <a:p>
            <a:pPr algn="ctr">
              <a:buFont typeface="Wingdings" pitchFamily="2" charset="2"/>
              <a:buNone/>
            </a:pPr>
            <a:endParaRPr lang="en-US" sz="2000" b="1" dirty="0"/>
          </a:p>
          <a:p>
            <a:pPr algn="just">
              <a:buFont typeface="Wingdings" pitchFamily="2" charset="2"/>
              <a:buNone/>
            </a:pPr>
            <a:r>
              <a:rPr lang="ru-RU" sz="2000" b="1" dirty="0"/>
              <a:t>Если мы хотим увеличить значение переменной с целым числом, то мы можем это</a:t>
            </a:r>
            <a:r>
              <a:rPr lang="en-US" sz="2000" b="1" dirty="0"/>
              <a:t> </a:t>
            </a:r>
            <a:r>
              <a:rPr lang="ru-RU" sz="2000" b="1" dirty="0"/>
              <a:t>сделать вот так</a:t>
            </a:r>
            <a:r>
              <a:rPr lang="en-US" sz="2000" b="1" dirty="0"/>
              <a:t>:</a:t>
            </a:r>
          </a:p>
          <a:p>
            <a:endParaRPr lang="ru-RU" sz="2000" b="1" i="1" dirty="0"/>
          </a:p>
          <a:p>
            <a:pPr lvl="6"/>
            <a:r>
              <a:rPr lang="en-US" sz="2000" b="1" i="1" dirty="0"/>
              <a:t>var x = 7;</a:t>
            </a:r>
          </a:p>
          <a:p>
            <a:pPr lvl="6"/>
            <a:r>
              <a:rPr lang="en-US" sz="2000" b="1" i="1" dirty="0"/>
              <a:t>x=x+1;</a:t>
            </a:r>
          </a:p>
          <a:p>
            <a:pPr lvl="6"/>
            <a:r>
              <a:rPr lang="en-US" sz="2000" b="1" i="1" dirty="0"/>
              <a:t>console.log(x); // 8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D72313D-3E32-3CC5-9CBC-ED3FF318D040}"/>
              </a:ext>
            </a:extLst>
          </p:cNvPr>
          <p:cNvSpPr txBox="1"/>
          <p:nvPr/>
        </p:nvSpPr>
        <p:spPr>
          <a:xfrm>
            <a:off x="6210743" y="5409369"/>
            <a:ext cx="55488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/>
              <a:t>let </a:t>
            </a:r>
            <a:r>
              <a:rPr lang="en-US" sz="2000" b="1" i="1" dirty="0" err="1"/>
              <a:t>myFirstVariable</a:t>
            </a:r>
            <a:r>
              <a:rPr lang="en-US" sz="2000" b="1" i="1" dirty="0"/>
              <a:t> = 1; </a:t>
            </a:r>
            <a:endParaRPr lang="ru-RU" sz="2000" b="1" i="1" dirty="0"/>
          </a:p>
          <a:p>
            <a:r>
              <a:rPr lang="en-US" sz="2000" b="1" i="1" dirty="0" err="1"/>
              <a:t>myFirstVariable</a:t>
            </a:r>
            <a:r>
              <a:rPr lang="en-US" sz="2000" b="1" i="1" dirty="0"/>
              <a:t> = 'Some string’; </a:t>
            </a:r>
            <a:endParaRPr lang="ru-RU" sz="2000" b="1" i="1" dirty="0"/>
          </a:p>
          <a:p>
            <a:r>
              <a:rPr lang="en-US" sz="2000" b="1" i="1" dirty="0" err="1"/>
              <a:t>myFirstVariable</a:t>
            </a:r>
            <a:r>
              <a:rPr lang="en-US" sz="2000" b="1" i="1" dirty="0"/>
              <a:t> = new </a:t>
            </a:r>
            <a:r>
              <a:rPr lang="en-US" sz="2000" b="1" i="1" dirty="0" err="1"/>
              <a:t>SomeComplexClass</a:t>
            </a:r>
            <a:r>
              <a:rPr lang="en-US" sz="2000" b="1" i="1" dirty="0"/>
              <a:t>();</a:t>
            </a:r>
            <a:endParaRPr lang="ru-RU" sz="2000" b="1" i="1" dirty="0"/>
          </a:p>
        </p:txBody>
      </p:sp>
    </p:spTree>
    <p:extLst>
      <p:ext uri="{BB962C8B-B14F-4D97-AF65-F5344CB8AC3E}">
        <p14:creationId xmlns:p14="http://schemas.microsoft.com/office/powerpoint/2010/main" val="1698416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Переменные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4A63C79-AAB1-2787-0B08-337FD92F602E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9" name="Rectangle 18">
            <a:extLst>
              <a:ext uri="{FF2B5EF4-FFF2-40B4-BE49-F238E27FC236}">
                <a16:creationId xmlns:a16="http://schemas.microsoft.com/office/drawing/2014/main" id="{51500A2E-3244-55F5-3C13-4E8DC14053E2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17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D6BBDD95-F748-E159-E12C-04F85D52EF97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FFEB999-2078-D711-48F4-D342FCEF7A2D}"/>
              </a:ext>
            </a:extLst>
          </p:cNvPr>
          <p:cNvSpPr/>
          <p:nvPr/>
        </p:nvSpPr>
        <p:spPr>
          <a:xfrm>
            <a:off x="352187" y="990600"/>
            <a:ext cx="11611548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ru-RU" sz="2000" b="1" dirty="0"/>
              <a:t>На имя переменной в JavaScript наложены ограничения:</a:t>
            </a:r>
          </a:p>
          <a:p>
            <a:pPr algn="just">
              <a:buFont typeface="Wingdings" pitchFamily="2" charset="2"/>
              <a:buNone/>
            </a:pPr>
            <a:endParaRPr lang="ru-RU" sz="2000" b="1" dirty="0"/>
          </a:p>
          <a:p>
            <a:pPr marL="342900" indent="-342900" algn="just">
              <a:buFont typeface="+mj-lt"/>
              <a:buAutoNum type="arabicPeriod"/>
            </a:pPr>
            <a:r>
              <a:rPr lang="ru-RU" sz="2000" b="1" dirty="0"/>
              <a:t>Имя может состоять из: </a:t>
            </a:r>
            <a:r>
              <a:rPr lang="ru-RU" sz="2000" b="1" dirty="0">
                <a:solidFill>
                  <a:srgbClr val="C00000"/>
                </a:solidFill>
              </a:rPr>
              <a:t>букв, цифр, символов $ и _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b="1" dirty="0"/>
              <a:t>Первый символ </a:t>
            </a:r>
            <a:r>
              <a:rPr lang="ru-RU" sz="2000" b="1" dirty="0">
                <a:solidFill>
                  <a:srgbClr val="C00000"/>
                </a:solidFill>
              </a:rPr>
              <a:t>не должен быть цифрой</a:t>
            </a:r>
            <a:r>
              <a:rPr lang="ru-RU" sz="2000" b="1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b="1" dirty="0">
                <a:solidFill>
                  <a:srgbClr val="C00000"/>
                </a:solidFill>
              </a:rPr>
              <a:t>Регистр букв имеет значение</a:t>
            </a:r>
            <a:r>
              <a:rPr lang="ru-RU" sz="2000" b="1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2000" b="1" dirty="0">
                <a:solidFill>
                  <a:srgbClr val="C00000"/>
                </a:solidFill>
              </a:rPr>
              <a:t>Русские буквы допустимы</a:t>
            </a:r>
            <a:r>
              <a:rPr lang="ru-RU" sz="2000" b="1" dirty="0"/>
              <a:t>, но не рекомендуются.</a:t>
            </a:r>
          </a:p>
          <a:p>
            <a:pPr marL="342900" indent="-342900" algn="just">
              <a:buFont typeface="+mj-lt"/>
              <a:buAutoNum type="arabicPeriod"/>
            </a:pPr>
            <a:endParaRPr lang="ru-RU" sz="2000" b="1" dirty="0"/>
          </a:p>
          <a:p>
            <a:pPr algn="just"/>
            <a:endParaRPr lang="ru-RU" sz="2000" b="1" dirty="0"/>
          </a:p>
          <a:p>
            <a:pPr algn="just"/>
            <a:endParaRPr lang="ru-RU" sz="2000" b="1" dirty="0"/>
          </a:p>
          <a:p>
            <a:pPr algn="just"/>
            <a:endParaRPr lang="ru-RU" sz="2000" b="1" dirty="0"/>
          </a:p>
          <a:p>
            <a:pPr algn="just"/>
            <a:endParaRPr lang="ru-RU" sz="2000" b="1" dirty="0"/>
          </a:p>
          <a:p>
            <a:pPr algn="just"/>
            <a:endParaRPr lang="ru-RU" sz="2000" b="1" dirty="0"/>
          </a:p>
          <a:p>
            <a:pPr algn="just"/>
            <a:endParaRPr lang="ru-RU" sz="2000" b="1" dirty="0"/>
          </a:p>
          <a:p>
            <a:pPr algn="just"/>
            <a:r>
              <a:rPr lang="ru-RU" sz="2000" b="1" dirty="0"/>
              <a:t>Существует список </a:t>
            </a:r>
            <a:r>
              <a:rPr lang="ru-RU" sz="2000" b="1" dirty="0">
                <a:solidFill>
                  <a:srgbClr val="C00000"/>
                </a:solidFill>
              </a:rPr>
              <a:t>зарезервированных слов</a:t>
            </a:r>
            <a:r>
              <a:rPr lang="ru-RU" sz="2000" b="1" dirty="0"/>
              <a:t>, которые нельзя использовать для переменных, так как они используются самим языком, например: var, class, return, export и др.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1B92972-2F82-86A2-2267-1DB2F9B63E9F}"/>
              </a:ext>
            </a:extLst>
          </p:cNvPr>
          <p:cNvSpPr/>
          <p:nvPr/>
        </p:nvSpPr>
        <p:spPr>
          <a:xfrm>
            <a:off x="6954099" y="1396570"/>
            <a:ext cx="5210192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b="1" i="1" dirty="0"/>
              <a:t>var myName;</a:t>
            </a:r>
          </a:p>
          <a:p>
            <a:pPr algn="just"/>
            <a:r>
              <a:rPr lang="en-US" b="1" i="1" dirty="0"/>
              <a:t>var test123;</a:t>
            </a:r>
            <a:endParaRPr lang="ru-RU" b="1" i="1" dirty="0"/>
          </a:p>
          <a:p>
            <a:pPr algn="just"/>
            <a:r>
              <a:rPr lang="ru-RU" b="1" i="1" dirty="0"/>
              <a:t>var $ = 1;  // объявили переменную с именем '$'</a:t>
            </a:r>
          </a:p>
          <a:p>
            <a:pPr algn="just"/>
            <a:r>
              <a:rPr lang="ru-RU" b="1" i="1" dirty="0"/>
              <a:t>var _ = 2;  // переменная с именем '_‘</a:t>
            </a:r>
          </a:p>
          <a:p>
            <a:pPr algn="just"/>
            <a:r>
              <a:rPr lang="ru-RU" b="1" i="1" dirty="0"/>
              <a:t>var 1a;  // начало не может быть цифрой</a:t>
            </a:r>
          </a:p>
          <a:p>
            <a:pPr algn="just"/>
            <a:r>
              <a:rPr lang="ru-RU" b="1" i="1" dirty="0"/>
              <a:t>var my-name;  // дефис '-' не является </a:t>
            </a:r>
          </a:p>
          <a:p>
            <a:pPr algn="just"/>
            <a:r>
              <a:rPr lang="ru-RU" b="1" i="1" dirty="0"/>
              <a:t>разрешенным символом</a:t>
            </a:r>
          </a:p>
          <a:p>
            <a:pPr algn="just"/>
            <a:r>
              <a:rPr lang="en-US" b="1" i="1" dirty="0"/>
              <a:t>var app;</a:t>
            </a:r>
          </a:p>
          <a:p>
            <a:pPr algn="just"/>
            <a:r>
              <a:rPr lang="en-US" b="1" i="1" dirty="0"/>
              <a:t>var App;</a:t>
            </a:r>
            <a:endParaRPr lang="ru-RU" b="1" i="1" dirty="0"/>
          </a:p>
          <a:p>
            <a:pPr algn="just"/>
            <a:r>
              <a:rPr lang="en-US" b="1" i="1" dirty="0"/>
              <a:t>var </a:t>
            </a:r>
            <a:r>
              <a:rPr lang="ru-RU" b="1" i="1" dirty="0"/>
              <a:t>имя = "Вася";</a:t>
            </a:r>
          </a:p>
        </p:txBody>
      </p:sp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1E6D1E33-17F0-1119-76FB-21D3CC35BA99}"/>
              </a:ext>
            </a:extLst>
          </p:cNvPr>
          <p:cNvCxnSpPr/>
          <p:nvPr/>
        </p:nvCxnSpPr>
        <p:spPr>
          <a:xfrm>
            <a:off x="6876547" y="1108472"/>
            <a:ext cx="0" cy="315042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72638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Переменные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18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Text Box 52">
            <a:extLst>
              <a:ext uri="{FF2B5EF4-FFF2-40B4-BE49-F238E27FC236}">
                <a16:creationId xmlns:a16="http://schemas.microsoft.com/office/drawing/2014/main" id="{A7721E71-8466-72BE-2E03-A140C48251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00923" y="990600"/>
            <a:ext cx="7694951" cy="2646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ru-RU" sz="2000" b="1" dirty="0">
                <a:solidFill>
                  <a:srgbClr val="C00000"/>
                </a:solidFill>
              </a:rPr>
              <a:t>В </a:t>
            </a:r>
            <a:r>
              <a:rPr lang="en-US" sz="2000" b="1" dirty="0">
                <a:solidFill>
                  <a:srgbClr val="C00000"/>
                </a:solidFill>
              </a:rPr>
              <a:t>E</a:t>
            </a:r>
            <a:r>
              <a:rPr lang="ru-RU" sz="2000" b="1" dirty="0">
                <a:solidFill>
                  <a:srgbClr val="C00000"/>
                </a:solidFill>
              </a:rPr>
              <a:t>С</a:t>
            </a:r>
            <a:r>
              <a:rPr lang="en-US" sz="2000" b="1" dirty="0" err="1">
                <a:solidFill>
                  <a:srgbClr val="C00000"/>
                </a:solidFill>
              </a:rPr>
              <a:t>MAScript</a:t>
            </a:r>
            <a:r>
              <a:rPr lang="en-US" sz="2000" b="1" dirty="0">
                <a:solidFill>
                  <a:srgbClr val="C00000"/>
                </a:solidFill>
              </a:rPr>
              <a:t> 6</a:t>
            </a:r>
            <a:r>
              <a:rPr lang="ru-RU" sz="2000" b="1" dirty="0">
                <a:solidFill>
                  <a:srgbClr val="C00000"/>
                </a:solidFill>
              </a:rPr>
              <a:t> =</a:t>
            </a:r>
            <a:r>
              <a:rPr lang="en-US" sz="2000" b="1" dirty="0">
                <a:solidFill>
                  <a:srgbClr val="C00000"/>
                </a:solidFill>
              </a:rPr>
              <a:t>&gt;</a:t>
            </a:r>
            <a:r>
              <a:rPr lang="ru-RU" sz="2000" b="1" dirty="0">
                <a:solidFill>
                  <a:srgbClr val="C00000"/>
                </a:solidFill>
              </a:rPr>
              <a:t> объявления переменной через </a:t>
            </a:r>
            <a:r>
              <a:rPr lang="en-US" sz="2000" b="1" dirty="0">
                <a:solidFill>
                  <a:srgbClr val="C00000"/>
                </a:solidFill>
              </a:rPr>
              <a:t>let</a:t>
            </a:r>
            <a:r>
              <a:rPr lang="ru-RU" sz="2000" b="1" dirty="0">
                <a:solidFill>
                  <a:srgbClr val="C00000"/>
                </a:solidFill>
              </a:rPr>
              <a:t>.</a:t>
            </a:r>
            <a:endParaRPr lang="en-US" sz="2000" b="1" dirty="0">
              <a:solidFill>
                <a:srgbClr val="C00000"/>
              </a:solidFill>
            </a:endParaRPr>
          </a:p>
          <a:p>
            <a:pPr algn="just">
              <a:buFont typeface="Wingdings" pitchFamily="2" charset="2"/>
              <a:buNone/>
            </a:pPr>
            <a:endParaRPr lang="ru-RU" sz="1600" b="1" dirty="0"/>
          </a:p>
          <a:p>
            <a:pPr algn="just">
              <a:buFont typeface="Wingdings" pitchFamily="2" charset="2"/>
              <a:buNone/>
            </a:pPr>
            <a:r>
              <a:rPr lang="en-US" b="1" i="1" dirty="0"/>
              <a:t>let a = 5;</a:t>
            </a:r>
            <a:endParaRPr lang="ru-RU" b="1" i="1" dirty="0"/>
          </a:p>
          <a:p>
            <a:pPr algn="ctr">
              <a:buFont typeface="Wingdings" pitchFamily="2" charset="2"/>
              <a:buNone/>
            </a:pPr>
            <a:r>
              <a:rPr lang="en-US" sz="2400" b="1" dirty="0">
                <a:solidFill>
                  <a:srgbClr val="C00000"/>
                </a:solidFill>
              </a:rPr>
              <a:t>let vs. var</a:t>
            </a:r>
            <a:endParaRPr lang="ru-RU" sz="2400" b="1" dirty="0">
              <a:solidFill>
                <a:srgbClr val="C00000"/>
              </a:solidFill>
            </a:endParaRPr>
          </a:p>
          <a:p>
            <a:pPr algn="just">
              <a:buFont typeface="Wingdings" pitchFamily="2" charset="2"/>
              <a:buNone/>
            </a:pPr>
            <a:endParaRPr lang="ru-RU" sz="1600" b="1" dirty="0">
              <a:solidFill>
                <a:srgbClr val="C00000"/>
              </a:solidFill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ru-RU" b="1" dirty="0"/>
              <a:t>Область видимости переменной let – блок {...}.</a:t>
            </a:r>
            <a:endParaRPr lang="en-US" b="1" dirty="0"/>
          </a:p>
          <a:p>
            <a:pPr marL="342900" indent="-342900" algn="just">
              <a:buFont typeface="+mj-lt"/>
              <a:buAutoNum type="arabicPeriod"/>
            </a:pPr>
            <a:r>
              <a:rPr lang="ru-RU" b="1" dirty="0"/>
              <a:t>Переменная let видна только после объявления</a:t>
            </a:r>
            <a:r>
              <a:rPr lang="en-US" b="1" dirty="0"/>
              <a:t>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b="1" dirty="0"/>
              <a:t>При использовании в цикле, для каждой итерации создаётся своя переменная. </a:t>
            </a:r>
            <a:endParaRPr lang="ru-RU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2B602CF7-5F21-DDAE-BC36-B9E2938563C8}"/>
              </a:ext>
            </a:extLst>
          </p:cNvPr>
          <p:cNvSpPr/>
          <p:nvPr/>
        </p:nvSpPr>
        <p:spPr>
          <a:xfrm>
            <a:off x="534250" y="3352800"/>
            <a:ext cx="497793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let apples = 5; // (*)</a:t>
            </a:r>
          </a:p>
          <a:p>
            <a:r>
              <a:rPr lang="ru-RU" b="1" i="1" dirty="0"/>
              <a:t>if (true) {</a:t>
            </a:r>
          </a:p>
          <a:p>
            <a:r>
              <a:rPr lang="ru-RU" b="1" i="1" dirty="0"/>
              <a:t>  let apples = 10;</a:t>
            </a:r>
          </a:p>
          <a:p>
            <a:r>
              <a:rPr lang="ru-RU" b="1" i="1" dirty="0"/>
              <a:t>  </a:t>
            </a:r>
            <a:r>
              <a:rPr lang="en-US" b="1" i="1" dirty="0"/>
              <a:t>console.log</a:t>
            </a:r>
            <a:r>
              <a:rPr lang="ru-RU" b="1" i="1" dirty="0"/>
              <a:t>(apples); // 10 (внутри блока)</a:t>
            </a:r>
          </a:p>
          <a:p>
            <a:r>
              <a:rPr lang="ru-RU" b="1" i="1" dirty="0"/>
              <a:t>}</a:t>
            </a:r>
          </a:p>
          <a:p>
            <a:r>
              <a:rPr lang="en-US" b="1" i="1" dirty="0"/>
              <a:t>console.log</a:t>
            </a:r>
            <a:r>
              <a:rPr lang="ru-RU" b="1" i="1" dirty="0"/>
              <a:t>(apples); // 5 (не изменилось)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A60591CB-B286-980C-D936-6D4EAD786BB3}"/>
              </a:ext>
            </a:extLst>
          </p:cNvPr>
          <p:cNvSpPr/>
          <p:nvPr/>
        </p:nvSpPr>
        <p:spPr>
          <a:xfrm>
            <a:off x="6492336" y="3733800"/>
            <a:ext cx="5713519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alert(a); // undefined</a:t>
            </a:r>
          </a:p>
          <a:p>
            <a:r>
              <a:rPr lang="ru-RU" b="1" i="1" dirty="0"/>
              <a:t>var a = 5;</a:t>
            </a:r>
            <a:endParaRPr lang="en-US" b="1" i="1" dirty="0"/>
          </a:p>
          <a:p>
            <a:endParaRPr lang="en-US" b="1" i="1" dirty="0"/>
          </a:p>
          <a:p>
            <a:r>
              <a:rPr lang="ru-RU" b="1" i="1" dirty="0"/>
              <a:t>alert(</a:t>
            </a:r>
            <a:r>
              <a:rPr lang="en-US" b="1" i="1" dirty="0"/>
              <a:t>b</a:t>
            </a:r>
            <a:r>
              <a:rPr lang="ru-RU" b="1" i="1" dirty="0"/>
              <a:t>); // ошибка, нет такой переменной</a:t>
            </a:r>
          </a:p>
          <a:p>
            <a:r>
              <a:rPr lang="ru-RU" b="1" i="1" dirty="0"/>
              <a:t>let </a:t>
            </a:r>
            <a:r>
              <a:rPr lang="en-US" b="1" i="1" dirty="0"/>
              <a:t>b</a:t>
            </a:r>
            <a:r>
              <a:rPr lang="ru-RU" b="1" i="1" dirty="0"/>
              <a:t> = 5;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19A90BA2-0E19-82DF-4347-84AB49720011}"/>
              </a:ext>
            </a:extLst>
          </p:cNvPr>
          <p:cNvSpPr/>
          <p:nvPr/>
        </p:nvSpPr>
        <p:spPr>
          <a:xfrm>
            <a:off x="197428" y="905191"/>
            <a:ext cx="309289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ru-RU" sz="2800" dirty="0">
                <a:solidFill>
                  <a:srgbClr val="C00000"/>
                </a:solidFill>
              </a:rPr>
              <a:t>Режим «use strict»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D18ECD73-9E91-C09F-3166-52A91B33C1BA}"/>
              </a:ext>
            </a:extLst>
          </p:cNvPr>
          <p:cNvSpPr/>
          <p:nvPr/>
        </p:nvSpPr>
        <p:spPr>
          <a:xfrm>
            <a:off x="1218006" y="1601692"/>
            <a:ext cx="8258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en-US" b="1" i="1" dirty="0"/>
              <a:t>a = 92;</a:t>
            </a:r>
            <a:endParaRPr lang="ru-RU" b="1" i="1" dirty="0"/>
          </a:p>
        </p:txBody>
      </p:sp>
      <p:sp>
        <p:nvSpPr>
          <p:cNvPr id="22" name="Полилиния 13">
            <a:extLst>
              <a:ext uri="{FF2B5EF4-FFF2-40B4-BE49-F238E27FC236}">
                <a16:creationId xmlns:a16="http://schemas.microsoft.com/office/drawing/2014/main" id="{70B1E6E4-B428-0673-0581-7E085526133F}"/>
              </a:ext>
            </a:extLst>
          </p:cNvPr>
          <p:cNvSpPr/>
          <p:nvPr/>
        </p:nvSpPr>
        <p:spPr>
          <a:xfrm>
            <a:off x="1188705" y="1942396"/>
            <a:ext cx="1110343" cy="289840"/>
          </a:xfrm>
          <a:custGeom>
            <a:avLst/>
            <a:gdLst>
              <a:gd name="connsiteX0" fmla="*/ 0 w 1110343"/>
              <a:gd name="connsiteY0" fmla="*/ 28442 h 289840"/>
              <a:gd name="connsiteX1" fmla="*/ 156754 w 1110343"/>
              <a:gd name="connsiteY1" fmla="*/ 2316 h 289840"/>
              <a:gd name="connsiteX2" fmla="*/ 365760 w 1110343"/>
              <a:gd name="connsiteY2" fmla="*/ 80693 h 289840"/>
              <a:gd name="connsiteX3" fmla="*/ 496389 w 1110343"/>
              <a:gd name="connsiteY3" fmla="*/ 28442 h 289840"/>
              <a:gd name="connsiteX4" fmla="*/ 613954 w 1110343"/>
              <a:gd name="connsiteY4" fmla="*/ 93756 h 289840"/>
              <a:gd name="connsiteX5" fmla="*/ 809897 w 1110343"/>
              <a:gd name="connsiteY5" fmla="*/ 41505 h 289840"/>
              <a:gd name="connsiteX6" fmla="*/ 1110343 w 1110343"/>
              <a:gd name="connsiteY6" fmla="*/ 289699 h 289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10343" h="289840">
                <a:moveTo>
                  <a:pt x="0" y="28442"/>
                </a:moveTo>
                <a:cubicBezTo>
                  <a:pt x="47897" y="11024"/>
                  <a:pt x="95794" y="-6393"/>
                  <a:pt x="156754" y="2316"/>
                </a:cubicBezTo>
                <a:cubicBezTo>
                  <a:pt x="217714" y="11024"/>
                  <a:pt x="309154" y="76339"/>
                  <a:pt x="365760" y="80693"/>
                </a:cubicBezTo>
                <a:cubicBezTo>
                  <a:pt x="422366" y="85047"/>
                  <a:pt x="455023" y="26265"/>
                  <a:pt x="496389" y="28442"/>
                </a:cubicBezTo>
                <a:cubicBezTo>
                  <a:pt x="537755" y="30619"/>
                  <a:pt x="561703" y="91579"/>
                  <a:pt x="613954" y="93756"/>
                </a:cubicBezTo>
                <a:cubicBezTo>
                  <a:pt x="666205" y="95933"/>
                  <a:pt x="727166" y="8848"/>
                  <a:pt x="809897" y="41505"/>
                </a:cubicBezTo>
                <a:cubicBezTo>
                  <a:pt x="892629" y="74162"/>
                  <a:pt x="1064623" y="296230"/>
                  <a:pt x="1110343" y="289699"/>
                </a:cubicBezTo>
              </a:path>
            </a:pathLst>
          </a:custGeom>
          <a:ln w="28575"/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0235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Константы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19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13" name="Text Box 52">
            <a:extLst>
              <a:ext uri="{FF2B5EF4-FFF2-40B4-BE49-F238E27FC236}">
                <a16:creationId xmlns:a16="http://schemas.microsoft.com/office/drawing/2014/main" id="{B710660B-C267-2407-C12D-A2FB58BB69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4073" y="676424"/>
            <a:ext cx="11818719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Константа</a:t>
            </a:r>
            <a:r>
              <a:rPr lang="ru-RU" sz="2000" b="1" dirty="0"/>
              <a:t> – это переменная, которая не изменяется в программе после ее инициализации. Ключевое слово </a:t>
            </a:r>
            <a:r>
              <a:rPr lang="en-US" sz="2000" b="1" dirty="0">
                <a:solidFill>
                  <a:srgbClr val="C00000"/>
                </a:solidFill>
              </a:rPr>
              <a:t>const</a:t>
            </a:r>
            <a:r>
              <a:rPr lang="en-US" sz="2000" b="1" dirty="0"/>
              <a:t> </a:t>
            </a:r>
            <a:r>
              <a:rPr lang="ru-RU" sz="2000" b="1" dirty="0"/>
              <a:t>появилось, начиная со стандарта </a:t>
            </a:r>
            <a:r>
              <a:rPr lang="en-US" sz="2000" b="1" dirty="0"/>
              <a:t>ESMAScript 6</a:t>
            </a:r>
            <a:r>
              <a:rPr lang="ru-RU" sz="2000" b="1" dirty="0"/>
              <a:t>.</a:t>
            </a:r>
            <a:r>
              <a:rPr lang="en-US" sz="2000" b="1" dirty="0"/>
              <a:t> </a:t>
            </a:r>
            <a:endParaRPr lang="ru-RU" sz="2000" b="1" dirty="0"/>
          </a:p>
          <a:p>
            <a:pPr algn="just">
              <a:buFont typeface="Wingdings" pitchFamily="2" charset="2"/>
              <a:buNone/>
            </a:pPr>
            <a:endParaRPr lang="ru-RU" sz="2000" b="1" dirty="0"/>
          </a:p>
          <a:p>
            <a:pPr lvl="5" algn="just">
              <a:buFont typeface="Wingdings" pitchFamily="2" charset="2"/>
              <a:buNone/>
            </a:pPr>
            <a:endParaRPr lang="ru-RU" sz="2000" b="1" i="1" dirty="0"/>
          </a:p>
          <a:p>
            <a:pPr lvl="1" algn="just"/>
            <a:r>
              <a:rPr lang="en-US" sz="2000" b="1" i="1" dirty="0"/>
              <a:t>const COLOR_RED = "#F00";</a:t>
            </a:r>
          </a:p>
          <a:p>
            <a:pPr lvl="1" algn="just"/>
            <a:r>
              <a:rPr lang="en-US" sz="2000" b="1" i="1" dirty="0"/>
              <a:t>conts COLOR_GREEN = "#0F0";</a:t>
            </a:r>
          </a:p>
          <a:p>
            <a:pPr lvl="1" algn="just"/>
            <a:r>
              <a:rPr lang="en-US" sz="2000" b="1" i="1" dirty="0"/>
              <a:t>const COLOR_BLUE = "#00F";</a:t>
            </a:r>
          </a:p>
          <a:p>
            <a:pPr lvl="1" algn="just"/>
            <a:r>
              <a:rPr lang="en-US" sz="2000" b="1" i="1" dirty="0"/>
              <a:t>const COLOR_ORANGE = "#FF7F00";</a:t>
            </a:r>
          </a:p>
          <a:p>
            <a:pPr lvl="1" algn="just"/>
            <a:endParaRPr lang="en-US" sz="2000" b="1" i="1" dirty="0"/>
          </a:p>
          <a:p>
            <a:pPr lvl="1" algn="just"/>
            <a:r>
              <a:rPr lang="en-US" sz="2000" b="1" i="1" dirty="0"/>
              <a:t>conts color = COLOR_ORANGE;</a:t>
            </a:r>
          </a:p>
          <a:p>
            <a:pPr lvl="1" algn="just"/>
            <a:r>
              <a:rPr lang="en-US" sz="2000" b="1" i="1" dirty="0"/>
              <a:t>console.log(color ); // #FF7F00</a:t>
            </a:r>
            <a:endParaRPr lang="ru-RU" sz="2000" b="1" i="1" dirty="0"/>
          </a:p>
          <a:p>
            <a:pPr algn="just">
              <a:buFont typeface="Wingdings" pitchFamily="2" charset="2"/>
              <a:buNone/>
            </a:pPr>
            <a:endParaRPr lang="ru-RU" sz="2000" b="1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E62FD18E-8232-5F47-B64C-06454B4BF381}"/>
              </a:ext>
            </a:extLst>
          </p:cNvPr>
          <p:cNvSpPr/>
          <p:nvPr/>
        </p:nvSpPr>
        <p:spPr>
          <a:xfrm>
            <a:off x="5410200" y="1832521"/>
            <a:ext cx="4544759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/>
              <a:t>const user = {</a:t>
            </a:r>
          </a:p>
          <a:p>
            <a:r>
              <a:rPr lang="ru-RU" sz="2000" b="1" i="1" dirty="0"/>
              <a:t>  name: "Вася"</a:t>
            </a:r>
          </a:p>
          <a:p>
            <a:r>
              <a:rPr lang="ru-RU" sz="2000" b="1" i="1" dirty="0"/>
              <a:t>};</a:t>
            </a:r>
          </a:p>
          <a:p>
            <a:r>
              <a:rPr lang="ru-RU" sz="2000" b="1" i="1" dirty="0"/>
              <a:t>user.name = "Петя"; // допустимо</a:t>
            </a:r>
          </a:p>
          <a:p>
            <a:r>
              <a:rPr lang="ru-RU" sz="2000" b="1" i="1" dirty="0"/>
              <a:t>user = 5; // нельзя, будет ошибка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8E83F32-8A58-C4C1-8D41-DAF6FC2E2CC4}"/>
              </a:ext>
            </a:extLst>
          </p:cNvPr>
          <p:cNvSpPr/>
          <p:nvPr/>
        </p:nvSpPr>
        <p:spPr>
          <a:xfrm>
            <a:off x="219208" y="1375584"/>
            <a:ext cx="42127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ru-RU" sz="2400" b="1" dirty="0">
                <a:solidFill>
                  <a:srgbClr val="C00000"/>
                </a:solidFill>
              </a:rPr>
              <a:t>контроль совпадения имен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04577B2-94D1-3E79-6324-34322ED202F5}"/>
              </a:ext>
            </a:extLst>
          </p:cNvPr>
          <p:cNvSpPr/>
          <p:nvPr/>
        </p:nvSpPr>
        <p:spPr>
          <a:xfrm>
            <a:off x="5158318" y="1375584"/>
            <a:ext cx="438145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ru-RU" sz="2400" b="1" dirty="0">
                <a:solidFill>
                  <a:srgbClr val="C00000"/>
                </a:solidFill>
              </a:rPr>
              <a:t>2. Инициализация обязательна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E7D502-FCF8-3182-6EA6-F20A0C593873}"/>
              </a:ext>
            </a:extLst>
          </p:cNvPr>
          <p:cNvSpPr txBox="1"/>
          <p:nvPr/>
        </p:nvSpPr>
        <p:spPr>
          <a:xfrm>
            <a:off x="154073" y="5425206"/>
            <a:ext cx="5565579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/>
              <a:t>const MY_FIRST_CONSTANT = 10; </a:t>
            </a:r>
            <a:endParaRPr lang="ru-RU" sz="2000" b="1" i="1" dirty="0"/>
          </a:p>
          <a:p>
            <a:r>
              <a:rPr lang="en-US" sz="2000" b="1" i="1" dirty="0"/>
              <a:t>// Can not be re-assigned. </a:t>
            </a:r>
            <a:endParaRPr lang="ru-RU" sz="2000" b="1" i="1" dirty="0"/>
          </a:p>
          <a:p>
            <a:r>
              <a:rPr lang="en-US" sz="2000" b="1" i="1" dirty="0"/>
              <a:t>MY_FIRST_CONSTANT = 20; </a:t>
            </a:r>
            <a:endParaRPr lang="ru-RU" sz="2000" b="1" i="1" dirty="0"/>
          </a:p>
          <a:p>
            <a:r>
              <a:rPr lang="en-US" sz="2000" b="1" i="1" dirty="0"/>
              <a:t>// =&gt; TypeError: Assignment to constant variable.</a:t>
            </a:r>
            <a:endParaRPr lang="ru-RU" sz="2000" b="1" i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06201FC-1D1F-E1FD-F454-B0CE56E72D1F}"/>
              </a:ext>
            </a:extLst>
          </p:cNvPr>
          <p:cNvSpPr txBox="1"/>
          <p:nvPr/>
        </p:nvSpPr>
        <p:spPr>
          <a:xfrm>
            <a:off x="5719652" y="5447721"/>
            <a:ext cx="64723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/>
              <a:t>const MY_MUTABLE_VALUE_CONSTANT = { food: 'apple' }; </a:t>
            </a:r>
            <a:endParaRPr lang="ru-RU" sz="2000" b="1" i="1" dirty="0"/>
          </a:p>
          <a:p>
            <a:r>
              <a:rPr lang="en-US" sz="2000" b="1" i="1" dirty="0"/>
              <a:t>// This is possible </a:t>
            </a:r>
            <a:endParaRPr lang="ru-RU" sz="2000" b="1" i="1" dirty="0"/>
          </a:p>
          <a:p>
            <a:r>
              <a:rPr lang="en-US" sz="2000" b="1" i="1" dirty="0" err="1"/>
              <a:t>MY_MUTABLE_VALUE_CONSTANT.food</a:t>
            </a:r>
            <a:r>
              <a:rPr lang="en-US" sz="2000" b="1" i="1" dirty="0"/>
              <a:t> = 'pear’; </a:t>
            </a:r>
            <a:endParaRPr lang="ru-RU" sz="2000" b="1" i="1" dirty="0"/>
          </a:p>
          <a:p>
            <a:r>
              <a:rPr lang="en-US" sz="2000" b="1" i="1" dirty="0"/>
              <a:t>MY_MUTABLE_VALUE_CONSTANT; // =&gt; { food: "pear" }</a:t>
            </a:r>
            <a:endParaRPr lang="ru-RU" sz="2000" b="1" i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A3E9CE-126B-32F1-5107-8748B349295A}"/>
              </a:ext>
            </a:extLst>
          </p:cNvPr>
          <p:cNvSpPr txBox="1"/>
          <p:nvPr/>
        </p:nvSpPr>
        <p:spPr>
          <a:xfrm>
            <a:off x="4713991" y="3767057"/>
            <a:ext cx="6716665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/>
              <a:t>const MY_VALUE_CONSTANT = </a:t>
            </a:r>
            <a:r>
              <a:rPr lang="en-US" sz="2000" b="1" i="1" dirty="0" err="1"/>
              <a:t>Object.freeze</a:t>
            </a:r>
            <a:r>
              <a:rPr lang="en-US" sz="2000" b="1" i="1" dirty="0"/>
              <a:t>({ food: 'apple' });</a:t>
            </a:r>
          </a:p>
          <a:p>
            <a:r>
              <a:rPr lang="en-US" sz="2000" b="1" i="1" dirty="0"/>
              <a:t>// This silently fails</a:t>
            </a:r>
          </a:p>
          <a:p>
            <a:r>
              <a:rPr lang="en-US" sz="2000" b="1" i="1" dirty="0" err="1"/>
              <a:t>MY_VALUE_CONSTANT.food</a:t>
            </a:r>
            <a:r>
              <a:rPr lang="en-US" sz="2000" b="1" i="1" dirty="0"/>
              <a:t> = 'pear';</a:t>
            </a:r>
          </a:p>
          <a:p>
            <a:r>
              <a:rPr lang="en-US" sz="2000" b="1" i="1" dirty="0"/>
              <a:t>MY_VALUE_CONSTANT;</a:t>
            </a:r>
          </a:p>
          <a:p>
            <a:r>
              <a:rPr lang="en-US" sz="2000" b="1" i="1" dirty="0"/>
              <a:t>// =&gt; { food: "apple" }</a:t>
            </a:r>
            <a:endParaRPr lang="ru-RU" sz="2000" b="1" i="1" dirty="0"/>
          </a:p>
        </p:txBody>
      </p:sp>
    </p:spTree>
    <p:extLst>
      <p:ext uri="{BB962C8B-B14F-4D97-AF65-F5344CB8AC3E}">
        <p14:creationId xmlns:p14="http://schemas.microsoft.com/office/powerpoint/2010/main" val="2986371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Типы данных языка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20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18B9298-9AB5-1006-372B-7DC4402E1C3D}"/>
              </a:ext>
            </a:extLst>
          </p:cNvPr>
          <p:cNvSpPr/>
          <p:nvPr/>
        </p:nvSpPr>
        <p:spPr>
          <a:xfrm>
            <a:off x="372345" y="773966"/>
            <a:ext cx="42594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простые (примитивные) типы </a:t>
            </a:r>
            <a:endParaRPr lang="ru-RU" sz="24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206931D-9BB8-60D8-B17E-D5CCCF01D162}"/>
              </a:ext>
            </a:extLst>
          </p:cNvPr>
          <p:cNvSpPr/>
          <p:nvPr/>
        </p:nvSpPr>
        <p:spPr>
          <a:xfrm>
            <a:off x="372345" y="5010432"/>
            <a:ext cx="454784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составные (ссылочные объекты)</a:t>
            </a:r>
            <a:endParaRPr lang="ru-RU" sz="24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1A356C1D-8A65-B8DA-CD00-B83D76DC73BE}"/>
              </a:ext>
            </a:extLst>
          </p:cNvPr>
          <p:cNvSpPr/>
          <p:nvPr/>
        </p:nvSpPr>
        <p:spPr>
          <a:xfrm>
            <a:off x="7637987" y="5069513"/>
            <a:ext cx="364324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Динамическая типизация</a:t>
            </a:r>
            <a:endParaRPr lang="ru-RU" sz="24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E376BDC-B0DC-3A28-68AA-A2881A947697}"/>
              </a:ext>
            </a:extLst>
          </p:cNvPr>
          <p:cNvSpPr/>
          <p:nvPr/>
        </p:nvSpPr>
        <p:spPr>
          <a:xfrm>
            <a:off x="8660307" y="5622369"/>
            <a:ext cx="2411173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/>
              <a:t>var answer = 42;</a:t>
            </a:r>
          </a:p>
          <a:p>
            <a:endParaRPr lang="ru-RU" b="1" i="1" dirty="0"/>
          </a:p>
          <a:p>
            <a:r>
              <a:rPr lang="en-US" b="1" i="1" dirty="0"/>
              <a:t>answer = ‘Hello World!’</a:t>
            </a:r>
            <a:endParaRPr lang="ru-RU" b="1" i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079000-679F-9D7F-8532-C200EC6BD2DA}"/>
              </a:ext>
            </a:extLst>
          </p:cNvPr>
          <p:cNvSpPr txBox="1"/>
          <p:nvPr/>
        </p:nvSpPr>
        <p:spPr>
          <a:xfrm>
            <a:off x="100379" y="1095990"/>
            <a:ext cx="10350134" cy="42043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number: Целые числа и числа с плавающей точкой (например, 10, 3.14).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 err="1"/>
              <a:t>bigint</a:t>
            </a:r>
            <a:r>
              <a:rPr lang="ru-RU" b="1" dirty="0"/>
              <a:t>: Целые числа произвольной длины, используемые для очень больших значений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string: Последовательность символов, заключающихся в кавычки (например, "привет", 'мир’).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 err="1"/>
              <a:t>boolean</a:t>
            </a:r>
            <a:r>
              <a:rPr lang="ru-RU" b="1" dirty="0"/>
              <a:t>: Логическое значение true (истина) или false (ложь). </a:t>
            </a:r>
            <a:br>
              <a:rPr lang="ru-RU" b="1" dirty="0"/>
            </a:br>
            <a:r>
              <a:rPr lang="ru-RU" b="1" dirty="0"/>
              <a:t>undefined: Значение, которое присваивается переменной, которой еще не было присвоено никакого значения (например, </a:t>
            </a:r>
            <a:r>
              <a:rPr lang="ru-RU" b="1" dirty="0" err="1"/>
              <a:t>let</a:t>
            </a:r>
            <a:r>
              <a:rPr lang="ru-RU" b="1" dirty="0"/>
              <a:t> x;). </a:t>
            </a:r>
            <a:br>
              <a:rPr lang="ru-RU" b="1" dirty="0"/>
            </a:br>
            <a:r>
              <a:rPr lang="ru-RU" b="1" dirty="0" err="1"/>
              <a:t>symbol</a:t>
            </a:r>
            <a:r>
              <a:rPr lang="ru-RU" b="1" dirty="0"/>
              <a:t>: Уникальное и неизменяемое значение, которое часто используется как идентификатор свойства объекта.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b="1" dirty="0"/>
              <a:t> null: Специальное значение, представляющее собой "пустое" или "отсутствующее" значение. </a:t>
            </a:r>
          </a:p>
          <a:p>
            <a:pPr>
              <a:lnSpc>
                <a:spcPct val="150000"/>
              </a:lnSpc>
            </a:pPr>
            <a:r>
              <a:rPr lang="ru-RU" b="1" dirty="0"/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F9B77DE-9520-6CAB-0082-2627A57F24F5}"/>
              </a:ext>
            </a:extLst>
          </p:cNvPr>
          <p:cNvSpPr txBox="1"/>
          <p:nvPr/>
        </p:nvSpPr>
        <p:spPr>
          <a:xfrm>
            <a:off x="372345" y="5418359"/>
            <a:ext cx="6788851" cy="8803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/>
              <a:t>object: Представляет собой более сложные структуры данных, которые могут содержать коллекции пар "ключ-значение".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937D0C3-7973-AD88-9A0D-25ADD8D29D57}"/>
              </a:ext>
            </a:extLst>
          </p:cNvPr>
          <p:cNvSpPr/>
          <p:nvPr/>
        </p:nvSpPr>
        <p:spPr>
          <a:xfrm>
            <a:off x="849875" y="6361033"/>
            <a:ext cx="470725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Object, Array, Function, Date, </a:t>
            </a:r>
            <a:r>
              <a:rPr lang="en-US" b="1" dirty="0" err="1">
                <a:solidFill>
                  <a:srgbClr val="C00000"/>
                </a:solidFill>
              </a:rPr>
              <a:t>RegExp</a:t>
            </a:r>
            <a:r>
              <a:rPr lang="en-US" b="1" dirty="0">
                <a:solidFill>
                  <a:srgbClr val="C00000"/>
                </a:solidFill>
              </a:rPr>
              <a:t>, Map, Set</a:t>
            </a: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932EF61-83FD-F8C3-EC08-AE713D8D73EE}"/>
              </a:ext>
            </a:extLst>
          </p:cNvPr>
          <p:cNvSpPr txBox="1"/>
          <p:nvPr/>
        </p:nvSpPr>
        <p:spPr>
          <a:xfrm>
            <a:off x="4766598" y="4899415"/>
            <a:ext cx="2505211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>
                <a:solidFill>
                  <a:srgbClr val="0A0A0A"/>
                </a:solidFill>
                <a:effectLst/>
                <a:latin typeface="Google Sans"/>
              </a:rPr>
              <a:t>хранятся по ссылке</a:t>
            </a:r>
            <a:endParaRPr lang="ru-RU" sz="2000" b="1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C04A491-2DF7-9F6C-6102-13F379B17A53}"/>
              </a:ext>
            </a:extLst>
          </p:cNvPr>
          <p:cNvSpPr txBox="1"/>
          <p:nvPr/>
        </p:nvSpPr>
        <p:spPr>
          <a:xfrm>
            <a:off x="4464303" y="756134"/>
            <a:ext cx="309585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dirty="0">
                <a:solidFill>
                  <a:srgbClr val="0A0A0A"/>
                </a:solidFill>
                <a:effectLst/>
                <a:latin typeface="Google Sans"/>
              </a:rPr>
              <a:t>хранятся по значению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19996903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Типы данных языка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21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9703B49-7E44-D1E9-A29C-658432F7B068}"/>
              </a:ext>
            </a:extLst>
          </p:cNvPr>
          <p:cNvSpPr/>
          <p:nvPr/>
        </p:nvSpPr>
        <p:spPr>
          <a:xfrm>
            <a:off x="3940340" y="990600"/>
            <a:ext cx="481317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Тип данных число (</a:t>
            </a:r>
            <a:r>
              <a:rPr lang="en-US" sz="2800" b="1" dirty="0">
                <a:solidFill>
                  <a:srgbClr val="C00000"/>
                </a:solidFill>
              </a:rPr>
              <a:t>“number”</a:t>
            </a:r>
            <a:r>
              <a:rPr lang="ru-RU" sz="2800" b="1" dirty="0">
                <a:solidFill>
                  <a:srgbClr val="C00000"/>
                </a:solidFill>
              </a:rPr>
              <a:t>)</a:t>
            </a:r>
            <a:endParaRPr lang="ru-RU" sz="28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D94A5FA-5E51-E87E-89F5-B0B7EDF8056A}"/>
              </a:ext>
            </a:extLst>
          </p:cNvPr>
          <p:cNvSpPr/>
          <p:nvPr/>
        </p:nvSpPr>
        <p:spPr>
          <a:xfrm>
            <a:off x="217250" y="1498836"/>
            <a:ext cx="11611548" cy="71096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Единый тип </a:t>
            </a:r>
            <a:r>
              <a:rPr lang="ru-RU" sz="2000" b="1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число</a:t>
            </a:r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используется как для целых, так и для дробных чисел. Существуют специальные числовые значения </a:t>
            </a:r>
            <a:r>
              <a:rPr lang="ru-RU" sz="2000" b="1" i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Infinity (бесконечность)</a:t>
            </a:r>
            <a:r>
              <a:rPr lang="ru-RU" sz="2000" b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 </a:t>
            </a:r>
            <a:r>
              <a:rPr lang="ru-RU" sz="2000" b="1" i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NaN (ошибка вычислений)</a:t>
            </a:r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ru-RU" sz="20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1D46690-9284-533F-651E-EC6639543EBE}"/>
              </a:ext>
            </a:extLst>
          </p:cNvPr>
          <p:cNvSpPr/>
          <p:nvPr/>
        </p:nvSpPr>
        <p:spPr>
          <a:xfrm>
            <a:off x="1997913" y="2209800"/>
            <a:ext cx="1942427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var n = 123;</a:t>
            </a:r>
          </a:p>
          <a:p>
            <a:r>
              <a:rPr lang="ru-RU" sz="2000" b="1" dirty="0"/>
              <a:t>n = 12.345;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B4D0EB1-74E8-536B-5F2D-8F68140BE3A8}"/>
              </a:ext>
            </a:extLst>
          </p:cNvPr>
          <p:cNvSpPr/>
          <p:nvPr/>
        </p:nvSpPr>
        <p:spPr>
          <a:xfrm>
            <a:off x="5897093" y="2250369"/>
            <a:ext cx="4979505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/>
              <a:t>console.log(1 / 0); // Infinity</a:t>
            </a:r>
            <a:endParaRPr lang="en-US" sz="2000" b="1" dirty="0"/>
          </a:p>
          <a:p>
            <a:r>
              <a:rPr lang="ru-RU" sz="2000" b="1" dirty="0"/>
              <a:t>console.log("не число" * 2); // NaN, ошибка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A735E4D-EB6B-17D1-4887-CBB8AB839116}"/>
              </a:ext>
            </a:extLst>
          </p:cNvPr>
          <p:cNvSpPr/>
          <p:nvPr/>
        </p:nvSpPr>
        <p:spPr>
          <a:xfrm>
            <a:off x="4042344" y="3352800"/>
            <a:ext cx="45883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Тип данных строка (</a:t>
            </a:r>
            <a:r>
              <a:rPr lang="en-US" sz="2800" b="1" dirty="0">
                <a:solidFill>
                  <a:srgbClr val="C00000"/>
                </a:solidFill>
              </a:rPr>
              <a:t>“string”</a:t>
            </a:r>
            <a:r>
              <a:rPr lang="ru-RU" sz="2800" b="1" dirty="0">
                <a:solidFill>
                  <a:srgbClr val="C00000"/>
                </a:solidFill>
              </a:rPr>
              <a:t>)</a:t>
            </a:r>
            <a:endParaRPr lang="ru-RU" sz="28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D0AD0D62-A80B-97DA-6FCD-09BE5E086125}"/>
              </a:ext>
            </a:extLst>
          </p:cNvPr>
          <p:cNvSpPr/>
          <p:nvPr/>
        </p:nvSpPr>
        <p:spPr>
          <a:xfrm>
            <a:off x="291758" y="3928205"/>
            <a:ext cx="1167164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JavaScript </a:t>
            </a:r>
            <a:r>
              <a:rPr lang="ru-RU" sz="2000" b="1" i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одинарные и двойные кавычки равноправны</a:t>
            </a:r>
            <a:r>
              <a:rPr lang="ru-RU" sz="2000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Можно использовать или те или другие.</a:t>
            </a:r>
            <a:endParaRPr lang="ru-RU" sz="2000" b="1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6661E42-EA35-CC6F-4428-F62A9C3A4EAF}"/>
              </a:ext>
            </a:extLst>
          </p:cNvPr>
          <p:cNvSpPr/>
          <p:nvPr/>
        </p:nvSpPr>
        <p:spPr>
          <a:xfrm>
            <a:off x="1071948" y="4449937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dirty="0"/>
              <a:t>var str = "Текст в двойных кавычках";</a:t>
            </a:r>
          </a:p>
          <a:p>
            <a:r>
              <a:rPr lang="ru-RU" sz="2000" b="1" dirty="0"/>
              <a:t>str = 'Одинарные кавычки тоже подойдут';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23D242C-45B9-EFA2-900C-84A8B4968EE6}"/>
              </a:ext>
            </a:extLst>
          </p:cNvPr>
          <p:cNvSpPr txBox="1"/>
          <p:nvPr/>
        </p:nvSpPr>
        <p:spPr>
          <a:xfrm>
            <a:off x="5059300" y="5538888"/>
            <a:ext cx="765723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const </a:t>
            </a:r>
            <a:r>
              <a:rPr lang="ru-RU" sz="2000" b="1" dirty="0" err="1"/>
              <a:t>num</a:t>
            </a:r>
            <a:r>
              <a:rPr lang="ru-RU" sz="2000" b="1" dirty="0"/>
              <a:t> = 1_000_000; // You </a:t>
            </a:r>
            <a:r>
              <a:rPr lang="ru-RU" sz="2000" b="1" dirty="0" err="1"/>
              <a:t>can</a:t>
            </a:r>
            <a:r>
              <a:rPr lang="ru-RU" sz="2000" b="1" dirty="0"/>
              <a:t> </a:t>
            </a:r>
            <a:r>
              <a:rPr lang="ru-RU" sz="2000" b="1" dirty="0" err="1"/>
              <a:t>read</a:t>
            </a:r>
            <a:r>
              <a:rPr lang="ru-RU" sz="2000" b="1" dirty="0"/>
              <a:t> </a:t>
            </a:r>
            <a:r>
              <a:rPr lang="ru-RU" sz="2000" b="1" dirty="0" err="1"/>
              <a:t>this</a:t>
            </a:r>
            <a:r>
              <a:rPr lang="ru-RU" sz="2000" b="1" dirty="0"/>
              <a:t> </a:t>
            </a:r>
            <a:r>
              <a:rPr lang="ru-RU" sz="2000" b="1" dirty="0" err="1"/>
              <a:t>as</a:t>
            </a:r>
            <a:r>
              <a:rPr lang="ru-RU" sz="2000" b="1" dirty="0"/>
              <a:t> 1,000,000</a:t>
            </a:r>
          </a:p>
          <a:p>
            <a:r>
              <a:rPr lang="ru-RU" sz="2000" b="1" dirty="0"/>
              <a:t>console.log(</a:t>
            </a:r>
            <a:r>
              <a:rPr lang="ru-RU" sz="2000" b="1" dirty="0" err="1"/>
              <a:t>num</a:t>
            </a:r>
            <a:r>
              <a:rPr lang="ru-RU" sz="2000" b="1" dirty="0"/>
              <a:t>);</a:t>
            </a:r>
          </a:p>
          <a:p>
            <a:r>
              <a:rPr lang="ru-RU" sz="2000" b="1" dirty="0"/>
              <a:t>// =&gt; 1000000</a:t>
            </a:r>
          </a:p>
        </p:txBody>
      </p:sp>
    </p:spTree>
    <p:extLst>
      <p:ext uri="{BB962C8B-B14F-4D97-AF65-F5344CB8AC3E}">
        <p14:creationId xmlns:p14="http://schemas.microsoft.com/office/powerpoint/2010/main" val="422705932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Встроенный объект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Number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22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61E87BB-0589-A612-6431-2173F8C9BADF}"/>
              </a:ext>
            </a:extLst>
          </p:cNvPr>
          <p:cNvSpPr/>
          <p:nvPr/>
        </p:nvSpPr>
        <p:spPr>
          <a:xfrm>
            <a:off x="424124" y="927578"/>
            <a:ext cx="11277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Объект </a:t>
            </a:r>
            <a:r>
              <a:rPr lang="en-US" sz="2000" b="1" dirty="0">
                <a:solidFill>
                  <a:srgbClr val="C00000"/>
                </a:solidFill>
              </a:rPr>
              <a:t>Number </a:t>
            </a:r>
            <a:r>
              <a:rPr lang="ru-RU" sz="2000" b="1" dirty="0"/>
              <a:t>является оболочкой для числовых значений. </a:t>
            </a:r>
            <a:endParaRPr lang="pt-BR" sz="2000" b="1" dirty="0"/>
          </a:p>
          <a:p>
            <a:pPr algn="just"/>
            <a:endParaRPr lang="pt-BR" sz="2000" b="1" dirty="0"/>
          </a:p>
          <a:p>
            <a:pPr algn="just"/>
            <a:endParaRPr lang="ru-RU" sz="2000" b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9794199-F079-6F53-DD2F-18A764517005}"/>
              </a:ext>
            </a:extLst>
          </p:cNvPr>
          <p:cNvSpPr/>
          <p:nvPr/>
        </p:nvSpPr>
        <p:spPr>
          <a:xfrm>
            <a:off x="1154340" y="1362521"/>
            <a:ext cx="57893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/>
              <a:t>var myNumber = new Number(</a:t>
            </a:r>
            <a:r>
              <a:rPr lang="en-US" sz="2000" b="1" i="1" dirty="0" err="1"/>
              <a:t>numericValue</a:t>
            </a:r>
            <a:r>
              <a:rPr lang="en-US" sz="2000" b="1" i="1" dirty="0"/>
              <a:t>);</a:t>
            </a:r>
            <a:endParaRPr lang="ru-RU" sz="2000" b="1" i="1" dirty="0"/>
          </a:p>
          <a:p>
            <a:r>
              <a:rPr lang="en-US" sz="2000" b="1" i="1" dirty="0"/>
              <a:t>console.log(</a:t>
            </a:r>
            <a:r>
              <a:rPr lang="ru-RU" sz="2000" b="1" i="1" dirty="0"/>
              <a:t>typeof </a:t>
            </a:r>
            <a:r>
              <a:rPr lang="en-US" sz="2000" b="1" i="1" dirty="0"/>
              <a:t>myNumber</a:t>
            </a:r>
            <a:r>
              <a:rPr lang="ru-RU" sz="2000" b="1" i="1" dirty="0"/>
              <a:t>);</a:t>
            </a:r>
            <a:endParaRPr lang="en-US" sz="2000" b="1" i="1" dirty="0"/>
          </a:p>
          <a:p>
            <a:endParaRPr lang="en-US" sz="2000" b="1" i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F8A4AFC-CA06-6BE5-4139-37B5AEF96DB5}"/>
              </a:ext>
            </a:extLst>
          </p:cNvPr>
          <p:cNvSpPr/>
          <p:nvPr/>
        </p:nvSpPr>
        <p:spPr>
          <a:xfrm>
            <a:off x="7673940" y="923345"/>
            <a:ext cx="45395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Number </a:t>
            </a:r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имеет четыре свойства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ru-RU" sz="20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6FB2FAD-95F1-F066-C1F5-EF391FB42704}"/>
              </a:ext>
            </a:extLst>
          </p:cNvPr>
          <p:cNvSpPr/>
          <p:nvPr/>
        </p:nvSpPr>
        <p:spPr>
          <a:xfrm>
            <a:off x="7522451" y="1253545"/>
            <a:ext cx="4060859" cy="22837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MAX_VALUE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MIN_VALUE</a:t>
            </a:r>
          </a:p>
          <a:p>
            <a:pPr indent="215900" algn="just">
              <a:lnSpc>
                <a:spcPct val="120000"/>
              </a:lnSpc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MAX_SAFE_INTEGER</a:t>
            </a: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MIN_SAFE_INTEGER</a:t>
            </a: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NEGATIVE_INFINITY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POSITIVE</a:t>
            </a:r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INFINITY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5F394E80-1B70-0EA9-8520-C054449E5799}"/>
              </a:ext>
            </a:extLst>
          </p:cNvPr>
          <p:cNvSpPr/>
          <p:nvPr/>
        </p:nvSpPr>
        <p:spPr>
          <a:xfrm>
            <a:off x="2673992" y="3119848"/>
            <a:ext cx="5145840" cy="38472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/>
              <a:t>console.log(</a:t>
            </a:r>
            <a:r>
              <a:rPr lang="ru-RU" sz="2000" b="1" i="1" dirty="0" err="1"/>
              <a:t>Number.MAX_VALUE</a:t>
            </a:r>
            <a:r>
              <a:rPr lang="ru-RU" sz="2000" b="1" i="1" dirty="0"/>
              <a:t>);</a:t>
            </a:r>
          </a:p>
          <a:p>
            <a:r>
              <a:rPr lang="ru-RU" sz="2000" b="1" i="1" dirty="0"/>
              <a:t>// Результат: 1.7976931348623157e+308</a:t>
            </a:r>
            <a:endParaRPr lang="en-US" sz="2000" b="1" i="1" dirty="0"/>
          </a:p>
          <a:p>
            <a:endParaRPr lang="en-US" sz="2000" b="1" i="1" dirty="0"/>
          </a:p>
          <a:p>
            <a:r>
              <a:rPr lang="en-US" sz="2000" b="1" i="1" dirty="0"/>
              <a:t>console.log(</a:t>
            </a:r>
            <a:r>
              <a:rPr lang="en-US" sz="2000" b="1" i="1" dirty="0" err="1"/>
              <a:t>Number.MIN_VALUE</a:t>
            </a:r>
            <a:r>
              <a:rPr lang="en-US" sz="2000" b="1" i="1" dirty="0"/>
              <a:t>);</a:t>
            </a:r>
          </a:p>
          <a:p>
            <a:r>
              <a:rPr lang="en-US" sz="2000" b="1" i="1" dirty="0"/>
              <a:t>// </a:t>
            </a:r>
            <a:r>
              <a:rPr lang="ru-RU" sz="2000" b="1" i="1" dirty="0"/>
              <a:t>Результат: 5</a:t>
            </a:r>
            <a:r>
              <a:rPr lang="en-US" sz="2000" b="1" i="1" dirty="0"/>
              <a:t>e-324</a:t>
            </a:r>
          </a:p>
          <a:p>
            <a:endParaRPr lang="en-US" sz="2000" b="1" i="1" dirty="0"/>
          </a:p>
          <a:p>
            <a:r>
              <a:rPr lang="en-US" sz="2000" b="1" i="1" dirty="0"/>
              <a:t>console.log(</a:t>
            </a:r>
            <a:r>
              <a:rPr lang="en-US" sz="2000" b="1" i="1" dirty="0" err="1"/>
              <a:t>Number.NEGATIVE_INFINITY</a:t>
            </a:r>
            <a:r>
              <a:rPr lang="en-US" sz="2000" b="1" i="1" dirty="0"/>
              <a:t>);</a:t>
            </a:r>
          </a:p>
          <a:p>
            <a:r>
              <a:rPr lang="en-US" sz="2000" b="1" i="1" dirty="0"/>
              <a:t>// </a:t>
            </a:r>
            <a:r>
              <a:rPr lang="ru-RU" sz="2000" b="1" i="1" dirty="0"/>
              <a:t>Результат: -</a:t>
            </a:r>
            <a:r>
              <a:rPr lang="en-US" sz="2000" b="1" i="1" dirty="0"/>
              <a:t>Infinity</a:t>
            </a:r>
          </a:p>
          <a:p>
            <a:endParaRPr lang="en-US" sz="2000" b="1" i="1" dirty="0"/>
          </a:p>
          <a:p>
            <a:r>
              <a:rPr lang="en-US" sz="2000" b="1" i="1" dirty="0"/>
              <a:t>console.log(</a:t>
            </a:r>
            <a:r>
              <a:rPr lang="en-US" sz="2000" b="1" i="1" dirty="0" err="1"/>
              <a:t>Number.POSITIVE_INFINITY</a:t>
            </a:r>
            <a:r>
              <a:rPr lang="en-US" sz="2000" b="1" i="1" dirty="0"/>
              <a:t>);</a:t>
            </a:r>
          </a:p>
          <a:p>
            <a:r>
              <a:rPr lang="en-US" sz="2000" b="1" i="1" dirty="0"/>
              <a:t>// </a:t>
            </a:r>
            <a:r>
              <a:rPr lang="ru-RU" sz="2000" b="1" i="1" dirty="0"/>
              <a:t>Результат: </a:t>
            </a:r>
            <a:r>
              <a:rPr lang="en-US" sz="2000" b="1" i="1" dirty="0"/>
              <a:t>Infinity</a:t>
            </a:r>
          </a:p>
          <a:p>
            <a:endParaRPr lang="ru-RU" sz="24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0046D83C-2973-8FBD-194B-5F6200E8D79A}"/>
              </a:ext>
            </a:extLst>
          </p:cNvPr>
          <p:cNvSpPr/>
          <p:nvPr/>
        </p:nvSpPr>
        <p:spPr>
          <a:xfrm>
            <a:off x="228600" y="3059668"/>
            <a:ext cx="2074465" cy="1914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15900">
              <a:lnSpc>
                <a:spcPct val="120000"/>
              </a:lnSpc>
              <a:spcAft>
                <a:spcPts val="0"/>
              </a:spcAft>
            </a:pPr>
            <a:r>
              <a:rPr lang="ru-RU" sz="2000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toExponential</a:t>
            </a:r>
            <a:r>
              <a:rPr lang="ru-RU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>
              <a:lnSpc>
                <a:spcPct val="120000"/>
              </a:lnSpc>
              <a:spcAft>
                <a:spcPts val="0"/>
              </a:spcAft>
            </a:pPr>
            <a:r>
              <a:rPr lang="ru-RU" sz="2000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toFixed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>
              <a:lnSpc>
                <a:spcPct val="120000"/>
              </a:lnSpc>
              <a:spcAft>
                <a:spcPts val="0"/>
              </a:spcAft>
            </a:pPr>
            <a:r>
              <a:rPr lang="ru-RU" sz="2000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toPrecision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>
              <a:lnSpc>
                <a:spcPct val="120000"/>
              </a:lnSpc>
              <a:spcAft>
                <a:spcPts val="0"/>
              </a:spcAft>
            </a:pPr>
            <a:r>
              <a:rPr lang="ru-RU" sz="2000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  <a:endParaRPr lang="ru-RU" sz="2000" i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>
              <a:lnSpc>
                <a:spcPct val="120000"/>
              </a:lnSpc>
              <a:spcAft>
                <a:spcPts val="0"/>
              </a:spcAft>
            </a:pPr>
            <a:r>
              <a:rPr lang="ru-RU" sz="2000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valueOf</a:t>
            </a:r>
            <a:endParaRPr lang="ru-RU" sz="2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A61B1A4-FDDE-6BB6-8249-CEF4163A371A}"/>
              </a:ext>
            </a:extLst>
          </p:cNvPr>
          <p:cNvSpPr/>
          <p:nvPr/>
        </p:nvSpPr>
        <p:spPr>
          <a:xfrm>
            <a:off x="457200" y="2719738"/>
            <a:ext cx="20539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Методы Number:</a:t>
            </a:r>
          </a:p>
        </p:txBody>
      </p:sp>
    </p:spTree>
    <p:extLst>
      <p:ext uri="{BB962C8B-B14F-4D97-AF65-F5344CB8AC3E}">
        <p14:creationId xmlns:p14="http://schemas.microsoft.com/office/powerpoint/2010/main" val="281367943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Встроенный объект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String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23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1934B55-F29D-F26B-9471-4BB0A8CC3CD2}"/>
              </a:ext>
            </a:extLst>
          </p:cNvPr>
          <p:cNvSpPr/>
          <p:nvPr/>
        </p:nvSpPr>
        <p:spPr>
          <a:xfrm>
            <a:off x="230347" y="719305"/>
            <a:ext cx="112776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b="1" dirty="0">
                <a:solidFill>
                  <a:srgbClr val="C00000"/>
                </a:solidFill>
              </a:rPr>
              <a:t>String - </a:t>
            </a:r>
            <a:r>
              <a:rPr lang="ru-RU" sz="2400" b="1" dirty="0"/>
              <a:t>это оболочка для текстовых значений.</a:t>
            </a:r>
            <a:endParaRPr lang="pt-BR" sz="2400" b="1" dirty="0"/>
          </a:p>
          <a:p>
            <a:pPr algn="just"/>
            <a:endParaRPr lang="ru-RU" sz="2400" b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31D638B-3FBA-2123-7DEC-3499AB541BBF}"/>
              </a:ext>
            </a:extLst>
          </p:cNvPr>
          <p:cNvSpPr/>
          <p:nvPr/>
        </p:nvSpPr>
        <p:spPr>
          <a:xfrm>
            <a:off x="1126463" y="1227896"/>
            <a:ext cx="57893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/>
              <a:t>var myString = new String("My string");</a:t>
            </a:r>
            <a:endParaRPr lang="ru-RU" sz="2000" b="1" i="1" dirty="0"/>
          </a:p>
          <a:p>
            <a:r>
              <a:rPr lang="ru-RU" sz="2000" b="1" i="1" dirty="0"/>
              <a:t>console.log(myString.length);</a:t>
            </a:r>
          </a:p>
          <a:p>
            <a:r>
              <a:rPr lang="ru-RU" sz="2000" b="1" i="1" dirty="0"/>
              <a:t>// Результатом является числовое значение 9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BF71AC5-5014-1EF5-BC26-44731BDD842F}"/>
              </a:ext>
            </a:extLst>
          </p:cNvPr>
          <p:cNvSpPr/>
          <p:nvPr/>
        </p:nvSpPr>
        <p:spPr>
          <a:xfrm>
            <a:off x="8991072" y="1225689"/>
            <a:ext cx="2878827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i="1" dirty="0" err="1"/>
              <a:t>charAt</a:t>
            </a:r>
            <a:endParaRPr lang="ru-RU" sz="2400" dirty="0"/>
          </a:p>
          <a:p>
            <a:r>
              <a:rPr lang="en-US" sz="2400" i="1" dirty="0" err="1"/>
              <a:t>charCodeAt</a:t>
            </a:r>
            <a:endParaRPr lang="ru-RU" sz="2400" dirty="0"/>
          </a:p>
          <a:p>
            <a:r>
              <a:rPr lang="en-US" sz="2400" i="1" dirty="0" err="1"/>
              <a:t>concat</a:t>
            </a:r>
            <a:endParaRPr lang="ru-RU" sz="2400" dirty="0"/>
          </a:p>
          <a:p>
            <a:r>
              <a:rPr lang="en-US" sz="2400" i="1" dirty="0" err="1"/>
              <a:t>fromCharCode</a:t>
            </a:r>
            <a:endParaRPr lang="ru-RU" sz="2400" dirty="0"/>
          </a:p>
          <a:p>
            <a:r>
              <a:rPr lang="en-US" sz="2400" i="1" dirty="0" err="1"/>
              <a:t>indexOf</a:t>
            </a:r>
            <a:endParaRPr lang="ru-RU" sz="2400" dirty="0"/>
          </a:p>
          <a:p>
            <a:r>
              <a:rPr lang="en-US" sz="2400" i="1" dirty="0"/>
              <a:t>lastIndexOf</a:t>
            </a:r>
            <a:endParaRPr lang="ru-RU" sz="2400" dirty="0"/>
          </a:p>
          <a:p>
            <a:r>
              <a:rPr lang="en-US" sz="2400" i="1" dirty="0"/>
              <a:t>match</a:t>
            </a:r>
            <a:endParaRPr lang="ru-RU" sz="2400" dirty="0"/>
          </a:p>
          <a:p>
            <a:r>
              <a:rPr lang="en-US" sz="2400" i="1" dirty="0"/>
              <a:t>replace</a:t>
            </a:r>
            <a:endParaRPr lang="ru-RU" sz="2400" dirty="0"/>
          </a:p>
          <a:p>
            <a:r>
              <a:rPr lang="en-US" sz="2400" i="1" dirty="0"/>
              <a:t>search</a:t>
            </a:r>
            <a:endParaRPr lang="ru-RU" sz="2400" dirty="0"/>
          </a:p>
          <a:p>
            <a:r>
              <a:rPr lang="en-US" sz="2400" i="1" dirty="0"/>
              <a:t>slice</a:t>
            </a:r>
            <a:endParaRPr lang="ru-RU" sz="2400" dirty="0"/>
          </a:p>
          <a:p>
            <a:r>
              <a:rPr lang="en-US" sz="2400" i="1" dirty="0"/>
              <a:t>split</a:t>
            </a:r>
            <a:endParaRPr lang="ru-RU" sz="2400" dirty="0"/>
          </a:p>
          <a:p>
            <a:r>
              <a:rPr lang="en-US" sz="2400" i="1" dirty="0"/>
              <a:t>substr</a:t>
            </a:r>
            <a:endParaRPr lang="ru-RU" sz="2400" dirty="0"/>
          </a:p>
          <a:p>
            <a:r>
              <a:rPr lang="ru-RU" sz="2400" i="1" dirty="0"/>
              <a:t>substring</a:t>
            </a:r>
            <a:endParaRPr lang="ru-RU" sz="2400" dirty="0"/>
          </a:p>
          <a:p>
            <a:r>
              <a:rPr lang="ru-RU" sz="2400" i="1" dirty="0"/>
              <a:t>toLowerCase</a:t>
            </a:r>
            <a:endParaRPr lang="ru-RU" sz="2400" dirty="0"/>
          </a:p>
          <a:p>
            <a:r>
              <a:rPr lang="ru-RU" sz="2400" i="1" dirty="0"/>
              <a:t>toUpperCase</a:t>
            </a:r>
            <a:endParaRPr lang="ru-RU" sz="2400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3A9C950-3855-E630-6AB7-4A00D15AE03F}"/>
              </a:ext>
            </a:extLst>
          </p:cNvPr>
          <p:cNvSpPr/>
          <p:nvPr/>
        </p:nvSpPr>
        <p:spPr>
          <a:xfrm>
            <a:off x="6721642" y="2954343"/>
            <a:ext cx="21238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/>
              <a:t>Методы </a:t>
            </a:r>
            <a:r>
              <a:rPr lang="en-US" sz="2400" dirty="0"/>
              <a:t>String</a:t>
            </a:r>
            <a:r>
              <a:rPr lang="ru-RU" sz="2400" dirty="0"/>
              <a:t>: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B2A8832-C4BA-F9DC-95EF-3DDDDDFA5C69}"/>
              </a:ext>
            </a:extLst>
          </p:cNvPr>
          <p:cNvSpPr/>
          <p:nvPr/>
        </p:nvSpPr>
        <p:spPr>
          <a:xfrm>
            <a:off x="6915847" y="718809"/>
            <a:ext cx="49669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Объект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String </a:t>
            </a:r>
            <a:r>
              <a:rPr lang="ru-RU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имеет свойство </a:t>
            </a:r>
            <a:r>
              <a:rPr lang="en-US" sz="24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length.</a:t>
            </a:r>
            <a:endParaRPr lang="ru-RU" sz="24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617DABE-EF27-F8B3-3019-AD56041141AE}"/>
              </a:ext>
            </a:extLst>
          </p:cNvPr>
          <p:cNvSpPr/>
          <p:nvPr/>
        </p:nvSpPr>
        <p:spPr>
          <a:xfrm>
            <a:off x="589499" y="2590409"/>
            <a:ext cx="5986564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/>
              <a:t>var myString = "</a:t>
            </a:r>
            <a:r>
              <a:rPr lang="ru-RU" sz="2000" b="1" i="1" dirty="0" err="1"/>
              <a:t>My</a:t>
            </a:r>
            <a:r>
              <a:rPr lang="ru-RU" sz="2000" b="1" i="1" dirty="0"/>
              <a:t> </a:t>
            </a:r>
            <a:r>
              <a:rPr lang="ru-RU" sz="2000" b="1" i="1" dirty="0" err="1"/>
              <a:t>string</a:t>
            </a:r>
            <a:r>
              <a:rPr lang="ru-RU" sz="2000" b="1" i="1" dirty="0"/>
              <a:t>";</a:t>
            </a:r>
          </a:p>
          <a:p>
            <a:r>
              <a:rPr lang="ru-RU" sz="2000" b="1" i="1" dirty="0"/>
              <a:t>console.log(</a:t>
            </a:r>
            <a:r>
              <a:rPr lang="ru-RU" sz="2000" b="1" i="1" dirty="0" err="1"/>
              <a:t>myString.chartAt</a:t>
            </a:r>
            <a:r>
              <a:rPr lang="ru-RU" sz="2000" b="1" i="1" dirty="0"/>
              <a:t>(0));</a:t>
            </a:r>
            <a:endParaRPr lang="en-US" sz="2000" b="1" i="1" dirty="0"/>
          </a:p>
          <a:p>
            <a:r>
              <a:rPr lang="ru-RU" sz="2000" b="1" i="1" dirty="0"/>
              <a:t>// Результат – </a:t>
            </a:r>
            <a:r>
              <a:rPr lang="en-US" sz="2000" b="1" i="1" dirty="0"/>
              <a:t>M</a:t>
            </a:r>
          </a:p>
          <a:p>
            <a:endParaRPr lang="en-US" sz="2000" b="1" i="1" dirty="0"/>
          </a:p>
          <a:p>
            <a:r>
              <a:rPr lang="en-US" sz="2000" b="1" i="1" dirty="0"/>
              <a:t>var myString1 = "My";</a:t>
            </a:r>
          </a:p>
          <a:p>
            <a:r>
              <a:rPr lang="en-US" sz="2000" b="1" i="1" dirty="0"/>
              <a:t>var myString2 = " ";</a:t>
            </a:r>
          </a:p>
          <a:p>
            <a:r>
              <a:rPr lang="en-US" sz="2000" b="1" i="1" dirty="0"/>
              <a:t>var myString3 = "string";</a:t>
            </a:r>
          </a:p>
          <a:p>
            <a:r>
              <a:rPr lang="en-US" sz="2000" b="1" i="1" dirty="0"/>
              <a:t>console.log(</a:t>
            </a:r>
            <a:r>
              <a:rPr lang="en-US" sz="2000" b="1" i="1" dirty="0" err="1"/>
              <a:t>myString.concat</a:t>
            </a:r>
            <a:r>
              <a:rPr lang="en-US" sz="2000" b="1" i="1" dirty="0"/>
              <a:t>(myString1, myString2, myString3);</a:t>
            </a:r>
          </a:p>
          <a:p>
            <a:r>
              <a:rPr lang="en-US" sz="2000" b="1" i="1" dirty="0"/>
              <a:t>// </a:t>
            </a:r>
            <a:r>
              <a:rPr lang="ru-RU" sz="2000" b="1" i="1" dirty="0"/>
              <a:t>Результат - "</a:t>
            </a:r>
            <a:r>
              <a:rPr lang="en-US" sz="2000" b="1" i="1" dirty="0"/>
              <a:t>My String"</a:t>
            </a:r>
          </a:p>
          <a:p>
            <a:endParaRPr lang="ru-RU" sz="2000" b="1" i="1" dirty="0"/>
          </a:p>
        </p:txBody>
      </p:sp>
    </p:spTree>
    <p:extLst>
      <p:ext uri="{BB962C8B-B14F-4D97-AF65-F5344CB8AC3E}">
        <p14:creationId xmlns:p14="http://schemas.microsoft.com/office/powerpoint/2010/main" val="4222845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Типы данных языка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24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A202F262-E725-8D8F-DE4D-8FC36F929175}"/>
              </a:ext>
            </a:extLst>
          </p:cNvPr>
          <p:cNvSpPr/>
          <p:nvPr/>
        </p:nvSpPr>
        <p:spPr>
          <a:xfrm>
            <a:off x="3458451" y="914400"/>
            <a:ext cx="608827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Булевый (логический) тип (</a:t>
            </a:r>
            <a:r>
              <a:rPr lang="en-US" sz="2800" b="1" dirty="0">
                <a:solidFill>
                  <a:srgbClr val="C00000"/>
                </a:solidFill>
              </a:rPr>
              <a:t>“boolean”</a:t>
            </a:r>
            <a:r>
              <a:rPr lang="ru-RU" sz="2800" b="1" dirty="0">
                <a:solidFill>
                  <a:srgbClr val="C00000"/>
                </a:solidFill>
              </a:rPr>
              <a:t>)</a:t>
            </a:r>
            <a:endParaRPr lang="ru-RU" sz="28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0D5BF1A-5A0F-03F7-B4EE-670FC03B254C}"/>
              </a:ext>
            </a:extLst>
          </p:cNvPr>
          <p:cNvSpPr/>
          <p:nvPr/>
        </p:nvSpPr>
        <p:spPr>
          <a:xfrm>
            <a:off x="335231" y="1411069"/>
            <a:ext cx="1171206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У него всего два значения: </a:t>
            </a:r>
            <a:r>
              <a:rPr lang="ru-RU" sz="2000" b="1" dirty="0">
                <a:solidFill>
                  <a:srgbClr val="C00000"/>
                </a:solidFill>
              </a:rPr>
              <a:t>true (истина)</a:t>
            </a:r>
            <a:r>
              <a:rPr lang="ru-RU" sz="2000" b="1" dirty="0"/>
              <a:t> и </a:t>
            </a:r>
            <a:r>
              <a:rPr lang="ru-RU" sz="2000" b="1" dirty="0">
                <a:solidFill>
                  <a:srgbClr val="C00000"/>
                </a:solidFill>
              </a:rPr>
              <a:t>false (ложь)</a:t>
            </a:r>
            <a:r>
              <a:rPr lang="ru-RU" sz="2000" b="1" dirty="0"/>
              <a:t>. Как правило, такой тип используется для хранения значения типа </a:t>
            </a:r>
            <a:r>
              <a:rPr lang="ru-RU" sz="2000" b="1" dirty="0">
                <a:solidFill>
                  <a:srgbClr val="C00000"/>
                </a:solidFill>
              </a:rPr>
              <a:t>да/нет</a:t>
            </a:r>
            <a:r>
              <a:rPr lang="en-US" sz="2000" b="1" dirty="0"/>
              <a:t>.</a:t>
            </a:r>
            <a:endParaRPr lang="ru-RU" sz="20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C92D1BDA-00E7-EF31-7659-1F5F9EB505B3}"/>
              </a:ext>
            </a:extLst>
          </p:cNvPr>
          <p:cNvSpPr/>
          <p:nvPr/>
        </p:nvSpPr>
        <p:spPr>
          <a:xfrm>
            <a:off x="3048000" y="2223213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dirty="0"/>
              <a:t>var checked = true; // поле формы помечено галочкой</a:t>
            </a:r>
          </a:p>
          <a:p>
            <a:r>
              <a:rPr lang="ru-RU" sz="2000" b="1" dirty="0"/>
              <a:t>checked = false; // поле формы не содержит галочки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7D4CF77-072D-9307-95D5-95F9F69B435A}"/>
              </a:ext>
            </a:extLst>
          </p:cNvPr>
          <p:cNvSpPr/>
          <p:nvPr/>
        </p:nvSpPr>
        <p:spPr>
          <a:xfrm>
            <a:off x="3520754" y="3343135"/>
            <a:ext cx="49856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Специальное значение (</a:t>
            </a:r>
            <a:r>
              <a:rPr lang="en-US" sz="2800" b="1" dirty="0">
                <a:solidFill>
                  <a:srgbClr val="C00000"/>
                </a:solidFill>
              </a:rPr>
              <a:t>“null”</a:t>
            </a:r>
            <a:r>
              <a:rPr lang="ru-RU" sz="2800" b="1" dirty="0">
                <a:solidFill>
                  <a:srgbClr val="C00000"/>
                </a:solidFill>
              </a:rPr>
              <a:t>)</a:t>
            </a:r>
            <a:endParaRPr lang="ru-RU" sz="2800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B606385-17DC-9E2A-FA2C-36BF6AC31151}"/>
              </a:ext>
            </a:extLst>
          </p:cNvPr>
          <p:cNvSpPr/>
          <p:nvPr/>
        </p:nvSpPr>
        <p:spPr>
          <a:xfrm>
            <a:off x="307522" y="3883207"/>
            <a:ext cx="1180207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В JavaScript null не является «ссылкой на несуществующий объект» или «нулевым указателем», как в некоторых других языках. Это просто специальное значение, которое имеет смысл «ничего» или «значение неизвестно»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95C212-7CF6-FA14-7059-689D36D8A4E9}"/>
              </a:ext>
            </a:extLst>
          </p:cNvPr>
          <p:cNvSpPr/>
          <p:nvPr/>
        </p:nvSpPr>
        <p:spPr>
          <a:xfrm>
            <a:off x="5168171" y="4761770"/>
            <a:ext cx="16689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/>
              <a:t>var age = null;</a:t>
            </a:r>
          </a:p>
        </p:txBody>
      </p:sp>
    </p:spTree>
    <p:extLst>
      <p:ext uri="{BB962C8B-B14F-4D97-AF65-F5344CB8AC3E}">
        <p14:creationId xmlns:p14="http://schemas.microsoft.com/office/powerpoint/2010/main" val="138590649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Встроенный объект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Boolean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25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3D6E2F31-CBB6-B6B0-9545-C7D55B4356C2}"/>
              </a:ext>
            </a:extLst>
          </p:cNvPr>
          <p:cNvSpPr/>
          <p:nvPr/>
        </p:nvSpPr>
        <p:spPr>
          <a:xfrm>
            <a:off x="457200" y="1066800"/>
            <a:ext cx="112776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000" b="1" dirty="0">
                <a:solidFill>
                  <a:srgbClr val="C00000"/>
                </a:solidFill>
              </a:rPr>
              <a:t>Boolean - </a:t>
            </a:r>
            <a:r>
              <a:rPr lang="ru-RU" sz="2000" b="1" dirty="0"/>
              <a:t>это объект, представляющий значение true (истина) или false (ложь)</a:t>
            </a:r>
            <a:endParaRPr lang="pt-BR" sz="2000" b="1" dirty="0"/>
          </a:p>
          <a:p>
            <a:pPr algn="just"/>
            <a:endParaRPr lang="pt-BR" sz="2000" b="1" dirty="0"/>
          </a:p>
          <a:p>
            <a:pPr algn="just"/>
            <a:endParaRPr lang="ru-RU" sz="2000" b="1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04CEC3E-357D-8EBC-7C08-71630A00FE7E}"/>
              </a:ext>
            </a:extLst>
          </p:cNvPr>
          <p:cNvSpPr/>
          <p:nvPr/>
        </p:nvSpPr>
        <p:spPr>
          <a:xfrm>
            <a:off x="3826950" y="2117764"/>
            <a:ext cx="5789384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/>
              <a:t>var myBoolean = true;</a:t>
            </a:r>
          </a:p>
          <a:p>
            <a:r>
              <a:rPr lang="en-US" sz="2000" b="1" i="1" dirty="0"/>
              <a:t>console.log(</a:t>
            </a:r>
            <a:r>
              <a:rPr lang="ru-RU" sz="2000" b="1" i="1" dirty="0"/>
              <a:t>typeof </a:t>
            </a:r>
            <a:r>
              <a:rPr lang="en-US" sz="2000" b="1" i="1" dirty="0"/>
              <a:t>myBoolean</a:t>
            </a:r>
            <a:r>
              <a:rPr lang="ru-RU" sz="2000" b="1" i="1" dirty="0"/>
              <a:t>);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FEA214D4-996A-B090-13B9-BAD31D637A0F}"/>
              </a:ext>
            </a:extLst>
          </p:cNvPr>
          <p:cNvSpPr/>
          <p:nvPr/>
        </p:nvSpPr>
        <p:spPr>
          <a:xfrm>
            <a:off x="228600" y="3059668"/>
            <a:ext cx="2074465" cy="806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15900">
              <a:lnSpc>
                <a:spcPct val="120000"/>
              </a:lnSpc>
              <a:spcAft>
                <a:spcPts val="0"/>
              </a:spcAft>
            </a:pPr>
            <a:r>
              <a:rPr lang="ru-RU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toString</a:t>
            </a:r>
          </a:p>
          <a:p>
            <a:pPr indent="215900">
              <a:lnSpc>
                <a:spcPct val="120000"/>
              </a:lnSpc>
              <a:spcAft>
                <a:spcPts val="0"/>
              </a:spcAft>
            </a:pPr>
            <a:r>
              <a:rPr lang="ru-RU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valueOf</a:t>
            </a:r>
            <a:endParaRPr lang="ru-RU" sz="2000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DFDF66FF-6704-5E97-89F3-35C1979B1AD4}"/>
              </a:ext>
            </a:extLst>
          </p:cNvPr>
          <p:cNvSpPr/>
          <p:nvPr/>
        </p:nvSpPr>
        <p:spPr>
          <a:xfrm>
            <a:off x="457200" y="2719738"/>
            <a:ext cx="20507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Методы </a:t>
            </a:r>
            <a:r>
              <a:rPr lang="en-US" sz="2000" dirty="0"/>
              <a:t>Boolean</a:t>
            </a:r>
            <a:r>
              <a:rPr lang="ru-RU" sz="2000" dirty="0"/>
              <a:t>: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583A9D22-2AD5-A4DE-E783-8169BB335874}"/>
              </a:ext>
            </a:extLst>
          </p:cNvPr>
          <p:cNvSpPr/>
          <p:nvPr/>
        </p:nvSpPr>
        <p:spPr>
          <a:xfrm>
            <a:off x="459508" y="1515790"/>
            <a:ext cx="952269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"ложь": (0, -0, null, "" [пустая строка]), неопределенное значение (NaN), и false.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72443191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Типы данных языка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26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5F25F6F-CE62-D437-EC3D-B10E31BC9048}"/>
              </a:ext>
            </a:extLst>
          </p:cNvPr>
          <p:cNvSpPr/>
          <p:nvPr/>
        </p:nvSpPr>
        <p:spPr>
          <a:xfrm>
            <a:off x="3402772" y="838200"/>
            <a:ext cx="512928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Специальное значение (</a:t>
            </a:r>
            <a:r>
              <a:rPr lang="en-US" sz="2400" b="1" dirty="0">
                <a:solidFill>
                  <a:srgbClr val="C00000"/>
                </a:solidFill>
              </a:rPr>
              <a:t>“undefined”</a:t>
            </a:r>
            <a:r>
              <a:rPr lang="ru-RU" sz="2400" b="1" dirty="0">
                <a:solidFill>
                  <a:srgbClr val="C00000"/>
                </a:solidFill>
              </a:rPr>
              <a:t>)</a:t>
            </a:r>
            <a:endParaRPr lang="ru-RU" sz="24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D933CC4-F25B-2C6E-086C-22B731319244}"/>
              </a:ext>
            </a:extLst>
          </p:cNvPr>
          <p:cNvSpPr/>
          <p:nvPr/>
        </p:nvSpPr>
        <p:spPr>
          <a:xfrm>
            <a:off x="217250" y="1341239"/>
            <a:ext cx="1161154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Значение undefined, как и null, образует свой собственный тип, состоящий из одного этого значения. Оно имеет смысл «значение не присвоено».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3BAF52D-E4B9-BAED-0A3F-C6316F5B8242}"/>
              </a:ext>
            </a:extLst>
          </p:cNvPr>
          <p:cNvSpPr/>
          <p:nvPr/>
        </p:nvSpPr>
        <p:spPr>
          <a:xfrm>
            <a:off x="1179673" y="2124670"/>
            <a:ext cx="405054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var x;</a:t>
            </a:r>
          </a:p>
          <a:p>
            <a:r>
              <a:rPr lang="ru-RU" sz="2000" b="1" dirty="0"/>
              <a:t>console.log(x); // выведет "undefined"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F2083B5-7F23-5D3C-A841-996630F169E8}"/>
              </a:ext>
            </a:extLst>
          </p:cNvPr>
          <p:cNvSpPr/>
          <p:nvPr/>
        </p:nvSpPr>
        <p:spPr>
          <a:xfrm>
            <a:off x="6400369" y="2124670"/>
            <a:ext cx="396052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var x = 123;</a:t>
            </a:r>
          </a:p>
          <a:p>
            <a:r>
              <a:rPr lang="ru-RU" sz="2000" b="1" dirty="0"/>
              <a:t>x = undefined;</a:t>
            </a:r>
          </a:p>
          <a:p>
            <a:r>
              <a:rPr lang="ru-RU" sz="2000" b="1" dirty="0"/>
              <a:t>console.log(x); // "undefined"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7A730F13-BFBF-3141-9A7B-BD7A6C75C694}"/>
              </a:ext>
            </a:extLst>
          </p:cNvPr>
          <p:cNvSpPr/>
          <p:nvPr/>
        </p:nvSpPr>
        <p:spPr>
          <a:xfrm>
            <a:off x="3535644" y="3280071"/>
            <a:ext cx="497476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Тип данных символ (</a:t>
            </a:r>
            <a:r>
              <a:rPr lang="en-US" sz="2800" b="1" dirty="0">
                <a:solidFill>
                  <a:srgbClr val="C00000"/>
                </a:solidFill>
              </a:rPr>
              <a:t>“Symbol”</a:t>
            </a:r>
            <a:r>
              <a:rPr lang="ru-RU" sz="2800" b="1" dirty="0">
                <a:solidFill>
                  <a:srgbClr val="C00000"/>
                </a:solidFill>
              </a:rPr>
              <a:t>)</a:t>
            </a:r>
            <a:endParaRPr lang="ru-RU" sz="2800" dirty="0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6EDE188-DB10-1A7C-9D6E-AEAD75A08C87}"/>
              </a:ext>
            </a:extLst>
          </p:cNvPr>
          <p:cNvSpPr/>
          <p:nvPr/>
        </p:nvSpPr>
        <p:spPr>
          <a:xfrm>
            <a:off x="490440" y="3858206"/>
            <a:ext cx="117015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Новый примитивный тип данных Symbol служит для создания уникальных идентификаторов. Каждый символ – уникален. У функции Symbol есть необязательный аргумент «имя символа».  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CAAC2EA0-A87B-7B6B-2B4E-82DD7EC3440F}"/>
              </a:ext>
            </a:extLst>
          </p:cNvPr>
          <p:cNvSpPr/>
          <p:nvPr/>
        </p:nvSpPr>
        <p:spPr>
          <a:xfrm>
            <a:off x="1030512" y="4599722"/>
            <a:ext cx="38705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'use strict';</a:t>
            </a:r>
          </a:p>
          <a:p>
            <a:r>
              <a:rPr lang="ru-RU" sz="2000" b="1" dirty="0"/>
              <a:t>let sym = Symbol();</a:t>
            </a:r>
          </a:p>
          <a:p>
            <a:r>
              <a:rPr lang="ru-RU" sz="2000" b="1" dirty="0"/>
              <a:t>console.log( typeof sym ); // symbol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79B52F38-9380-8B26-63CC-F5FB5B652F8D}"/>
              </a:ext>
            </a:extLst>
          </p:cNvPr>
          <p:cNvSpPr/>
          <p:nvPr/>
        </p:nvSpPr>
        <p:spPr>
          <a:xfrm>
            <a:off x="6288432" y="4675922"/>
            <a:ext cx="5813556" cy="16312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'use strict';</a:t>
            </a:r>
          </a:p>
          <a:p>
            <a:r>
              <a:rPr lang="ru-RU" sz="2000" b="1" dirty="0"/>
              <a:t>let sym = Symbol("name");</a:t>
            </a:r>
          </a:p>
          <a:p>
            <a:r>
              <a:rPr lang="ru-RU" sz="2000" b="1" dirty="0"/>
              <a:t>console.log( sym.toString() ); // Symbol(name)</a:t>
            </a:r>
          </a:p>
          <a:p>
            <a:r>
              <a:rPr lang="en-US" sz="2000" b="1" dirty="0"/>
              <a:t>console.log( Symbol("name") == Symbol("name") ); // false</a:t>
            </a:r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166484986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Типы данных языка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JavaScript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27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BDF3B64-754D-581E-9113-A7BEE726A745}"/>
              </a:ext>
            </a:extLst>
          </p:cNvPr>
          <p:cNvSpPr/>
          <p:nvPr/>
        </p:nvSpPr>
        <p:spPr>
          <a:xfrm>
            <a:off x="3581400" y="914400"/>
            <a:ext cx="478445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Тип данных объект (</a:t>
            </a:r>
            <a:r>
              <a:rPr lang="en-US" sz="2800" b="1" dirty="0">
                <a:solidFill>
                  <a:srgbClr val="C00000"/>
                </a:solidFill>
              </a:rPr>
              <a:t>“Object”</a:t>
            </a:r>
            <a:r>
              <a:rPr lang="ru-RU" sz="2800" b="1" dirty="0">
                <a:solidFill>
                  <a:srgbClr val="C00000"/>
                </a:solidFill>
              </a:rPr>
              <a:t>)</a:t>
            </a:r>
            <a:endParaRPr lang="ru-RU" sz="2800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918EB4A-7E1E-A6FA-2FEE-0D51346D91C4}"/>
              </a:ext>
            </a:extLst>
          </p:cNvPr>
          <p:cNvSpPr/>
          <p:nvPr/>
        </p:nvSpPr>
        <p:spPr>
          <a:xfrm>
            <a:off x="368169" y="1544484"/>
            <a:ext cx="1170156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Объект — это структура данных (целый их набор), представленный в виде набора пар «ключ-значение».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BCDBCA5-8571-0A91-AA89-F01FC67DB16D}"/>
              </a:ext>
            </a:extLst>
          </p:cNvPr>
          <p:cNvSpPr/>
          <p:nvPr/>
        </p:nvSpPr>
        <p:spPr>
          <a:xfrm>
            <a:off x="4419600" y="2082235"/>
            <a:ext cx="299255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/>
              <a:t>var user = {name: "Вася"};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F89318-18CB-AE41-B280-C90DD0392C21}"/>
              </a:ext>
            </a:extLst>
          </p:cNvPr>
          <p:cNvSpPr txBox="1"/>
          <p:nvPr/>
        </p:nvSpPr>
        <p:spPr>
          <a:xfrm>
            <a:off x="368169" y="2790121"/>
            <a:ext cx="64505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/>
              <a:t>const obj = { greeting: 'hello world' };</a:t>
            </a:r>
          </a:p>
          <a:p>
            <a:endParaRPr lang="en-US" sz="2000" b="1" dirty="0"/>
          </a:p>
          <a:p>
            <a:r>
              <a:rPr lang="en-US" sz="2000" b="1" dirty="0" err="1"/>
              <a:t>obj.greeting</a:t>
            </a:r>
            <a:r>
              <a:rPr lang="en-US" sz="2000" b="1" dirty="0"/>
              <a:t>;</a:t>
            </a:r>
          </a:p>
          <a:p>
            <a:r>
              <a:rPr lang="en-US" sz="2000" b="1" dirty="0"/>
              <a:t>// =&gt; hello world</a:t>
            </a:r>
          </a:p>
          <a:p>
            <a:endParaRPr lang="en-US" sz="2000" b="1" dirty="0"/>
          </a:p>
          <a:p>
            <a:r>
              <a:rPr lang="en-US" sz="2000" b="1" dirty="0"/>
              <a:t>obj['greeting'];</a:t>
            </a:r>
          </a:p>
          <a:p>
            <a:r>
              <a:rPr lang="en-US" sz="2000" b="1" dirty="0"/>
              <a:t>// =&gt; hello world</a:t>
            </a:r>
          </a:p>
          <a:p>
            <a:endParaRPr lang="en-US" sz="2000" b="1" dirty="0"/>
          </a:p>
          <a:p>
            <a:r>
              <a:rPr lang="en-US" sz="2000" b="1" dirty="0"/>
              <a:t>// Bracket notation also works with variables.</a:t>
            </a:r>
          </a:p>
          <a:p>
            <a:r>
              <a:rPr lang="en-US" sz="2000" b="1" dirty="0"/>
              <a:t>const key = 'greeting';</a:t>
            </a:r>
          </a:p>
          <a:p>
            <a:r>
              <a:rPr lang="en-US" sz="2000" b="1" dirty="0"/>
              <a:t>obj[key];</a:t>
            </a:r>
          </a:p>
          <a:p>
            <a:r>
              <a:rPr lang="en-US" sz="2000" b="1" dirty="0"/>
              <a:t>// =&gt; hello world</a:t>
            </a:r>
          </a:p>
        </p:txBody>
      </p:sp>
    </p:spTree>
    <p:extLst>
      <p:ext uri="{BB962C8B-B14F-4D97-AF65-F5344CB8AC3E}">
        <p14:creationId xmlns:p14="http://schemas.microsoft.com/office/powerpoint/2010/main" val="135350302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Определение типа данных. Оператор </a:t>
            </a:r>
            <a:r>
              <a:rPr lang="ru-RU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TypeOf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28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464A645-B9A1-424B-4ECA-556184EFD06D}"/>
              </a:ext>
            </a:extLst>
          </p:cNvPr>
          <p:cNvSpPr/>
          <p:nvPr/>
        </p:nvSpPr>
        <p:spPr>
          <a:xfrm>
            <a:off x="457200" y="1066800"/>
            <a:ext cx="5670757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typeof </a:t>
            </a:r>
            <a:r>
              <a:rPr lang="ru-RU" sz="2000" b="1" dirty="0"/>
              <a:t>определяет тип данных операнда. </a:t>
            </a:r>
            <a:endParaRPr lang="pt-BR" sz="2000" b="1" dirty="0"/>
          </a:p>
          <a:p>
            <a:pPr algn="just"/>
            <a:endParaRPr lang="pt-BR" sz="2000" b="1" dirty="0"/>
          </a:p>
          <a:p>
            <a:pPr algn="just"/>
            <a:endParaRPr lang="ru-RU" sz="2000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CE2F9A8-DC01-4911-9E69-9C479A0304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689733"/>
              </p:ext>
            </p:extLst>
          </p:nvPr>
        </p:nvGraphicFramePr>
        <p:xfrm>
          <a:off x="5689806" y="1692813"/>
          <a:ext cx="6096000" cy="2946400"/>
        </p:xfrm>
        <a:graphic>
          <a:graphicData uri="http://schemas.openxmlformats.org/drawingml/2006/table">
            <a:tbl>
              <a:tblPr firstRow="1" bandRow="1"/>
              <a:tblGrid>
                <a:gridCol w="3432929">
                  <a:extLst>
                    <a:ext uri="{9D8B030D-6E8A-4147-A177-3AD203B41FA5}">
                      <a16:colId xmlns:a16="http://schemas.microsoft.com/office/drawing/2014/main" val="3367011398"/>
                    </a:ext>
                  </a:extLst>
                </a:gridCol>
                <a:gridCol w="2663071">
                  <a:extLst>
                    <a:ext uri="{9D8B030D-6E8A-4147-A177-3AD203B41FA5}">
                      <a16:colId xmlns:a16="http://schemas.microsoft.com/office/drawing/2014/main" val="35849517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ru-RU" sz="1800" b="1" dirty="0"/>
                        <a:t>Значение</a:t>
                      </a:r>
                      <a:r>
                        <a:rPr lang="ru-RU" sz="1800" b="1" baseline="0" dirty="0"/>
                        <a:t> </a:t>
                      </a:r>
                      <a:r>
                        <a:rPr lang="en-US" sz="1800" b="1" baseline="0" dirty="0"/>
                        <a:t>x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/>
                        <a:t>type</a:t>
                      </a:r>
                      <a:r>
                        <a:rPr lang="en-US" sz="1800" b="1" baseline="0" dirty="0"/>
                        <a:t>of x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0793244"/>
                  </a:ext>
                </a:extLst>
              </a:tr>
              <a:tr h="262474">
                <a:tc>
                  <a:txBody>
                    <a:bodyPr/>
                    <a:lstStyle/>
                    <a:p>
                      <a:r>
                        <a:rPr lang="en-US" sz="1800" b="1" dirty="0"/>
                        <a:t>undefined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"undefined"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2627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800" b="1" dirty="0"/>
                        <a:t>null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"object"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0231501"/>
                  </a:ext>
                </a:extLst>
              </a:tr>
              <a:tr h="131986">
                <a:tc>
                  <a:txBody>
                    <a:bodyPr/>
                    <a:lstStyle/>
                    <a:p>
                      <a:r>
                        <a:rPr lang="en-US" sz="1800" b="1" dirty="0"/>
                        <a:t>true </a:t>
                      </a:r>
                      <a:r>
                        <a:rPr lang="ru-RU" sz="1800" b="1" dirty="0"/>
                        <a:t>или </a:t>
                      </a:r>
                      <a:r>
                        <a:rPr lang="en-US" sz="1800" b="1" dirty="0"/>
                        <a:t>false</a:t>
                      </a:r>
                      <a:endParaRPr lang="ru-RU" sz="18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"boolean"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7273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dirty="0"/>
                        <a:t>любое число, </a:t>
                      </a:r>
                      <a:r>
                        <a:rPr lang="ru-RU" sz="1800" b="1" dirty="0" err="1"/>
                        <a:t>Infinity</a:t>
                      </a:r>
                      <a:r>
                        <a:rPr lang="ru-RU" sz="1800" b="1" dirty="0"/>
                        <a:t> или NaN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"number"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53961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dirty="0"/>
                        <a:t>любая строка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"string"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31416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dirty="0"/>
                        <a:t>любая функция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"function"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39459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800" b="1" dirty="0"/>
                        <a:t>любой объект или массив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"object"</a:t>
                      </a:r>
                      <a:endParaRPr lang="ru-RU" sz="18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998665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79D1774D-162D-6574-AA2E-C89E800AD74C}"/>
              </a:ext>
            </a:extLst>
          </p:cNvPr>
          <p:cNvSpPr/>
          <p:nvPr/>
        </p:nvSpPr>
        <p:spPr>
          <a:xfrm>
            <a:off x="1983015" y="1745285"/>
            <a:ext cx="298238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/>
              <a:t>var x = 5;</a:t>
            </a:r>
          </a:p>
          <a:p>
            <a:r>
              <a:rPr lang="en-US" sz="2000" b="1" i="1" dirty="0"/>
              <a:t>console.log(</a:t>
            </a:r>
            <a:r>
              <a:rPr lang="ru-RU" sz="2000" b="1" i="1" dirty="0"/>
              <a:t>typeof x);</a:t>
            </a:r>
          </a:p>
          <a:p>
            <a:r>
              <a:rPr lang="en-US" sz="2000" b="1" i="1" dirty="0"/>
              <a:t>console.log(</a:t>
            </a:r>
            <a:r>
              <a:rPr lang="ru-RU" sz="2000" b="1" i="1" dirty="0"/>
              <a:t>typeof (x));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027690C-CE4B-D351-4362-1C4852AF5805}"/>
              </a:ext>
            </a:extLst>
          </p:cNvPr>
          <p:cNvSpPr/>
          <p:nvPr/>
        </p:nvSpPr>
        <p:spPr>
          <a:xfrm>
            <a:off x="457200" y="3057589"/>
            <a:ext cx="548640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console.log(typeof undefined); // "undefined"</a:t>
            </a:r>
          </a:p>
          <a:p>
            <a:r>
              <a:rPr lang="ru-RU" sz="2000" b="1" dirty="0"/>
              <a:t>console.log(typeof 0); // "number"</a:t>
            </a:r>
          </a:p>
          <a:p>
            <a:r>
              <a:rPr lang="ru-RU" sz="2000" b="1" dirty="0"/>
              <a:t>console.log(typeof true); // "boolean"</a:t>
            </a:r>
          </a:p>
          <a:p>
            <a:r>
              <a:rPr lang="ru-RU" sz="2000" b="1" dirty="0"/>
              <a:t>console.log(typeof "foo"); // "string"</a:t>
            </a:r>
          </a:p>
          <a:p>
            <a:r>
              <a:rPr lang="ru-RU" sz="2000" b="1" dirty="0"/>
              <a:t>console.log(typeof {}); // "object"</a:t>
            </a:r>
          </a:p>
          <a:p>
            <a:r>
              <a:rPr lang="ru-RU" sz="2000" b="1" dirty="0"/>
              <a:t>console.log(typeof null)); // "object"  (1)</a:t>
            </a:r>
          </a:p>
          <a:p>
            <a:r>
              <a:rPr lang="ru-RU" sz="2000" b="1" dirty="0"/>
              <a:t>console.log(typeof function(){}); // "function"  (2)</a:t>
            </a:r>
          </a:p>
        </p:txBody>
      </p:sp>
    </p:spTree>
    <p:extLst>
      <p:ext uri="{BB962C8B-B14F-4D97-AF65-F5344CB8AC3E}">
        <p14:creationId xmlns:p14="http://schemas.microsoft.com/office/powerpoint/2010/main" val="1694945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Встроенный объект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Date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29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19F427C-4252-9C75-7014-03E648B72832}"/>
              </a:ext>
            </a:extLst>
          </p:cNvPr>
          <p:cNvSpPr/>
          <p:nvPr/>
        </p:nvSpPr>
        <p:spPr>
          <a:xfrm>
            <a:off x="354038" y="954200"/>
            <a:ext cx="11277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Объект </a:t>
            </a:r>
            <a:r>
              <a:rPr lang="en-US" sz="2000" b="1" dirty="0">
                <a:solidFill>
                  <a:srgbClr val="C00000"/>
                </a:solidFill>
              </a:rPr>
              <a:t>Date – </a:t>
            </a:r>
            <a:r>
              <a:rPr lang="ru-RU" sz="2000" b="1" dirty="0"/>
              <a:t>позволяет работать с датами и временем.</a:t>
            </a:r>
            <a:endParaRPr lang="pt-BR" sz="2000" b="1" dirty="0"/>
          </a:p>
          <a:p>
            <a:pPr algn="just"/>
            <a:endParaRPr lang="ru-RU" sz="2000" b="1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1E9544AA-45B1-2A01-2AB9-16644BA4BB00}"/>
              </a:ext>
            </a:extLst>
          </p:cNvPr>
          <p:cNvSpPr/>
          <p:nvPr/>
        </p:nvSpPr>
        <p:spPr>
          <a:xfrm>
            <a:off x="315043" y="1421167"/>
            <a:ext cx="721564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var myDate = new Date();</a:t>
            </a:r>
          </a:p>
          <a:p>
            <a:r>
              <a:rPr lang="en-US" b="1" i="1" dirty="0"/>
              <a:t>console.log(myDate);</a:t>
            </a:r>
          </a:p>
          <a:p>
            <a:r>
              <a:rPr lang="ru-RU" b="1" i="1" dirty="0"/>
              <a:t>// Wed </a:t>
            </a:r>
            <a:r>
              <a:rPr lang="ru-RU" b="1" i="1" dirty="0" err="1"/>
              <a:t>Jul</a:t>
            </a:r>
            <a:r>
              <a:rPr lang="ru-RU" b="1" i="1" dirty="0"/>
              <a:t> 29 2020 16:00:44 GMT+0300 (Москва, стандартное время)</a:t>
            </a:r>
            <a:endParaRPr lang="en-US" b="1" i="1" dirty="0"/>
          </a:p>
          <a:p>
            <a:r>
              <a:rPr lang="en-US" b="1" i="1" dirty="0"/>
              <a:t>//var myDate = new Date(year, month, day, hours, minutes, seconds, milliseconds);</a:t>
            </a:r>
          </a:p>
          <a:p>
            <a:r>
              <a:rPr lang="en-US" b="1" i="1" dirty="0"/>
              <a:t>//var myDate = new Date("2020.07.23");</a:t>
            </a:r>
          </a:p>
          <a:p>
            <a:endParaRPr lang="ru-RU" b="1" i="1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A3900A1D-40EF-C1BD-553E-5B4614D38FF3}"/>
              </a:ext>
            </a:extLst>
          </p:cNvPr>
          <p:cNvSpPr/>
          <p:nvPr/>
        </p:nvSpPr>
        <p:spPr>
          <a:xfrm>
            <a:off x="7728026" y="1478281"/>
            <a:ext cx="207446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i="1" dirty="0" err="1"/>
              <a:t>getDate</a:t>
            </a:r>
            <a:endParaRPr lang="ru-RU" dirty="0"/>
          </a:p>
          <a:p>
            <a:r>
              <a:rPr lang="ru-RU" i="1" dirty="0" err="1"/>
              <a:t>getDay</a:t>
            </a:r>
            <a:endParaRPr lang="ru-RU" dirty="0"/>
          </a:p>
          <a:p>
            <a:r>
              <a:rPr lang="ru-RU" i="1" dirty="0" err="1"/>
              <a:t>getFullYear</a:t>
            </a:r>
            <a:endParaRPr lang="ru-RU" dirty="0"/>
          </a:p>
          <a:p>
            <a:r>
              <a:rPr lang="ru-RU" i="1" dirty="0" err="1"/>
              <a:t>getHours</a:t>
            </a:r>
            <a:endParaRPr lang="ru-RU" dirty="0"/>
          </a:p>
          <a:p>
            <a:r>
              <a:rPr lang="en-US" i="1" dirty="0" err="1"/>
              <a:t>getMilliseconds</a:t>
            </a:r>
            <a:endParaRPr lang="ru-RU" dirty="0"/>
          </a:p>
          <a:p>
            <a:r>
              <a:rPr lang="en-US" i="1" dirty="0" err="1"/>
              <a:t>getMinutes</a:t>
            </a:r>
            <a:endParaRPr lang="ru-RU" dirty="0"/>
          </a:p>
          <a:p>
            <a:r>
              <a:rPr lang="en-US" i="1" dirty="0" err="1"/>
              <a:t>getMonth</a:t>
            </a:r>
            <a:endParaRPr lang="ru-RU" dirty="0"/>
          </a:p>
          <a:p>
            <a:r>
              <a:rPr lang="en-US" i="1" dirty="0" err="1"/>
              <a:t>getSeconds</a:t>
            </a:r>
            <a:endParaRPr lang="ru-RU" dirty="0"/>
          </a:p>
          <a:p>
            <a:r>
              <a:rPr lang="en-US" i="1" dirty="0" err="1"/>
              <a:t>getTime</a:t>
            </a:r>
            <a:endParaRPr lang="ru-RU" dirty="0"/>
          </a:p>
          <a:p>
            <a:r>
              <a:rPr lang="en-US" i="1" dirty="0" err="1"/>
              <a:t>getTimezoneOffset</a:t>
            </a:r>
            <a:endParaRPr lang="ru-RU" dirty="0"/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69F889C-51B8-7E50-D8B4-5A0482D8A1C4}"/>
              </a:ext>
            </a:extLst>
          </p:cNvPr>
          <p:cNvSpPr/>
          <p:nvPr/>
        </p:nvSpPr>
        <p:spPr>
          <a:xfrm>
            <a:off x="7530690" y="1071310"/>
            <a:ext cx="165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Getter </a:t>
            </a:r>
            <a:r>
              <a:rPr lang="ru-RU" dirty="0"/>
              <a:t>методы: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DDA2C04-B1B0-41DF-B4FF-16752B97AD2E}"/>
              </a:ext>
            </a:extLst>
          </p:cNvPr>
          <p:cNvSpPr/>
          <p:nvPr/>
        </p:nvSpPr>
        <p:spPr>
          <a:xfrm>
            <a:off x="655776" y="3188865"/>
            <a:ext cx="598656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var myDate = new Date();</a:t>
            </a:r>
          </a:p>
          <a:p>
            <a:r>
              <a:rPr lang="en-US" b="1" i="1" dirty="0"/>
              <a:t>console.log(myDate.toDateString());</a:t>
            </a:r>
          </a:p>
          <a:p>
            <a:r>
              <a:rPr lang="en-US" b="1" i="1" dirty="0"/>
              <a:t>//Wed Jul 29 2020</a:t>
            </a:r>
          </a:p>
          <a:p>
            <a:endParaRPr lang="en-US" b="1" i="1" dirty="0"/>
          </a:p>
          <a:p>
            <a:r>
              <a:rPr lang="en-US" b="1" i="1" dirty="0"/>
              <a:t>var myDate = new Date();</a:t>
            </a:r>
          </a:p>
          <a:p>
            <a:r>
              <a:rPr lang="en-US" b="1" i="1" dirty="0"/>
              <a:t>console.log(myDate.toTimeString());</a:t>
            </a:r>
          </a:p>
          <a:p>
            <a:r>
              <a:rPr lang="en-US" b="1" i="1" dirty="0"/>
              <a:t>//</a:t>
            </a:r>
            <a:r>
              <a:rPr lang="ru-RU" b="1" i="1" dirty="0"/>
              <a:t>15:52:49 GMT+0300 (Москва, стандартное время)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FE6326B-472A-AE4E-52C9-0C6E1C0C4B3B}"/>
              </a:ext>
            </a:extLst>
          </p:cNvPr>
          <p:cNvSpPr/>
          <p:nvPr/>
        </p:nvSpPr>
        <p:spPr>
          <a:xfrm>
            <a:off x="9990838" y="1478281"/>
            <a:ext cx="2074465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i="1" dirty="0" err="1"/>
              <a:t>setDate</a:t>
            </a:r>
            <a:endParaRPr lang="ru-RU" dirty="0"/>
          </a:p>
          <a:p>
            <a:r>
              <a:rPr lang="en-US" i="1" dirty="0" err="1"/>
              <a:t>setFullYear</a:t>
            </a:r>
            <a:endParaRPr lang="ru-RU" dirty="0"/>
          </a:p>
          <a:p>
            <a:r>
              <a:rPr lang="en-US" i="1" dirty="0" err="1"/>
              <a:t>setHours</a:t>
            </a:r>
            <a:endParaRPr lang="ru-RU" dirty="0"/>
          </a:p>
          <a:p>
            <a:r>
              <a:rPr lang="en-US" i="1" dirty="0" err="1"/>
              <a:t>setMilliseconds</a:t>
            </a:r>
            <a:endParaRPr lang="ru-RU" dirty="0"/>
          </a:p>
          <a:p>
            <a:r>
              <a:rPr lang="en-US" i="1" dirty="0" err="1"/>
              <a:t>setMinutes</a:t>
            </a:r>
            <a:endParaRPr lang="ru-RU" dirty="0"/>
          </a:p>
          <a:p>
            <a:r>
              <a:rPr lang="en-US" i="1" dirty="0" err="1"/>
              <a:t>setMonth</a:t>
            </a:r>
            <a:endParaRPr lang="ru-RU" dirty="0"/>
          </a:p>
          <a:p>
            <a:r>
              <a:rPr lang="en-US" i="1" dirty="0" err="1"/>
              <a:t>setSeconds</a:t>
            </a:r>
            <a:endParaRPr lang="ru-RU" dirty="0"/>
          </a:p>
          <a:p>
            <a:r>
              <a:rPr lang="en-US" i="1" dirty="0" err="1"/>
              <a:t>setTime</a:t>
            </a:r>
            <a:endParaRPr lang="ru-RU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159E63F3-F1FB-80FF-85D6-5898A0FD0C17}"/>
              </a:ext>
            </a:extLst>
          </p:cNvPr>
          <p:cNvSpPr/>
          <p:nvPr/>
        </p:nvSpPr>
        <p:spPr>
          <a:xfrm>
            <a:off x="9793502" y="1071310"/>
            <a:ext cx="16585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Setter </a:t>
            </a:r>
            <a:r>
              <a:rPr lang="ru-RU" dirty="0"/>
              <a:t>методы:</a:t>
            </a:r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B8E64915-C5FE-2079-8B41-D0E52E7FE4BB}"/>
              </a:ext>
            </a:extLst>
          </p:cNvPr>
          <p:cNvSpPr/>
          <p:nvPr/>
        </p:nvSpPr>
        <p:spPr>
          <a:xfrm>
            <a:off x="6426081" y="4389193"/>
            <a:ext cx="5546711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Аналогичные </a:t>
            </a:r>
            <a:r>
              <a:rPr lang="en-US" sz="2000" b="1" dirty="0">
                <a:solidFill>
                  <a:srgbClr val="C00000"/>
                </a:solidFill>
              </a:rPr>
              <a:t>getter </a:t>
            </a:r>
            <a:r>
              <a:rPr lang="ru-RU" sz="2000" b="1" dirty="0">
                <a:solidFill>
                  <a:srgbClr val="C00000"/>
                </a:solidFill>
              </a:rPr>
              <a:t>и </a:t>
            </a:r>
            <a:r>
              <a:rPr lang="en-US" sz="2000" b="1" dirty="0">
                <a:solidFill>
                  <a:srgbClr val="C00000"/>
                </a:solidFill>
              </a:rPr>
              <a:t>setter </a:t>
            </a:r>
            <a:r>
              <a:rPr lang="ru-RU" sz="2000" b="1" dirty="0">
                <a:solidFill>
                  <a:srgbClr val="C00000"/>
                </a:solidFill>
              </a:rPr>
              <a:t>методы со вставкой</a:t>
            </a:r>
          </a:p>
          <a:p>
            <a:r>
              <a:rPr lang="en-US" sz="2800" b="1" dirty="0">
                <a:solidFill>
                  <a:srgbClr val="C00000"/>
                </a:solidFill>
              </a:rPr>
              <a:t>UTC </a:t>
            </a:r>
            <a:r>
              <a:rPr lang="en-US" sz="2000" b="1" dirty="0">
                <a:solidFill>
                  <a:srgbClr val="C00000"/>
                </a:solidFill>
              </a:rPr>
              <a:t>– </a:t>
            </a:r>
            <a:r>
              <a:rPr lang="ru-RU" sz="2000" b="1" dirty="0">
                <a:solidFill>
                  <a:srgbClr val="C00000"/>
                </a:solidFill>
              </a:rPr>
              <a:t>работа с временем по Гринвичу.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6D2D00E4-07B5-E65A-6BED-DC2047FD3A17}"/>
              </a:ext>
            </a:extLst>
          </p:cNvPr>
          <p:cNvSpPr/>
          <p:nvPr/>
        </p:nvSpPr>
        <p:spPr>
          <a:xfrm>
            <a:off x="7122218" y="5274536"/>
            <a:ext cx="39599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Методы преобразования в строку:</a:t>
            </a:r>
          </a:p>
        </p:txBody>
      </p:sp>
      <p:sp>
        <p:nvSpPr>
          <p:cNvPr id="21" name="Прямоугольник 20">
            <a:extLst>
              <a:ext uri="{FF2B5EF4-FFF2-40B4-BE49-F238E27FC236}">
                <a16:creationId xmlns:a16="http://schemas.microsoft.com/office/drawing/2014/main" id="{C075BBA0-3E09-1BB0-D416-0F0A33B3330E}"/>
              </a:ext>
            </a:extLst>
          </p:cNvPr>
          <p:cNvSpPr/>
          <p:nvPr/>
        </p:nvSpPr>
        <p:spPr>
          <a:xfrm>
            <a:off x="6304547" y="5625194"/>
            <a:ext cx="2649887" cy="117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toDateString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toLocaleDateString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toLocaleTimeString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CA80112D-4176-3018-1A9A-EAE78032A675}"/>
              </a:ext>
            </a:extLst>
          </p:cNvPr>
          <p:cNvSpPr/>
          <p:nvPr/>
        </p:nvSpPr>
        <p:spPr>
          <a:xfrm>
            <a:off x="9551277" y="5637836"/>
            <a:ext cx="2421515" cy="11757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toLocaleString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toTimeString</a:t>
            </a:r>
            <a:endParaRPr lang="ru-RU" sz="2000" i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toUTCString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159736683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Встроенный объект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Array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30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66B86C-F1E9-E6F6-C012-E6CC3E6642B5}"/>
              </a:ext>
            </a:extLst>
          </p:cNvPr>
          <p:cNvSpPr/>
          <p:nvPr/>
        </p:nvSpPr>
        <p:spPr>
          <a:xfrm>
            <a:off x="364755" y="771829"/>
            <a:ext cx="11277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Объект </a:t>
            </a:r>
            <a:r>
              <a:rPr lang="en-US" sz="2000" b="1" dirty="0">
                <a:solidFill>
                  <a:srgbClr val="C00000"/>
                </a:solidFill>
              </a:rPr>
              <a:t>Array (</a:t>
            </a:r>
            <a:r>
              <a:rPr lang="ru-RU" sz="2000" b="1" dirty="0">
                <a:solidFill>
                  <a:srgbClr val="C00000"/>
                </a:solidFill>
              </a:rPr>
              <a:t>массив</a:t>
            </a:r>
            <a:r>
              <a:rPr lang="en-US" sz="2000" b="1" dirty="0">
                <a:solidFill>
                  <a:srgbClr val="C00000"/>
                </a:solidFill>
              </a:rPr>
              <a:t>) – </a:t>
            </a:r>
            <a:r>
              <a:rPr lang="ru-RU" sz="2000" b="1" dirty="0"/>
              <a:t>используется для хранения нескольких значений в одной переменной.</a:t>
            </a:r>
            <a:endParaRPr lang="pt-BR" sz="2000" b="1" dirty="0"/>
          </a:p>
          <a:p>
            <a:pPr algn="just"/>
            <a:endParaRPr lang="ru-RU" sz="2000" b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7681719A-4CE0-C59B-6536-5C98B5DAE13D}"/>
              </a:ext>
            </a:extLst>
          </p:cNvPr>
          <p:cNvSpPr/>
          <p:nvPr/>
        </p:nvSpPr>
        <p:spPr>
          <a:xfrm>
            <a:off x="397838" y="1343055"/>
            <a:ext cx="419100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i="1" dirty="0"/>
              <a:t>var myArray = new Array(1, 2, 3);</a:t>
            </a:r>
          </a:p>
          <a:p>
            <a:r>
              <a:rPr lang="en-US" sz="2000" b="1" i="1" dirty="0"/>
              <a:t>for(var </a:t>
            </a:r>
            <a:r>
              <a:rPr lang="en-US" sz="2000" b="1" i="1" dirty="0" err="1"/>
              <a:t>i</a:t>
            </a:r>
            <a:r>
              <a:rPr lang="en-US" sz="2000" b="1" i="1" dirty="0"/>
              <a:t>=0; </a:t>
            </a:r>
            <a:r>
              <a:rPr lang="en-US" sz="2000" b="1" i="1" dirty="0" err="1"/>
              <a:t>i</a:t>
            </a:r>
            <a:r>
              <a:rPr lang="en-US" sz="2000" b="1" i="1" dirty="0"/>
              <a:t>&lt;myArray.length; </a:t>
            </a:r>
            <a:r>
              <a:rPr lang="en-US" sz="2000" b="1" i="1" dirty="0" err="1"/>
              <a:t>i</a:t>
            </a:r>
            <a:r>
              <a:rPr lang="en-US" sz="2000" b="1" i="1" dirty="0"/>
              <a:t>++) {</a:t>
            </a:r>
          </a:p>
          <a:p>
            <a:r>
              <a:rPr lang="en-US" sz="2000" b="1" i="1" dirty="0"/>
              <a:t>   console.log(myArray[</a:t>
            </a:r>
            <a:r>
              <a:rPr lang="en-US" sz="2000" b="1" i="1" dirty="0" err="1"/>
              <a:t>i</a:t>
            </a:r>
            <a:r>
              <a:rPr lang="en-US" sz="2000" b="1" i="1" dirty="0"/>
              <a:t>]);</a:t>
            </a:r>
          </a:p>
          <a:p>
            <a:r>
              <a:rPr lang="en-US" sz="2000" b="1" i="1" dirty="0"/>
              <a:t>}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9541CF8B-CF12-259E-2BFE-788895D379C0}"/>
              </a:ext>
            </a:extLst>
          </p:cNvPr>
          <p:cNvSpPr/>
          <p:nvPr/>
        </p:nvSpPr>
        <p:spPr>
          <a:xfrm>
            <a:off x="9548064" y="1604665"/>
            <a:ext cx="209429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Методы массива: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82AAE4E-5899-2716-4038-0EC562F78F68}"/>
              </a:ext>
            </a:extLst>
          </p:cNvPr>
          <p:cNvSpPr/>
          <p:nvPr/>
        </p:nvSpPr>
        <p:spPr>
          <a:xfrm>
            <a:off x="9548064" y="2019928"/>
            <a:ext cx="2246098" cy="44996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pop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push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shift</a:t>
            </a: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unshift</a:t>
            </a: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endParaRPr lang="en-US" sz="2000" i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sort</a:t>
            </a: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Reverse</a:t>
            </a: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endParaRPr lang="en-US" sz="2000" i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slice</a:t>
            </a: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splice</a:t>
            </a: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endParaRPr lang="en-US" sz="2000" i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en-US" sz="2000" i="1" dirty="0" err="1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indexOf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68F77A-979A-DECC-B469-225E7206287E}"/>
              </a:ext>
            </a:extLst>
          </p:cNvPr>
          <p:cNvSpPr txBox="1"/>
          <p:nvPr/>
        </p:nvSpPr>
        <p:spPr>
          <a:xfrm>
            <a:off x="4155707" y="2156886"/>
            <a:ext cx="60976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/>
              <a:t>const names = ['Jack', 'Laura', 'Paul', 'Megan'];</a:t>
            </a:r>
          </a:p>
          <a:p>
            <a:r>
              <a:rPr lang="en-US" sz="2000" b="1" i="1" dirty="0" err="1"/>
              <a:t>names.push</a:t>
            </a:r>
            <a:r>
              <a:rPr lang="en-US" sz="2000" b="1" i="1" dirty="0"/>
              <a:t>('Jill'); // =&gt; 5</a:t>
            </a:r>
          </a:p>
          <a:p>
            <a:r>
              <a:rPr lang="en-US" sz="2000" b="1" i="1" dirty="0"/>
              <a:t>names;</a:t>
            </a:r>
          </a:p>
          <a:p>
            <a:r>
              <a:rPr lang="en-US" sz="2000" b="1" i="1" dirty="0"/>
              <a:t>// =&gt; ['Jack', 'Laura', 'Paul', 'Megan', 'Jill']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AF71CEA-CEED-249C-466D-419846CACC85}"/>
              </a:ext>
            </a:extLst>
          </p:cNvPr>
          <p:cNvSpPr txBox="1"/>
          <p:nvPr/>
        </p:nvSpPr>
        <p:spPr>
          <a:xfrm>
            <a:off x="397838" y="3669630"/>
            <a:ext cx="60976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/>
              <a:t>const names = ['Jack', 'Laura', 'Paul', 'Megan'];</a:t>
            </a:r>
          </a:p>
          <a:p>
            <a:r>
              <a:rPr lang="en-US" sz="2000" b="1" i="1" dirty="0" err="1"/>
              <a:t>names.shift</a:t>
            </a:r>
            <a:r>
              <a:rPr lang="en-US" sz="2000" b="1" i="1" dirty="0"/>
              <a:t>(); // =&gt; 'Jack'</a:t>
            </a:r>
          </a:p>
          <a:p>
            <a:r>
              <a:rPr lang="en-US" sz="2000" b="1" i="1" dirty="0"/>
              <a:t>names;</a:t>
            </a:r>
          </a:p>
          <a:p>
            <a:r>
              <a:rPr lang="en-US" sz="2000" b="1" i="1" dirty="0"/>
              <a:t>// =&gt; ['Laura', 'Paul', 'Megan']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7A1CBA1-A4E1-87E4-5EBD-C0FE960AE88A}"/>
              </a:ext>
            </a:extLst>
          </p:cNvPr>
          <p:cNvSpPr txBox="1"/>
          <p:nvPr/>
        </p:nvSpPr>
        <p:spPr>
          <a:xfrm>
            <a:off x="4155707" y="5145181"/>
            <a:ext cx="60976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i="1" dirty="0"/>
              <a:t>const names = ['Jack', 'Laura', 'Paul', 'Megan'];</a:t>
            </a:r>
          </a:p>
          <a:p>
            <a:r>
              <a:rPr lang="en-US" sz="2000" b="1" i="1" dirty="0" err="1"/>
              <a:t>names.splice</a:t>
            </a:r>
            <a:r>
              <a:rPr lang="en-US" sz="2000" b="1" i="1" dirty="0"/>
              <a:t>(2, 1, 'Jill'); // =&gt; ['Paul']</a:t>
            </a:r>
          </a:p>
          <a:p>
            <a:r>
              <a:rPr lang="en-US" sz="2000" b="1" i="1" dirty="0"/>
              <a:t>names;</a:t>
            </a:r>
          </a:p>
          <a:p>
            <a:r>
              <a:rPr lang="en-US" sz="2000" b="1" i="1" dirty="0"/>
              <a:t>// =&gt; ['Jack', 'Laura', 'Jill', 'Megan']</a:t>
            </a:r>
            <a:endParaRPr lang="ru-RU" sz="2000" b="1" i="1" dirty="0"/>
          </a:p>
        </p:txBody>
      </p:sp>
    </p:spTree>
    <p:extLst>
      <p:ext uri="{BB962C8B-B14F-4D97-AF65-F5344CB8AC3E}">
        <p14:creationId xmlns:p14="http://schemas.microsoft.com/office/powerpoint/2010/main" val="15788522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Встроенный объект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Math</a:t>
            </a:r>
            <a:endParaRPr lang="ru-RU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31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A69127-9E24-EB16-E43B-613E201AEBAE}"/>
              </a:ext>
            </a:extLst>
          </p:cNvPr>
          <p:cNvSpPr/>
          <p:nvPr/>
        </p:nvSpPr>
        <p:spPr>
          <a:xfrm>
            <a:off x="230347" y="843141"/>
            <a:ext cx="112776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Объект </a:t>
            </a:r>
            <a:r>
              <a:rPr lang="en-US" sz="2000" b="1" dirty="0">
                <a:solidFill>
                  <a:srgbClr val="C00000"/>
                </a:solidFill>
              </a:rPr>
              <a:t>Math – </a:t>
            </a:r>
            <a:r>
              <a:rPr lang="ru-RU" sz="2000" b="1" dirty="0"/>
              <a:t>используется для выполнения математических функций.</a:t>
            </a:r>
            <a:endParaRPr lang="pt-BR" sz="2000" b="1" dirty="0"/>
          </a:p>
          <a:p>
            <a:pPr algn="just"/>
            <a:endParaRPr lang="ru-RU" sz="2000" b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3CC965DE-BCED-F0C8-DD67-E6B9147CCF6D}"/>
              </a:ext>
            </a:extLst>
          </p:cNvPr>
          <p:cNvSpPr/>
          <p:nvPr/>
        </p:nvSpPr>
        <p:spPr>
          <a:xfrm>
            <a:off x="230347" y="1845999"/>
            <a:ext cx="4191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var pi = Math.PI;</a:t>
            </a:r>
          </a:p>
          <a:p>
            <a:r>
              <a:rPr lang="en-US" b="1" i="1" dirty="0"/>
              <a:t>console.log(pi);</a:t>
            </a:r>
          </a:p>
          <a:p>
            <a:r>
              <a:rPr lang="en-US" b="1" i="1" dirty="0"/>
              <a:t>//3.141592653589793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E97D00F4-073F-7451-4921-C334A7F1A8C9}"/>
              </a:ext>
            </a:extLst>
          </p:cNvPr>
          <p:cNvSpPr/>
          <p:nvPr/>
        </p:nvSpPr>
        <p:spPr>
          <a:xfrm>
            <a:off x="5193435" y="2021678"/>
            <a:ext cx="113864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Методы: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CB4310C-2DD9-7079-4701-7499E760C431}"/>
              </a:ext>
            </a:extLst>
          </p:cNvPr>
          <p:cNvSpPr/>
          <p:nvPr/>
        </p:nvSpPr>
        <p:spPr>
          <a:xfrm>
            <a:off x="10058400" y="2123117"/>
            <a:ext cx="1770398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i="1" dirty="0"/>
              <a:t>E</a:t>
            </a:r>
            <a:endParaRPr lang="ru-RU" sz="2000" dirty="0"/>
          </a:p>
          <a:p>
            <a:r>
              <a:rPr lang="ru-RU" sz="2000" i="1" dirty="0"/>
              <a:t>LN2</a:t>
            </a:r>
            <a:endParaRPr lang="ru-RU" sz="2000" dirty="0"/>
          </a:p>
          <a:p>
            <a:r>
              <a:rPr lang="en-US" sz="2000" i="1" dirty="0"/>
              <a:t>LN</a:t>
            </a:r>
            <a:r>
              <a:rPr lang="ru-RU" sz="2000" i="1" dirty="0"/>
              <a:t>10</a:t>
            </a:r>
            <a:endParaRPr lang="ru-RU" sz="2000" dirty="0"/>
          </a:p>
          <a:p>
            <a:r>
              <a:rPr lang="en-US" sz="2000" i="1" dirty="0"/>
              <a:t>LOG</a:t>
            </a:r>
            <a:r>
              <a:rPr lang="ru-RU" sz="2000" i="1" dirty="0"/>
              <a:t>2</a:t>
            </a:r>
            <a:r>
              <a:rPr lang="en-US" sz="2000" i="1" dirty="0"/>
              <a:t>E</a:t>
            </a:r>
            <a:endParaRPr lang="ru-RU" sz="2000" dirty="0"/>
          </a:p>
          <a:p>
            <a:r>
              <a:rPr lang="en-US" sz="2000" i="1" dirty="0"/>
              <a:t>LOG</a:t>
            </a:r>
            <a:r>
              <a:rPr lang="ru-RU" sz="2000" i="1" dirty="0"/>
              <a:t>10</a:t>
            </a:r>
            <a:r>
              <a:rPr lang="en-US" sz="2000" i="1" dirty="0"/>
              <a:t>E</a:t>
            </a:r>
            <a:endParaRPr lang="ru-RU" sz="2000" dirty="0"/>
          </a:p>
          <a:p>
            <a:r>
              <a:rPr lang="en-US" sz="2000" i="1" dirty="0"/>
              <a:t>PI</a:t>
            </a:r>
            <a:endParaRPr lang="ru-RU" sz="2000" dirty="0"/>
          </a:p>
          <a:p>
            <a:r>
              <a:rPr lang="en-US" sz="2000" i="1" dirty="0"/>
              <a:t>SQRT</a:t>
            </a:r>
            <a:r>
              <a:rPr lang="ru-RU" sz="2000" i="1" dirty="0"/>
              <a:t>1_2</a:t>
            </a:r>
            <a:endParaRPr lang="ru-RU" sz="2000" dirty="0"/>
          </a:p>
          <a:p>
            <a:r>
              <a:rPr lang="ru-RU" sz="2000" i="1" dirty="0"/>
              <a:t>SQRT2</a:t>
            </a:r>
            <a:endParaRPr lang="ru-RU" sz="20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E04F304E-22CA-4401-1691-3CAC38696DA1}"/>
              </a:ext>
            </a:extLst>
          </p:cNvPr>
          <p:cNvSpPr/>
          <p:nvPr/>
        </p:nvSpPr>
        <p:spPr>
          <a:xfrm>
            <a:off x="2857500" y="1497568"/>
            <a:ext cx="574683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Создать экземпляр этого объекта нельзя!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9070B4E-1D99-0300-235F-F699A2808206}"/>
              </a:ext>
            </a:extLst>
          </p:cNvPr>
          <p:cNvSpPr/>
          <p:nvPr/>
        </p:nvSpPr>
        <p:spPr>
          <a:xfrm>
            <a:off x="9241265" y="1713131"/>
            <a:ext cx="24476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Свойства-константы: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31DAA6BB-8C6F-AFC7-6AB9-2EDC129FB730}"/>
              </a:ext>
            </a:extLst>
          </p:cNvPr>
          <p:cNvSpPr/>
          <p:nvPr/>
        </p:nvSpPr>
        <p:spPr>
          <a:xfrm>
            <a:off x="3288435" y="2436435"/>
            <a:ext cx="5181600" cy="40626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 err="1"/>
              <a:t>abs</a:t>
            </a:r>
            <a:r>
              <a:rPr lang="ru-RU" sz="2000" dirty="0"/>
              <a:t> (абсолютное значение числа)</a:t>
            </a:r>
          </a:p>
          <a:p>
            <a:r>
              <a:rPr lang="ru-RU" sz="2000" dirty="0" err="1"/>
              <a:t>acos</a:t>
            </a:r>
            <a:r>
              <a:rPr lang="ru-RU" sz="2000" dirty="0"/>
              <a:t> (арккосинус)</a:t>
            </a:r>
          </a:p>
          <a:p>
            <a:r>
              <a:rPr lang="ru-RU" sz="2000" dirty="0" err="1"/>
              <a:t>asin</a:t>
            </a:r>
            <a:r>
              <a:rPr lang="ru-RU" sz="2000" dirty="0"/>
              <a:t> (арксинус)</a:t>
            </a:r>
          </a:p>
          <a:p>
            <a:r>
              <a:rPr lang="ru-RU" sz="2000" dirty="0" err="1"/>
              <a:t>atan</a:t>
            </a:r>
            <a:r>
              <a:rPr lang="ru-RU" sz="2000" dirty="0"/>
              <a:t> (арктангенс)</a:t>
            </a:r>
          </a:p>
          <a:p>
            <a:r>
              <a:rPr lang="ru-RU" sz="2000" dirty="0"/>
              <a:t>atan2 (арктангенс, зависящий от двух аргументов)</a:t>
            </a:r>
          </a:p>
          <a:p>
            <a:r>
              <a:rPr lang="ru-RU" sz="2000" dirty="0" err="1"/>
              <a:t>cos</a:t>
            </a:r>
            <a:r>
              <a:rPr lang="ru-RU" sz="2000" dirty="0"/>
              <a:t> (косинус)</a:t>
            </a:r>
          </a:p>
          <a:p>
            <a:r>
              <a:rPr lang="ru-RU" sz="2000" dirty="0" err="1"/>
              <a:t>exp</a:t>
            </a:r>
            <a:r>
              <a:rPr lang="ru-RU" sz="2000" dirty="0"/>
              <a:t> (экспонента)</a:t>
            </a:r>
          </a:p>
          <a:p>
            <a:r>
              <a:rPr lang="ru-RU" sz="2000" dirty="0" err="1"/>
              <a:t>log</a:t>
            </a:r>
            <a:r>
              <a:rPr lang="ru-RU" sz="2000" dirty="0"/>
              <a:t> (натуральный логарифм числа)</a:t>
            </a:r>
          </a:p>
          <a:p>
            <a:r>
              <a:rPr lang="ru-RU" sz="2000" dirty="0" err="1"/>
              <a:t>pow</a:t>
            </a:r>
            <a:r>
              <a:rPr lang="ru-RU" sz="2000" dirty="0"/>
              <a:t> (значение x в степени y)</a:t>
            </a:r>
          </a:p>
          <a:p>
            <a:r>
              <a:rPr lang="ru-RU" sz="2000" dirty="0" err="1"/>
              <a:t>sin</a:t>
            </a:r>
            <a:r>
              <a:rPr lang="ru-RU" sz="2000" dirty="0"/>
              <a:t> (синус)</a:t>
            </a:r>
          </a:p>
          <a:p>
            <a:r>
              <a:rPr lang="ru-RU" sz="2000" dirty="0" err="1"/>
              <a:t>sqrt</a:t>
            </a:r>
            <a:r>
              <a:rPr lang="ru-RU" sz="2000" dirty="0"/>
              <a:t> (квадратный корень)</a:t>
            </a:r>
          </a:p>
          <a:p>
            <a:r>
              <a:rPr lang="ru-RU" sz="2000" dirty="0" err="1"/>
              <a:t>tan</a:t>
            </a:r>
            <a:r>
              <a:rPr lang="ru-RU" sz="2000" dirty="0"/>
              <a:t> (тангенс угла)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3A9AF25A-13F8-DD42-0E00-342DAF4F8D07}"/>
              </a:ext>
            </a:extLst>
          </p:cNvPr>
          <p:cNvSpPr/>
          <p:nvPr/>
        </p:nvSpPr>
        <p:spPr>
          <a:xfrm>
            <a:off x="6837257" y="5805847"/>
            <a:ext cx="231520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/>
              <a:t>ceil, floor, round</a:t>
            </a:r>
          </a:p>
          <a:p>
            <a:r>
              <a:rPr lang="en-US" sz="2000" dirty="0"/>
              <a:t>min, max, random</a:t>
            </a:r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287619489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Преобразование типов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32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8499DD7-0501-A0E0-6901-BB1F344CFFFC}"/>
              </a:ext>
            </a:extLst>
          </p:cNvPr>
          <p:cNvSpPr/>
          <p:nvPr/>
        </p:nvSpPr>
        <p:spPr>
          <a:xfrm>
            <a:off x="424873" y="846818"/>
            <a:ext cx="112776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>
                <a:solidFill>
                  <a:srgbClr val="C00000"/>
                </a:solidFill>
              </a:rPr>
              <a:t>JavaScript</a:t>
            </a:r>
            <a:r>
              <a:rPr lang="ru-RU" sz="2400" dirty="0">
                <a:solidFill>
                  <a:srgbClr val="C00000"/>
                </a:solidFill>
              </a:rPr>
              <a:t> — это </a:t>
            </a:r>
            <a:r>
              <a:rPr lang="ru-RU" sz="2400" b="1" i="1" dirty="0">
                <a:solidFill>
                  <a:srgbClr val="C00000"/>
                </a:solidFill>
              </a:rPr>
              <a:t>динамически типизированный язык</a:t>
            </a:r>
            <a:r>
              <a:rPr lang="ru-RU" sz="2400" dirty="0">
                <a:solidFill>
                  <a:srgbClr val="C00000"/>
                </a:solidFill>
              </a:rPr>
              <a:t>. </a:t>
            </a:r>
            <a:endParaRPr lang="ru-RU" sz="2400" b="1" dirty="0">
              <a:solidFill>
                <a:srgbClr val="C00000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8B790EA-F9C3-1687-C7F2-5F89B8811F1D}"/>
              </a:ext>
            </a:extLst>
          </p:cNvPr>
          <p:cNvSpPr/>
          <p:nvPr/>
        </p:nvSpPr>
        <p:spPr>
          <a:xfrm>
            <a:off x="838200" y="1600200"/>
            <a:ext cx="228774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b="1" i="1" dirty="0"/>
              <a:t>var answer = 42;</a:t>
            </a:r>
          </a:p>
          <a:p>
            <a:r>
              <a:rPr lang="en-US" b="1" i="1" dirty="0"/>
              <a:t>answer = "Thanks</a:t>
            </a:r>
            <a:r>
              <a:rPr lang="ru-RU" b="1" i="1" dirty="0"/>
              <a:t> </a:t>
            </a:r>
            <a:r>
              <a:rPr lang="en-US" b="1" i="1" dirty="0"/>
              <a:t>...";</a:t>
            </a:r>
            <a:endParaRPr lang="ru-RU" b="1" i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7DCD556-4946-C5F9-C83F-0FAA933C6470}"/>
              </a:ext>
            </a:extLst>
          </p:cNvPr>
          <p:cNvSpPr/>
          <p:nvPr/>
        </p:nvSpPr>
        <p:spPr>
          <a:xfrm>
            <a:off x="3657600" y="1600200"/>
            <a:ext cx="8382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Намеренное преобразование типов (Number(value)) - это называется </a:t>
            </a:r>
            <a:r>
              <a:rPr lang="ru-RU" sz="2400" b="1" i="1" dirty="0"/>
              <a:t>явным преобразованием типов</a:t>
            </a:r>
            <a:r>
              <a:rPr lang="ru-RU" sz="2000" dirty="0"/>
              <a:t> (или type casting).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822C86D5-0214-6615-798A-B1FF4C82900D}"/>
              </a:ext>
            </a:extLst>
          </p:cNvPr>
          <p:cNvSpPr/>
          <p:nvPr/>
        </p:nvSpPr>
        <p:spPr>
          <a:xfrm>
            <a:off x="3600262" y="2994222"/>
            <a:ext cx="83820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Преобразование между разными типами может происходить автоматически, и это называется </a:t>
            </a:r>
            <a:r>
              <a:rPr lang="ru-RU" sz="2000" b="1" dirty="0"/>
              <a:t>неявным преобразованием типов</a:t>
            </a:r>
            <a:r>
              <a:rPr lang="ru-RU" sz="2000" dirty="0"/>
              <a:t>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A3B6447-A5D2-1FA4-061F-DB9ED85BFA5B}"/>
              </a:ext>
            </a:extLst>
          </p:cNvPr>
          <p:cNvSpPr/>
          <p:nvPr/>
        </p:nvSpPr>
        <p:spPr>
          <a:xfrm>
            <a:off x="424873" y="2442931"/>
            <a:ext cx="635077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dirty="0">
                <a:solidFill>
                  <a:srgbClr val="C00000"/>
                </a:solidFill>
              </a:rPr>
              <a:t>JavaScript — это </a:t>
            </a:r>
            <a:r>
              <a:rPr lang="ru-RU" sz="2400" b="1" i="1" dirty="0">
                <a:solidFill>
                  <a:srgbClr val="C00000"/>
                </a:solidFill>
              </a:rPr>
              <a:t>слабо типизированный язык.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473D46C9-828A-BE20-57F4-28D3A4AC2E1B}"/>
              </a:ext>
            </a:extLst>
          </p:cNvPr>
          <p:cNvSpPr/>
          <p:nvPr/>
        </p:nvSpPr>
        <p:spPr>
          <a:xfrm>
            <a:off x="3464560" y="3732809"/>
            <a:ext cx="7432040" cy="15081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15900" algn="just">
              <a:lnSpc>
                <a:spcPct val="120000"/>
              </a:lnSpc>
              <a:spcAft>
                <a:spcPts val="0"/>
              </a:spcAft>
            </a:pPr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 JavaScript существует всего 3 типа преобразования:</a:t>
            </a:r>
          </a:p>
          <a:p>
            <a:pPr marL="285750" lvl="0" indent="-285750" algn="just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строковое</a:t>
            </a:r>
          </a:p>
          <a:p>
            <a:pPr marL="285750" lvl="0" indent="-285750" algn="just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булевое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sz="2000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численное</a:t>
            </a:r>
            <a:endParaRPr lang="ru-RU" sz="2000" dirty="0"/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B4D4063B-FF40-B20B-53AC-4540EE7B6FA8}"/>
              </a:ext>
            </a:extLst>
          </p:cNvPr>
          <p:cNvSpPr/>
          <p:nvPr/>
        </p:nvSpPr>
        <p:spPr>
          <a:xfrm>
            <a:off x="706120" y="3030075"/>
            <a:ext cx="1823897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1 == null </a:t>
            </a:r>
            <a:endParaRPr lang="ru-RU" b="1" i="1" dirty="0"/>
          </a:p>
          <a:p>
            <a:r>
              <a:rPr lang="en-US" b="1" i="1" dirty="0"/>
              <a:t>2 / `5`</a:t>
            </a:r>
            <a:endParaRPr lang="ru-RU" b="1" i="1" dirty="0"/>
          </a:p>
          <a:p>
            <a:r>
              <a:rPr lang="en-US" b="1" i="1" dirty="0"/>
              <a:t>null + new Date()</a:t>
            </a:r>
            <a:endParaRPr lang="ru-RU" b="1" i="1" dirty="0"/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E1D61D2C-A5EB-DCA2-D6F6-6685AFFA4C72}"/>
              </a:ext>
            </a:extLst>
          </p:cNvPr>
          <p:cNvSpPr/>
          <p:nvPr/>
        </p:nvSpPr>
        <p:spPr>
          <a:xfrm>
            <a:off x="6151840" y="6307138"/>
            <a:ext cx="474476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>
                <a:solidFill>
                  <a:srgbClr val="C00000"/>
                </a:solidFill>
              </a:rPr>
              <a:t>NaN не равен ничему, даже самому себе!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B9577622-250C-C3D3-DAD9-975CA1214CEE}"/>
              </a:ext>
            </a:extLst>
          </p:cNvPr>
          <p:cNvSpPr/>
          <p:nvPr/>
        </p:nvSpPr>
        <p:spPr>
          <a:xfrm>
            <a:off x="679651" y="5610246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dirty="0">
                <a:solidFill>
                  <a:srgbClr val="C00000"/>
                </a:solidFill>
              </a:rPr>
              <a:t>null может равняться только null или undefined, и ничему другому – никаких преобразований не происходит!</a:t>
            </a:r>
          </a:p>
        </p:txBody>
      </p:sp>
    </p:spTree>
    <p:extLst>
      <p:ext uri="{BB962C8B-B14F-4D97-AF65-F5344CB8AC3E}">
        <p14:creationId xmlns:p14="http://schemas.microsoft.com/office/powerpoint/2010/main" val="200368783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Приведение к строке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33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7690DA3-0582-2F36-C7A7-C83059993E40}"/>
              </a:ext>
            </a:extLst>
          </p:cNvPr>
          <p:cNvSpPr/>
          <p:nvPr/>
        </p:nvSpPr>
        <p:spPr>
          <a:xfrm>
            <a:off x="208134" y="3358223"/>
            <a:ext cx="3857466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i="1" dirty="0"/>
              <a:t>String(123) // explicit</a:t>
            </a:r>
          </a:p>
          <a:p>
            <a:r>
              <a:rPr lang="en-US" sz="2000" b="1" i="1" dirty="0"/>
              <a:t>123 + ''    // implicit</a:t>
            </a:r>
            <a:endParaRPr lang="ru-RU" sz="2000" b="1" i="1" dirty="0"/>
          </a:p>
          <a:p>
            <a:endParaRPr lang="ru-RU" sz="2000" b="1" i="1" dirty="0"/>
          </a:p>
          <a:p>
            <a:r>
              <a:rPr lang="en-US" sz="2000" b="1" i="1" dirty="0"/>
              <a:t>String(123)                   // '123'</a:t>
            </a:r>
          </a:p>
          <a:p>
            <a:r>
              <a:rPr lang="en-US" sz="2000" b="1" i="1" dirty="0"/>
              <a:t>String(-12.3)                 // '-12.3'</a:t>
            </a:r>
          </a:p>
          <a:p>
            <a:r>
              <a:rPr lang="en-US" sz="2000" b="1" i="1" dirty="0"/>
              <a:t>String(null)                  // 'null'</a:t>
            </a:r>
          </a:p>
          <a:p>
            <a:r>
              <a:rPr lang="en-US" sz="2000" b="1" i="1" dirty="0"/>
              <a:t>String(undefined)      // 'undefined'</a:t>
            </a:r>
          </a:p>
          <a:p>
            <a:r>
              <a:rPr lang="en-US" sz="2000" b="1" i="1" dirty="0"/>
              <a:t>String(true)                  // 'true'</a:t>
            </a:r>
          </a:p>
          <a:p>
            <a:r>
              <a:rPr lang="en-US" sz="2000" b="1" i="1" dirty="0"/>
              <a:t>String(false)                 // 'false'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52386B4-EC79-BC80-31FC-27BAC8481DD6}"/>
              </a:ext>
            </a:extLst>
          </p:cNvPr>
          <p:cNvSpPr/>
          <p:nvPr/>
        </p:nvSpPr>
        <p:spPr>
          <a:xfrm>
            <a:off x="4264683" y="3226907"/>
            <a:ext cx="80772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Для явного приведения значения к строке необходимо применить к нему функцию String().</a:t>
            </a:r>
          </a:p>
          <a:p>
            <a:endParaRPr lang="ru-RU" sz="2400" dirty="0"/>
          </a:p>
          <a:p>
            <a:r>
              <a:rPr lang="ru-RU" sz="2400" dirty="0"/>
              <a:t>Неявное преобразование будет вызвано бинарным оператором +, кода один из операндов является строкой.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F9E9F227-6DDF-080E-84F6-8B69A2557B9A}"/>
              </a:ext>
            </a:extLst>
          </p:cNvPr>
          <p:cNvSpPr/>
          <p:nvPr/>
        </p:nvSpPr>
        <p:spPr>
          <a:xfrm>
            <a:off x="4775917" y="5787183"/>
            <a:ext cx="730859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i="1" dirty="0"/>
              <a:t>String(Symbol('</a:t>
            </a:r>
            <a:r>
              <a:rPr lang="ru-RU" sz="2000" b="1" i="1" dirty="0" err="1"/>
              <a:t>my</a:t>
            </a:r>
            <a:r>
              <a:rPr lang="ru-RU" sz="2000" b="1" i="1" dirty="0"/>
              <a:t> symbol'))   // 'Symbol(</a:t>
            </a:r>
            <a:r>
              <a:rPr lang="ru-RU" sz="2000" b="1" i="1" dirty="0" err="1"/>
              <a:t>my</a:t>
            </a:r>
            <a:r>
              <a:rPr lang="ru-RU" sz="2000" b="1" i="1" dirty="0"/>
              <a:t> symbol)'</a:t>
            </a:r>
          </a:p>
          <a:p>
            <a:r>
              <a:rPr lang="ru-RU" sz="2000" b="1" i="1" dirty="0"/>
              <a:t>'' + Symbol('</a:t>
            </a:r>
            <a:r>
              <a:rPr lang="ru-RU" sz="2000" b="1" i="1" dirty="0" err="1"/>
              <a:t>my</a:t>
            </a:r>
            <a:r>
              <a:rPr lang="ru-RU" sz="2000" b="1" i="1" dirty="0"/>
              <a:t> symbol')      // TypeError </a:t>
            </a:r>
            <a:r>
              <a:rPr lang="ru-RU" sz="2000" b="1" i="1" dirty="0" err="1"/>
              <a:t>is</a:t>
            </a:r>
            <a:r>
              <a:rPr lang="ru-RU" sz="2000" b="1" i="1" dirty="0"/>
              <a:t> </a:t>
            </a:r>
            <a:r>
              <a:rPr lang="ru-RU" sz="2000" b="1" i="1" dirty="0" err="1"/>
              <a:t>thrown</a:t>
            </a:r>
            <a:endParaRPr lang="ru-RU" sz="2000" b="1" i="1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CDEEF5B-3701-CA47-AFCA-6E56465D8A5C}"/>
              </a:ext>
            </a:extLst>
          </p:cNvPr>
          <p:cNvSpPr/>
          <p:nvPr/>
        </p:nvSpPr>
        <p:spPr>
          <a:xfrm>
            <a:off x="4264683" y="5165899"/>
            <a:ext cx="7819833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800" b="1" dirty="0">
                <a:solidFill>
                  <a:srgbClr val="C00000"/>
                </a:solidFill>
              </a:rPr>
              <a:t>Символы преобразуются только явным образом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FDF032-E9CB-0A4E-977E-5517BDE4C06E}"/>
              </a:ext>
            </a:extLst>
          </p:cNvPr>
          <p:cNvSpPr txBox="1"/>
          <p:nvPr/>
        </p:nvSpPr>
        <p:spPr>
          <a:xfrm>
            <a:off x="208134" y="1685856"/>
            <a:ext cx="264587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 err="1">
                <a:solidFill>
                  <a:srgbClr val="C00000"/>
                </a:solidFill>
              </a:rPr>
              <a:t>let</a:t>
            </a:r>
            <a:r>
              <a:rPr lang="ru-RU" sz="2000" b="1" i="1" dirty="0">
                <a:solidFill>
                  <a:srgbClr val="C00000"/>
                </a:solidFill>
              </a:rPr>
              <a:t> a = '123’;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30A0BC-5AB0-66FA-741B-E32EF34116A0}"/>
              </a:ext>
            </a:extLst>
          </p:cNvPr>
          <p:cNvSpPr txBox="1"/>
          <p:nvPr/>
        </p:nvSpPr>
        <p:spPr>
          <a:xfrm>
            <a:off x="208134" y="2275274"/>
            <a:ext cx="520206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 err="1"/>
              <a:t>alert</a:t>
            </a:r>
            <a:r>
              <a:rPr lang="ru-RU" sz="2000" b="1" i="1" dirty="0"/>
              <a:t>('2' * '3'); // выведет 6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AF552D1-6885-47CB-8AC7-DE79CA31DFCD}"/>
              </a:ext>
            </a:extLst>
          </p:cNvPr>
          <p:cNvSpPr txBox="1"/>
          <p:nvPr/>
        </p:nvSpPr>
        <p:spPr>
          <a:xfrm>
            <a:off x="209583" y="2780505"/>
            <a:ext cx="559463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 err="1"/>
              <a:t>alert</a:t>
            </a:r>
            <a:r>
              <a:rPr lang="ru-RU" sz="2000" b="1" i="1" dirty="0"/>
              <a:t>('2' * '3s'); // выведет </a:t>
            </a:r>
            <a:r>
              <a:rPr lang="ru-RU" sz="2000" b="1" i="1" dirty="0" err="1"/>
              <a:t>NaN</a:t>
            </a:r>
            <a:endParaRPr lang="ru-RU" sz="2000" b="1" i="1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5AD5F4E-037C-6C58-2EDF-FC1F9D59C5FD}"/>
              </a:ext>
            </a:extLst>
          </p:cNvPr>
          <p:cNvSpPr txBox="1"/>
          <p:nvPr/>
        </p:nvSpPr>
        <p:spPr>
          <a:xfrm>
            <a:off x="2772229" y="814121"/>
            <a:ext cx="931228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 err="1"/>
              <a:t>let</a:t>
            </a:r>
            <a:r>
              <a:rPr lang="ru-RU" sz="2000" b="1" i="1" dirty="0"/>
              <a:t> a = '1' + '2'; </a:t>
            </a:r>
            <a:r>
              <a:rPr lang="ru-RU" sz="2000" b="1" i="1" dirty="0" err="1"/>
              <a:t>alert</a:t>
            </a:r>
            <a:r>
              <a:rPr lang="ru-RU" sz="2000" b="1" i="1" dirty="0"/>
              <a:t>(a); // выведет '12' - произошло сложение строк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BEB608E-F3E4-E086-963E-BA22C664F7C7}"/>
              </a:ext>
            </a:extLst>
          </p:cNvPr>
          <p:cNvSpPr txBox="1"/>
          <p:nvPr/>
        </p:nvSpPr>
        <p:spPr>
          <a:xfrm>
            <a:off x="2772229" y="1294262"/>
            <a:ext cx="61177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 err="1"/>
              <a:t>let</a:t>
            </a:r>
            <a:r>
              <a:rPr lang="ru-RU" sz="2000" b="1" i="1" dirty="0"/>
              <a:t> a = 1 + '2'; </a:t>
            </a:r>
            <a:r>
              <a:rPr lang="ru-RU" sz="2000" b="1" i="1" dirty="0" err="1"/>
              <a:t>alert</a:t>
            </a:r>
            <a:r>
              <a:rPr lang="ru-RU" sz="2000" b="1" i="1" dirty="0"/>
              <a:t>(a); // выведет '12’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976622-5A2E-3569-EEAB-8F26E59B14C7}"/>
              </a:ext>
            </a:extLst>
          </p:cNvPr>
          <p:cNvSpPr txBox="1"/>
          <p:nvPr/>
        </p:nvSpPr>
        <p:spPr>
          <a:xfrm>
            <a:off x="2746829" y="1755752"/>
            <a:ext cx="61685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 err="1"/>
              <a:t>let</a:t>
            </a:r>
            <a:r>
              <a:rPr lang="ru-RU" sz="2000" b="1" i="1" dirty="0"/>
              <a:t> a = '1' + (2 + 3); </a:t>
            </a:r>
            <a:r>
              <a:rPr lang="ru-RU" sz="2000" b="1" i="1" dirty="0" err="1"/>
              <a:t>alert</a:t>
            </a:r>
            <a:r>
              <a:rPr lang="ru-RU" sz="2000" b="1" i="1" dirty="0"/>
              <a:t>(a); // выведет '15’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31F69D3-B96D-D64A-051B-F64ADFC6ED42}"/>
              </a:ext>
            </a:extLst>
          </p:cNvPr>
          <p:cNvSpPr txBox="1"/>
          <p:nvPr/>
        </p:nvSpPr>
        <p:spPr>
          <a:xfrm>
            <a:off x="5804222" y="2260983"/>
            <a:ext cx="61685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 err="1"/>
              <a:t>let</a:t>
            </a:r>
            <a:r>
              <a:rPr lang="ru-RU" sz="2000" b="1" i="1" dirty="0"/>
              <a:t> a = 2 + 3 + '1'; </a:t>
            </a:r>
            <a:r>
              <a:rPr lang="ru-RU" sz="2000" b="1" i="1" dirty="0" err="1"/>
              <a:t>alert</a:t>
            </a:r>
            <a:r>
              <a:rPr lang="ru-RU" sz="2000" b="1" i="1" dirty="0"/>
              <a:t>(a); // выведет '51'</a:t>
            </a:r>
          </a:p>
        </p:txBody>
      </p:sp>
    </p:spTree>
    <p:extLst>
      <p:ext uri="{BB962C8B-B14F-4D97-AF65-F5344CB8AC3E}">
        <p14:creationId xmlns:p14="http://schemas.microsoft.com/office/powerpoint/2010/main" val="32659554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FE3BE1-36D6-A1A3-BF5D-095D6EEA3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35C223-0B69-BA85-A2AB-87876CAA5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D53BAB-BB20-6EA3-6762-448E8C39EECF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42F78EC0-0E57-5796-DA9E-694B5E172D09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33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6838415E-F93F-4BEE-6D64-D5B3259389FB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72DDBB-ACEA-FEEA-5739-53733AD999E4}"/>
              </a:ext>
            </a:extLst>
          </p:cNvPr>
          <p:cNvSpPr txBox="1"/>
          <p:nvPr/>
        </p:nvSpPr>
        <p:spPr>
          <a:xfrm>
            <a:off x="290286" y="7434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1" dirty="0"/>
              <a:t>Определите, что выведется на экран: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185C6A-A450-AF89-306A-2ADB6F544793}"/>
              </a:ext>
            </a:extLst>
          </p:cNvPr>
          <p:cNvSpPr txBox="1"/>
          <p:nvPr/>
        </p:nvSpPr>
        <p:spPr>
          <a:xfrm>
            <a:off x="144994" y="1573483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1</a:t>
            </a:r>
            <a:endParaRPr lang="ru-RU" sz="7200" dirty="0">
              <a:solidFill>
                <a:srgbClr val="C00000"/>
              </a:solidFill>
            </a:endParaRPr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C6081500-88CD-6104-E042-AF89E74D5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3977" y="1334941"/>
            <a:ext cx="5172023" cy="1677414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5C58A336-B72E-9967-2D27-3EE625AC24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5577" y="4081415"/>
            <a:ext cx="5070423" cy="181261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7001404D-FAC6-046C-7CEF-08E808B1A0E7}"/>
              </a:ext>
            </a:extLst>
          </p:cNvPr>
          <p:cNvSpPr txBox="1"/>
          <p:nvPr/>
        </p:nvSpPr>
        <p:spPr>
          <a:xfrm>
            <a:off x="224974" y="4328319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2</a:t>
            </a:r>
            <a:endParaRPr lang="ru-RU" sz="7200" dirty="0">
              <a:solidFill>
                <a:srgbClr val="C00000"/>
              </a:solidFill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BCD547BC-C39B-FE2A-1DF6-271B84E458A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58880" y="1336429"/>
            <a:ext cx="4920343" cy="1675926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0531546-2FBE-64FF-1A1E-CE0F35D206F7}"/>
              </a:ext>
            </a:extLst>
          </p:cNvPr>
          <p:cNvSpPr txBox="1"/>
          <p:nvPr/>
        </p:nvSpPr>
        <p:spPr>
          <a:xfrm>
            <a:off x="6424099" y="1573483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3</a:t>
            </a:r>
            <a:endParaRPr lang="ru-RU" sz="7200" dirty="0">
              <a:solidFill>
                <a:srgbClr val="C00000"/>
              </a:solidFill>
            </a:endParaRPr>
          </a:p>
        </p:txBody>
      </p:sp>
      <p:pic>
        <p:nvPicPr>
          <p:cNvPr id="34" name="Рисунок 33">
            <a:extLst>
              <a:ext uri="{FF2B5EF4-FFF2-40B4-BE49-F238E27FC236}">
                <a16:creationId xmlns:a16="http://schemas.microsoft.com/office/drawing/2014/main" id="{2C6015AB-7592-EDD1-A06B-76BCA2F2DE1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19185" y="4211590"/>
            <a:ext cx="5060436" cy="1666242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DFF21BD7-5A7B-4AAE-39F5-977A12694A97}"/>
              </a:ext>
            </a:extLst>
          </p:cNvPr>
          <p:cNvSpPr txBox="1"/>
          <p:nvPr/>
        </p:nvSpPr>
        <p:spPr>
          <a:xfrm>
            <a:off x="6409585" y="4387557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4</a:t>
            </a:r>
            <a:endParaRPr lang="ru-RU" sz="7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6044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Численное преобразование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35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750B232-43C9-6516-F40F-5BE99E89B5B4}"/>
              </a:ext>
            </a:extLst>
          </p:cNvPr>
          <p:cNvSpPr/>
          <p:nvPr/>
        </p:nvSpPr>
        <p:spPr>
          <a:xfrm>
            <a:off x="5726061" y="4158616"/>
            <a:ext cx="265919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i="1" dirty="0"/>
              <a:t>Number('123')   // explicit</a:t>
            </a:r>
            <a:endParaRPr lang="ru-RU" b="1" i="1" dirty="0"/>
          </a:p>
          <a:p>
            <a:endParaRPr lang="en-US" b="1" i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BB7B3EA-5B21-6990-8E93-8A8FCE833AA8}"/>
              </a:ext>
            </a:extLst>
          </p:cNvPr>
          <p:cNvSpPr/>
          <p:nvPr/>
        </p:nvSpPr>
        <p:spPr>
          <a:xfrm>
            <a:off x="279400" y="762240"/>
            <a:ext cx="1225368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Для явного преобразования к числу нужно применить функцию Number().</a:t>
            </a:r>
          </a:p>
          <a:p>
            <a:r>
              <a:rPr lang="ru-RU" sz="2000" dirty="0"/>
              <a:t>Неявное преобразование происходит во множестве случаев: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5682EEE-876E-8528-2FB2-448E8AAD9BD4}"/>
              </a:ext>
            </a:extLst>
          </p:cNvPr>
          <p:cNvSpPr/>
          <p:nvPr/>
        </p:nvSpPr>
        <p:spPr>
          <a:xfrm>
            <a:off x="3951796" y="1470126"/>
            <a:ext cx="8400473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операторы сравнения (&gt;, &lt;, &lt;=,&gt;=)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бинарные операторы (| &amp; ^ ~)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арифметические операторы (- + * / % ). Бинарный оператор + не вызывает численного преобразования, если один из операндов является строкой.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унарный оператор +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9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оператор нестрогого равенства == (включая !=). Данный оператор не вызывает численное преобразование, если оба операнда являются строками.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47E12AD-A871-AF13-CF20-B3D86F6CCED7}"/>
              </a:ext>
            </a:extLst>
          </p:cNvPr>
          <p:cNvSpPr/>
          <p:nvPr/>
        </p:nvSpPr>
        <p:spPr>
          <a:xfrm>
            <a:off x="5926539" y="5357096"/>
            <a:ext cx="2458712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+'123'          // implicit</a:t>
            </a:r>
          </a:p>
          <a:p>
            <a:r>
              <a:rPr lang="ru-RU" b="1" i="1" dirty="0"/>
              <a:t>123 != '456'    // implicit</a:t>
            </a:r>
          </a:p>
          <a:p>
            <a:r>
              <a:rPr lang="ru-RU" b="1" i="1" dirty="0"/>
              <a:t>4 &gt; '5'         // implicit</a:t>
            </a:r>
          </a:p>
          <a:p>
            <a:r>
              <a:rPr lang="ru-RU" b="1" i="1" dirty="0"/>
              <a:t>5/null          // implicit</a:t>
            </a:r>
          </a:p>
          <a:p>
            <a:r>
              <a:rPr lang="ru-RU" b="1" i="1" dirty="0"/>
              <a:t>true | 0        // implicit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29370CD-4A1A-8F19-A174-C60D4EB16016}"/>
              </a:ext>
            </a:extLst>
          </p:cNvPr>
          <p:cNvSpPr/>
          <p:nvPr/>
        </p:nvSpPr>
        <p:spPr>
          <a:xfrm>
            <a:off x="8618469" y="4272677"/>
            <a:ext cx="37338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Number(null)                    // 0</a:t>
            </a:r>
          </a:p>
          <a:p>
            <a:r>
              <a:rPr lang="ru-RU" b="1" i="1" dirty="0"/>
              <a:t>Number(undefined)        // NaN</a:t>
            </a:r>
          </a:p>
          <a:p>
            <a:r>
              <a:rPr lang="ru-RU" b="1" i="1" dirty="0"/>
              <a:t>Number(true)                   // 1</a:t>
            </a:r>
          </a:p>
          <a:p>
            <a:r>
              <a:rPr lang="ru-RU" b="1" i="1" dirty="0"/>
              <a:t>Number(false)                  // 0</a:t>
            </a:r>
          </a:p>
          <a:p>
            <a:r>
              <a:rPr lang="ru-RU" b="1" i="1" dirty="0"/>
              <a:t>Number(" 12 ")                 // 12</a:t>
            </a:r>
          </a:p>
          <a:p>
            <a:r>
              <a:rPr lang="ru-RU" b="1" i="1" dirty="0"/>
              <a:t>Number("-12.34")            // -12.34</a:t>
            </a:r>
          </a:p>
          <a:p>
            <a:r>
              <a:rPr lang="ru-RU" b="1" i="1" dirty="0"/>
              <a:t>Number("\n")                   // 0</a:t>
            </a:r>
          </a:p>
          <a:p>
            <a:r>
              <a:rPr lang="ru-RU" b="1" i="1" dirty="0"/>
              <a:t>Number(" 12s ")                // NaN</a:t>
            </a:r>
          </a:p>
          <a:p>
            <a:r>
              <a:rPr lang="ru-RU" b="1" i="1" dirty="0"/>
              <a:t>Number(123)                    // 123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85FCCF79-ACAC-2567-3212-3342BFA072F6}"/>
              </a:ext>
            </a:extLst>
          </p:cNvPr>
          <p:cNvSpPr/>
          <p:nvPr/>
        </p:nvSpPr>
        <p:spPr>
          <a:xfrm>
            <a:off x="203200" y="6057468"/>
            <a:ext cx="502368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Численное преобразование, как явное, так и неявное, не работает для символов!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F417838-3340-BAFC-03F7-43B1D783C7E3}"/>
              </a:ext>
            </a:extLst>
          </p:cNvPr>
          <p:cNvSpPr txBox="1"/>
          <p:nvPr/>
        </p:nvSpPr>
        <p:spPr>
          <a:xfrm>
            <a:off x="177937" y="1855738"/>
            <a:ext cx="35361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 err="1"/>
              <a:t>let</a:t>
            </a:r>
            <a:r>
              <a:rPr lang="ru-RU" sz="2000" b="1" i="1" dirty="0"/>
              <a:t> a = '2';</a:t>
            </a:r>
          </a:p>
          <a:p>
            <a:r>
              <a:rPr lang="ru-RU" sz="2000" b="1" i="1" dirty="0" err="1"/>
              <a:t>let</a:t>
            </a:r>
            <a:r>
              <a:rPr lang="ru-RU" sz="2000" b="1" i="1" dirty="0"/>
              <a:t> b = '3';</a:t>
            </a:r>
          </a:p>
          <a:p>
            <a:r>
              <a:rPr lang="ru-RU" sz="2000" b="1" i="1" dirty="0" err="1"/>
              <a:t>alert</a:t>
            </a:r>
            <a:r>
              <a:rPr lang="ru-RU" sz="2000" b="1" i="1" dirty="0"/>
              <a:t>(a + b); // выведет '23'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92892D-210A-55D3-A09E-9DDB611504BB}"/>
              </a:ext>
            </a:extLst>
          </p:cNvPr>
          <p:cNvSpPr txBox="1"/>
          <p:nvPr/>
        </p:nvSpPr>
        <p:spPr>
          <a:xfrm>
            <a:off x="168157" y="3441523"/>
            <a:ext cx="627017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 err="1"/>
              <a:t>let</a:t>
            </a:r>
            <a:r>
              <a:rPr lang="ru-RU" sz="2000" b="1" i="1" dirty="0"/>
              <a:t> a = '2’; </a:t>
            </a:r>
            <a:endParaRPr lang="en-US" sz="2000" b="1" i="1" dirty="0"/>
          </a:p>
          <a:p>
            <a:r>
              <a:rPr lang="ru-RU" sz="2000" b="1" i="1" dirty="0" err="1"/>
              <a:t>let</a:t>
            </a:r>
            <a:r>
              <a:rPr lang="ru-RU" sz="2000" b="1" i="1" dirty="0"/>
              <a:t> b = '3’; </a:t>
            </a:r>
            <a:endParaRPr lang="en-US" sz="2000" b="1" i="1" dirty="0"/>
          </a:p>
          <a:p>
            <a:r>
              <a:rPr lang="ru-RU" sz="2000" b="1" i="1" dirty="0" err="1"/>
              <a:t>alert</a:t>
            </a:r>
            <a:r>
              <a:rPr lang="ru-RU" sz="2000" b="1" i="1" dirty="0"/>
              <a:t>(Number(a) + Number(b)); // выведет 5</a:t>
            </a:r>
            <a:endParaRPr lang="en-US" sz="2000" b="1" i="1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2B0408D-E750-6017-99A2-40489E334690}"/>
              </a:ext>
            </a:extLst>
          </p:cNvPr>
          <p:cNvSpPr txBox="1"/>
          <p:nvPr/>
        </p:nvSpPr>
        <p:spPr>
          <a:xfrm>
            <a:off x="102712" y="4679878"/>
            <a:ext cx="750012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1" dirty="0" err="1"/>
              <a:t>let</a:t>
            </a:r>
            <a:r>
              <a:rPr lang="ru-RU" sz="2000" b="1" i="1" dirty="0"/>
              <a:t> a = Number('2'); // в переменную запишется число 2 </a:t>
            </a:r>
            <a:endParaRPr lang="en-US" sz="2000" b="1" i="1" dirty="0"/>
          </a:p>
          <a:p>
            <a:r>
              <a:rPr lang="ru-RU" sz="2000" b="1" i="1" dirty="0" err="1"/>
              <a:t>let</a:t>
            </a:r>
            <a:r>
              <a:rPr lang="ru-RU" sz="2000" b="1" i="1" dirty="0"/>
              <a:t> b = Number('3'); // в переменную запишется число 3 </a:t>
            </a:r>
            <a:endParaRPr lang="en-US" sz="2000" b="1" i="1" dirty="0"/>
          </a:p>
          <a:p>
            <a:r>
              <a:rPr lang="ru-RU" sz="2000" b="1" i="1" dirty="0" err="1"/>
              <a:t>alert</a:t>
            </a:r>
            <a:r>
              <a:rPr lang="ru-RU" sz="2000" b="1" i="1" dirty="0"/>
              <a:t>(a + b); // выведет 5</a:t>
            </a:r>
          </a:p>
        </p:txBody>
      </p:sp>
    </p:spTree>
    <p:extLst>
      <p:ext uri="{BB962C8B-B14F-4D97-AF65-F5344CB8AC3E}">
        <p14:creationId xmlns:p14="http://schemas.microsoft.com/office/powerpoint/2010/main" val="361951749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A0C5FE9-62E1-F7D0-4AE3-27B80D5F7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8C322F-FFD1-B618-3B78-A3B747AD2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383A94-ECB1-2417-F04A-08E9E68BC8AB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CCC042DA-A2C2-4CA6-21DE-7EC4625BD22B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36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8CF8DB37-C817-C751-0D6B-737A5FFD1FAD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3EF5B13-4A1C-C215-D43C-7061776E7164}"/>
              </a:ext>
            </a:extLst>
          </p:cNvPr>
          <p:cNvSpPr txBox="1"/>
          <p:nvPr/>
        </p:nvSpPr>
        <p:spPr>
          <a:xfrm>
            <a:off x="290286" y="7434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1" dirty="0"/>
              <a:t>Определите, что выведется на экран: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3151A7B-AF41-E694-10D6-97E44D6D4497}"/>
              </a:ext>
            </a:extLst>
          </p:cNvPr>
          <p:cNvSpPr txBox="1"/>
          <p:nvPr/>
        </p:nvSpPr>
        <p:spPr>
          <a:xfrm>
            <a:off x="224974" y="1170246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1</a:t>
            </a:r>
            <a:endParaRPr lang="ru-RU" sz="7200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DDB68CA-EC69-00EA-1668-D5F796FF927F}"/>
              </a:ext>
            </a:extLst>
          </p:cNvPr>
          <p:cNvSpPr txBox="1"/>
          <p:nvPr/>
        </p:nvSpPr>
        <p:spPr>
          <a:xfrm>
            <a:off x="239489" y="2184553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2</a:t>
            </a:r>
            <a:endParaRPr lang="ru-RU" sz="7200" dirty="0">
              <a:solidFill>
                <a:srgbClr val="C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307BBE1-E36D-60E2-11EE-D721D6DE970C}"/>
              </a:ext>
            </a:extLst>
          </p:cNvPr>
          <p:cNvSpPr txBox="1"/>
          <p:nvPr/>
        </p:nvSpPr>
        <p:spPr>
          <a:xfrm>
            <a:off x="254004" y="3187228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3</a:t>
            </a:r>
            <a:endParaRPr lang="ru-RU" sz="7200" dirty="0">
              <a:solidFill>
                <a:srgbClr val="C00000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E634D21-DF73-B47C-3391-29DF096AA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94" y="1460718"/>
            <a:ext cx="9392536" cy="65420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E0A99EFA-D4A0-4877-2134-33068747A2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094" y="2439590"/>
            <a:ext cx="7592821" cy="69025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D4F2C312-1ED5-8C00-C460-41C5DA182C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094" y="3494600"/>
            <a:ext cx="8918115" cy="69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481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23B8A6-40DF-7B9C-9DBF-970F7A2048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AEB2D5C-40D5-1A4A-111C-7290B52BE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Выделение чисел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EF47A34-9D35-EE06-886D-83A2B3BEC6B2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9AF151C9-2AFC-4BD3-5C32-3E56CD264667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37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CE99B39-DAD7-5DB6-037C-1679661FD673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9E45C9BA-F7CF-594F-2CA9-8749114BB9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6317" y="1056525"/>
            <a:ext cx="7736815" cy="256282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26CE767-EB82-4AE7-09C9-59CAE1519E30}"/>
              </a:ext>
            </a:extLst>
          </p:cNvPr>
          <p:cNvSpPr txBox="1"/>
          <p:nvPr/>
        </p:nvSpPr>
        <p:spPr>
          <a:xfrm>
            <a:off x="246317" y="3994835"/>
            <a:ext cx="513848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ru-RU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</a:t>
            </a:r>
            <a:r>
              <a:rPr lang="ru-RU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ru-RU" sz="24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parseInt</a:t>
            </a:r>
            <a:r>
              <a:rPr lang="ru-RU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('12.5px’); </a:t>
            </a:r>
          </a:p>
          <a:p>
            <a:r>
              <a:rPr lang="ru-RU" sz="24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ru-RU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24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</a:t>
            </a:r>
            <a:r>
              <a:rPr lang="ru-RU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// все равно выведет 12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5ACA45-799B-17B2-901E-6025ACC440C9}"/>
              </a:ext>
            </a:extLst>
          </p:cNvPr>
          <p:cNvSpPr txBox="1"/>
          <p:nvPr/>
        </p:nvSpPr>
        <p:spPr>
          <a:xfrm>
            <a:off x="6312221" y="3994834"/>
            <a:ext cx="566057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let</a:t>
            </a:r>
            <a:r>
              <a:rPr lang="ru-RU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24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</a:t>
            </a:r>
            <a:r>
              <a:rPr lang="ru-RU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= </a:t>
            </a:r>
            <a:r>
              <a:rPr lang="ru-RU" sz="24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parseFloat</a:t>
            </a:r>
            <a:r>
              <a:rPr lang="ru-RU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('12.5px’); </a:t>
            </a:r>
          </a:p>
          <a:p>
            <a:r>
              <a:rPr lang="ru-RU" sz="24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ru-RU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24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num</a:t>
            </a:r>
            <a:r>
              <a:rPr lang="ru-RU" sz="24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// выведет 12.5</a:t>
            </a:r>
          </a:p>
        </p:txBody>
      </p:sp>
    </p:spTree>
    <p:extLst>
      <p:ext uri="{BB962C8B-B14F-4D97-AF65-F5344CB8AC3E}">
        <p14:creationId xmlns:p14="http://schemas.microsoft.com/office/powerpoint/2010/main" val="87326820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5B303FB-C6BF-97B9-0099-AA13F51CD8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B7193E-AD82-73B7-0F63-27BB8D2E93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Преобразование к строке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BA57F9-E925-2114-7247-B40A8626D61A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B1E13E73-1DE1-28CD-8ECE-0525519E44E0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38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E94F6DBF-A025-49D9-46DB-B31CBF3CF3F2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B6A2C2-3812-F716-5C9E-F948CED4B82A}"/>
              </a:ext>
            </a:extLst>
          </p:cNvPr>
          <p:cNvSpPr txBox="1"/>
          <p:nvPr/>
        </p:nvSpPr>
        <p:spPr>
          <a:xfrm>
            <a:off x="435429" y="835736"/>
            <a:ext cx="793931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/>
              <a:t>let</a:t>
            </a:r>
            <a:r>
              <a:rPr lang="ru-RU" sz="2400" b="1" dirty="0"/>
              <a:t> </a:t>
            </a:r>
            <a:r>
              <a:rPr lang="ru-RU" sz="2400" b="1" dirty="0" err="1"/>
              <a:t>str</a:t>
            </a:r>
            <a:r>
              <a:rPr lang="ru-RU" sz="2400" b="1" dirty="0"/>
              <a:t> = </a:t>
            </a:r>
            <a:r>
              <a:rPr lang="ru-RU" sz="2400" b="1" dirty="0" err="1"/>
              <a:t>String</a:t>
            </a:r>
            <a:r>
              <a:rPr lang="ru-RU" sz="2400" b="1" dirty="0"/>
              <a:t>(123); // теперь в переменной строка '123’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DD8EF2-03BA-A494-42B8-A54E82403008}"/>
              </a:ext>
            </a:extLst>
          </p:cNvPr>
          <p:cNvSpPr txBox="1"/>
          <p:nvPr/>
        </p:nvSpPr>
        <p:spPr>
          <a:xfrm>
            <a:off x="435429" y="1774149"/>
            <a:ext cx="60960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/>
              <a:t>let</a:t>
            </a:r>
            <a:r>
              <a:rPr lang="ru-RU" sz="2400" b="1" dirty="0"/>
              <a:t> </a:t>
            </a:r>
            <a:r>
              <a:rPr lang="ru-RU" sz="2400" b="1" dirty="0" err="1"/>
              <a:t>num</a:t>
            </a:r>
            <a:r>
              <a:rPr lang="ru-RU" sz="2400" b="1" dirty="0"/>
              <a:t> = 12345; </a:t>
            </a:r>
          </a:p>
          <a:p>
            <a:r>
              <a:rPr lang="ru-RU" sz="2400" b="1" dirty="0" err="1"/>
              <a:t>alert</a:t>
            </a:r>
            <a:r>
              <a:rPr lang="ru-RU" sz="2400" b="1" dirty="0"/>
              <a:t>(</a:t>
            </a:r>
            <a:r>
              <a:rPr lang="ru-RU" sz="2400" b="1" dirty="0" err="1"/>
              <a:t>num.length</a:t>
            </a:r>
            <a:r>
              <a:rPr lang="ru-RU" sz="2400" b="1" dirty="0"/>
              <a:t>); // выведет undefined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62124-C502-D617-EAEC-FBC2F3424DC8}"/>
              </a:ext>
            </a:extLst>
          </p:cNvPr>
          <p:cNvSpPr txBox="1"/>
          <p:nvPr/>
        </p:nvSpPr>
        <p:spPr>
          <a:xfrm>
            <a:off x="435429" y="2982750"/>
            <a:ext cx="834571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/>
              <a:t>let</a:t>
            </a:r>
            <a:r>
              <a:rPr lang="ru-RU" sz="2400" b="1" dirty="0"/>
              <a:t> </a:t>
            </a:r>
            <a:r>
              <a:rPr lang="ru-RU" sz="2400" b="1" dirty="0" err="1"/>
              <a:t>num</a:t>
            </a:r>
            <a:r>
              <a:rPr lang="ru-RU" sz="2400" b="1" dirty="0"/>
              <a:t> = 12345; </a:t>
            </a:r>
          </a:p>
          <a:p>
            <a:r>
              <a:rPr lang="ru-RU" sz="2400" b="1" dirty="0" err="1"/>
              <a:t>let</a:t>
            </a:r>
            <a:r>
              <a:rPr lang="ru-RU" sz="2400" b="1" dirty="0"/>
              <a:t> </a:t>
            </a:r>
            <a:r>
              <a:rPr lang="ru-RU" sz="2400" b="1" dirty="0" err="1"/>
              <a:t>str</a:t>
            </a:r>
            <a:r>
              <a:rPr lang="ru-RU" sz="2400" b="1" dirty="0"/>
              <a:t> = </a:t>
            </a:r>
            <a:r>
              <a:rPr lang="ru-RU" sz="2400" b="1" dirty="0" err="1"/>
              <a:t>String</a:t>
            </a:r>
            <a:r>
              <a:rPr lang="ru-RU" sz="2400" b="1" dirty="0"/>
              <a:t>(</a:t>
            </a:r>
            <a:r>
              <a:rPr lang="ru-RU" sz="2400" b="1" dirty="0" err="1"/>
              <a:t>num</a:t>
            </a:r>
            <a:r>
              <a:rPr lang="ru-RU" sz="2400" b="1" dirty="0"/>
              <a:t>); // преобразуем наше число к строке </a:t>
            </a:r>
          </a:p>
          <a:p>
            <a:r>
              <a:rPr lang="ru-RU" sz="2400" b="1" dirty="0" err="1"/>
              <a:t>alert</a:t>
            </a:r>
            <a:r>
              <a:rPr lang="ru-RU" sz="2400" b="1" dirty="0"/>
              <a:t>(</a:t>
            </a:r>
            <a:r>
              <a:rPr lang="ru-RU" sz="2400" b="1" dirty="0" err="1"/>
              <a:t>str.length</a:t>
            </a:r>
            <a:r>
              <a:rPr lang="ru-RU" sz="2400" b="1" dirty="0"/>
              <a:t>); // найдем длину строки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9DF058-6A5F-CFEC-BBA2-7191FADEEE86}"/>
              </a:ext>
            </a:extLst>
          </p:cNvPr>
          <p:cNvSpPr txBox="1"/>
          <p:nvPr/>
        </p:nvSpPr>
        <p:spPr>
          <a:xfrm>
            <a:off x="435429" y="4491360"/>
            <a:ext cx="74168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 err="1"/>
              <a:t>let</a:t>
            </a:r>
            <a:r>
              <a:rPr lang="ru-RU" sz="2400" b="1" dirty="0"/>
              <a:t> </a:t>
            </a:r>
            <a:r>
              <a:rPr lang="ru-RU" sz="2400" b="1" dirty="0" err="1"/>
              <a:t>num</a:t>
            </a:r>
            <a:r>
              <a:rPr lang="ru-RU" sz="2400" b="1" dirty="0"/>
              <a:t> = 12345; </a:t>
            </a:r>
          </a:p>
          <a:p>
            <a:r>
              <a:rPr lang="ru-RU" sz="2400" b="1" dirty="0" err="1"/>
              <a:t>alert</a:t>
            </a:r>
            <a:r>
              <a:rPr lang="ru-RU" sz="2400" b="1" dirty="0"/>
              <a:t>(</a:t>
            </a:r>
            <a:r>
              <a:rPr lang="ru-RU" sz="2400" b="1" dirty="0" err="1"/>
              <a:t>String</a:t>
            </a:r>
            <a:r>
              <a:rPr lang="ru-RU" sz="2400" b="1" dirty="0"/>
              <a:t>(</a:t>
            </a:r>
            <a:r>
              <a:rPr lang="ru-RU" sz="2400" b="1" dirty="0" err="1"/>
              <a:t>num</a:t>
            </a:r>
            <a:r>
              <a:rPr lang="ru-RU" sz="2400" b="1" dirty="0"/>
              <a:t>).</a:t>
            </a:r>
            <a:r>
              <a:rPr lang="ru-RU" sz="2400" b="1" dirty="0" err="1"/>
              <a:t>length</a:t>
            </a:r>
            <a:r>
              <a:rPr lang="ru-RU" sz="2400" b="1" dirty="0"/>
              <a:t>); // найдем длину строки</a:t>
            </a:r>
          </a:p>
        </p:txBody>
      </p:sp>
    </p:spTree>
    <p:extLst>
      <p:ext uri="{BB962C8B-B14F-4D97-AF65-F5344CB8AC3E}">
        <p14:creationId xmlns:p14="http://schemas.microsoft.com/office/powerpoint/2010/main" val="101896899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Булевое</a:t>
            </a:r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преобразование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39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528A278-C565-4FF8-469C-5159F8D525EE}"/>
              </a:ext>
            </a:extLst>
          </p:cNvPr>
          <p:cNvSpPr/>
          <p:nvPr/>
        </p:nvSpPr>
        <p:spPr>
          <a:xfrm>
            <a:off x="206909" y="789005"/>
            <a:ext cx="4856158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i="1" dirty="0"/>
              <a:t>Boolean(2)          // explicit</a:t>
            </a:r>
            <a:endParaRPr lang="ru-RU" b="1" i="1" dirty="0"/>
          </a:p>
          <a:p>
            <a:endParaRPr lang="ru-RU" b="1" i="1" dirty="0"/>
          </a:p>
          <a:p>
            <a:endParaRPr lang="ru-RU" b="1" i="1" dirty="0"/>
          </a:p>
          <a:p>
            <a:endParaRPr lang="ru-RU" b="1" i="1" dirty="0"/>
          </a:p>
          <a:p>
            <a:r>
              <a:rPr lang="en-US" b="1" i="1" dirty="0"/>
              <a:t>if (2) { ... }      // implicit due to logical context</a:t>
            </a:r>
          </a:p>
          <a:p>
            <a:r>
              <a:rPr lang="en-US" b="1" i="1" dirty="0"/>
              <a:t>!!2                 // implicit due to logical operator</a:t>
            </a:r>
          </a:p>
          <a:p>
            <a:r>
              <a:rPr lang="en-US" b="1" i="1" dirty="0"/>
              <a:t>2 || 'hello'        // implicit due to logical operator</a:t>
            </a:r>
          </a:p>
          <a:p>
            <a:endParaRPr lang="ru-RU" b="1" i="1" dirty="0"/>
          </a:p>
          <a:p>
            <a:endParaRPr lang="ru-RU" b="1" i="1" dirty="0"/>
          </a:p>
          <a:p>
            <a:endParaRPr lang="ru-RU" b="1" i="1" dirty="0"/>
          </a:p>
          <a:p>
            <a:endParaRPr lang="en-US" b="1" i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2277374-66C3-A7B5-21D8-66A5E60DCC78}"/>
              </a:ext>
            </a:extLst>
          </p:cNvPr>
          <p:cNvSpPr/>
          <p:nvPr/>
        </p:nvSpPr>
        <p:spPr>
          <a:xfrm>
            <a:off x="5063067" y="777400"/>
            <a:ext cx="7049024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/>
              <a:t>Для явного преобразования к булевому значению, нужно применить функцию Boolean().</a:t>
            </a:r>
          </a:p>
          <a:p>
            <a:endParaRPr lang="ru-RU" sz="2400" dirty="0"/>
          </a:p>
          <a:p>
            <a:r>
              <a:rPr lang="ru-RU" sz="2400" dirty="0"/>
              <a:t>Неявное преобразование происходит в логическом контексте if (</a:t>
            </a:r>
            <a:r>
              <a:rPr lang="ru-RU" sz="2400" dirty="0" err="1"/>
              <a:t>val</a:t>
            </a:r>
            <a:r>
              <a:rPr lang="ru-RU" sz="2400" dirty="0"/>
              <a:t>) { … } или при применении логических операторов (|| &amp;&amp; !).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54AE9B65-68C3-7A9B-ABAD-418142193E3D}"/>
              </a:ext>
            </a:extLst>
          </p:cNvPr>
          <p:cNvSpPr/>
          <p:nvPr/>
        </p:nvSpPr>
        <p:spPr>
          <a:xfrm>
            <a:off x="5715000" y="3669145"/>
            <a:ext cx="585730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b="1" i="1" dirty="0"/>
              <a:t>String(Symbol('</a:t>
            </a:r>
            <a:r>
              <a:rPr lang="ru-RU" b="1" i="1" dirty="0" err="1"/>
              <a:t>my</a:t>
            </a:r>
            <a:r>
              <a:rPr lang="ru-RU" b="1" i="1" dirty="0"/>
              <a:t> symbol'))   // 'Symbol(</a:t>
            </a:r>
            <a:r>
              <a:rPr lang="ru-RU" b="1" i="1" dirty="0" err="1"/>
              <a:t>my</a:t>
            </a:r>
            <a:r>
              <a:rPr lang="ru-RU" b="1" i="1" dirty="0"/>
              <a:t> symbol)'</a:t>
            </a:r>
          </a:p>
          <a:p>
            <a:r>
              <a:rPr lang="ru-RU" b="1" i="1" dirty="0"/>
              <a:t>'' + Symbol('</a:t>
            </a:r>
            <a:r>
              <a:rPr lang="ru-RU" b="1" i="1" dirty="0" err="1"/>
              <a:t>my</a:t>
            </a:r>
            <a:r>
              <a:rPr lang="ru-RU" b="1" i="1" dirty="0"/>
              <a:t> symbol')      // TypeError </a:t>
            </a:r>
            <a:r>
              <a:rPr lang="ru-RU" b="1" i="1" dirty="0" err="1"/>
              <a:t>is</a:t>
            </a:r>
            <a:r>
              <a:rPr lang="ru-RU" b="1" i="1" dirty="0"/>
              <a:t> </a:t>
            </a:r>
            <a:r>
              <a:rPr lang="ru-RU" b="1" i="1" dirty="0" err="1"/>
              <a:t>thrown</a:t>
            </a:r>
            <a:endParaRPr lang="ru-RU" b="1" i="1" dirty="0"/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D0B397A4-1D7D-4408-F3EE-6430AFCF1D4E}"/>
              </a:ext>
            </a:extLst>
          </p:cNvPr>
          <p:cNvSpPr/>
          <p:nvPr/>
        </p:nvSpPr>
        <p:spPr>
          <a:xfrm>
            <a:off x="5257800" y="3059545"/>
            <a:ext cx="67272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Символы преобразуются только явным образом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2CD14E8-6207-5C64-BD65-941794AC1482}"/>
              </a:ext>
            </a:extLst>
          </p:cNvPr>
          <p:cNvSpPr/>
          <p:nvPr/>
        </p:nvSpPr>
        <p:spPr>
          <a:xfrm>
            <a:off x="6160158" y="4463411"/>
            <a:ext cx="3072084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Boolean('') </a:t>
            </a:r>
            <a:endParaRPr lang="en-US" dirty="0"/>
          </a:p>
          <a:p>
            <a:r>
              <a:rPr lang="ru-RU" dirty="0"/>
              <a:t>Boolean(0)</a:t>
            </a:r>
          </a:p>
          <a:p>
            <a:r>
              <a:rPr lang="ru-RU" dirty="0"/>
              <a:t>Boolean(-0)</a:t>
            </a:r>
            <a:endParaRPr lang="en-US" dirty="0"/>
          </a:p>
          <a:p>
            <a:r>
              <a:rPr lang="ru-RU" dirty="0"/>
              <a:t> Boolean(NaN) </a:t>
            </a:r>
            <a:endParaRPr lang="en-US" dirty="0"/>
          </a:p>
          <a:p>
            <a:r>
              <a:rPr lang="ru-RU" dirty="0"/>
              <a:t>Boolean(null) </a:t>
            </a:r>
            <a:endParaRPr lang="en-US" dirty="0"/>
          </a:p>
          <a:p>
            <a:r>
              <a:rPr lang="ru-RU" dirty="0"/>
              <a:t>Boolean(undefined) </a:t>
            </a:r>
            <a:endParaRPr lang="en-US" dirty="0"/>
          </a:p>
          <a:p>
            <a:r>
              <a:rPr lang="ru-RU" dirty="0"/>
              <a:t>Boolean(false)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9F62668C-5C17-3AC5-4911-6D74D5FDF079}"/>
              </a:ext>
            </a:extLst>
          </p:cNvPr>
          <p:cNvSpPr/>
          <p:nvPr/>
        </p:nvSpPr>
        <p:spPr>
          <a:xfrm>
            <a:off x="9013291" y="4715636"/>
            <a:ext cx="297180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Boolean({}) </a:t>
            </a:r>
            <a:endParaRPr lang="en-US" dirty="0"/>
          </a:p>
          <a:p>
            <a:r>
              <a:rPr lang="ru-RU" dirty="0"/>
              <a:t>Boolean([]) </a:t>
            </a:r>
            <a:endParaRPr lang="en-US" dirty="0"/>
          </a:p>
          <a:p>
            <a:r>
              <a:rPr lang="ru-RU" dirty="0"/>
              <a:t>Boolean(Symbol())</a:t>
            </a:r>
            <a:endParaRPr lang="en-US" dirty="0"/>
          </a:p>
          <a:p>
            <a:r>
              <a:rPr lang="ru-RU" dirty="0"/>
              <a:t>!!Symbol()</a:t>
            </a:r>
          </a:p>
          <a:p>
            <a:r>
              <a:rPr lang="ru-RU" dirty="0"/>
              <a:t>Boolean(</a:t>
            </a:r>
            <a:r>
              <a:rPr lang="ru-RU" dirty="0" err="1"/>
              <a:t>function</a:t>
            </a:r>
            <a:r>
              <a:rPr lang="ru-RU" dirty="0"/>
              <a:t>() {})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B8B21EB-9CC6-1CE9-7D0E-546858C4E2D3}"/>
              </a:ext>
            </a:extLst>
          </p:cNvPr>
          <p:cNvSpPr txBox="1"/>
          <p:nvPr/>
        </p:nvSpPr>
        <p:spPr>
          <a:xfrm>
            <a:off x="206909" y="3242041"/>
            <a:ext cx="470375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ru-RU" sz="2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20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ru-RU" sz="2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20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2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)); // выведет '</a:t>
            </a:r>
            <a:r>
              <a:rPr lang="ru-RU" sz="20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2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 </a:t>
            </a:r>
          </a:p>
          <a:p>
            <a:r>
              <a:rPr lang="ru-RU" sz="20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ru-RU" sz="2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20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String</a:t>
            </a:r>
            <a:r>
              <a:rPr lang="ru-RU" sz="2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20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ru-RU" sz="2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)); // выведет '</a:t>
            </a:r>
            <a:r>
              <a:rPr lang="ru-RU" sz="20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ru-RU" sz="20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FF73B5-02EC-79A4-55E9-4D0B9441F0DC}"/>
              </a:ext>
            </a:extLst>
          </p:cNvPr>
          <p:cNvSpPr txBox="1"/>
          <p:nvPr/>
        </p:nvSpPr>
        <p:spPr>
          <a:xfrm>
            <a:off x="206909" y="42047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('a' + </a:t>
            </a:r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// выведет '</a:t>
            </a:r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atrue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’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1CCC4CD-C8D7-CE5B-6015-E4FCF1E20E5E}"/>
              </a:ext>
            </a:extLst>
          </p:cNvPr>
          <p:cNvSpPr txBox="1"/>
          <p:nvPr/>
        </p:nvSpPr>
        <p:spPr>
          <a:xfrm>
            <a:off x="164442" y="478819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(Number(</a:t>
            </a:r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)); // выведет 1 </a:t>
            </a:r>
          </a:p>
          <a:p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(Number(</a:t>
            </a:r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false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)); // выведет 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254B7E-9AFB-E976-7696-C0557645AE60}"/>
              </a:ext>
            </a:extLst>
          </p:cNvPr>
          <p:cNvSpPr txBox="1"/>
          <p:nvPr/>
        </p:nvSpPr>
        <p:spPr>
          <a:xfrm>
            <a:off x="164442" y="57458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+ 1); // выведет 2 </a:t>
            </a:r>
          </a:p>
          <a:p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alert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+ </a:t>
            </a:r>
            <a:r>
              <a:rPr lang="ru-RU" sz="18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true</a:t>
            </a:r>
            <a:r>
              <a:rPr lang="ru-RU" sz="18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); // выведет 2</a:t>
            </a:r>
          </a:p>
        </p:txBody>
      </p:sp>
    </p:spTree>
    <p:extLst>
      <p:ext uri="{BB962C8B-B14F-4D97-AF65-F5344CB8AC3E}">
        <p14:creationId xmlns:p14="http://schemas.microsoft.com/office/powerpoint/2010/main" val="83617277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A11562-71B8-90CE-C680-5D0914F9D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657F26-1310-2044-FFF7-B0D6F4DBD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6E4616D-7C67-B669-73FB-2B19265C8806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E45B2967-548A-AB4F-96AB-5C1A660F2A6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40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306567C1-5C5B-97DA-E263-1007B58C879A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2714E3-7341-2DDA-B8A4-707F99F1EDAA}"/>
              </a:ext>
            </a:extLst>
          </p:cNvPr>
          <p:cNvSpPr txBox="1"/>
          <p:nvPr/>
        </p:nvSpPr>
        <p:spPr>
          <a:xfrm>
            <a:off x="290286" y="743403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i="1" dirty="0"/>
              <a:t>Определите, что выведется на экран: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7F1C45-BBE9-0B89-B440-284DFCD531A5}"/>
              </a:ext>
            </a:extLst>
          </p:cNvPr>
          <p:cNvSpPr txBox="1"/>
          <p:nvPr/>
        </p:nvSpPr>
        <p:spPr>
          <a:xfrm>
            <a:off x="224974" y="1170246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1</a:t>
            </a:r>
            <a:endParaRPr lang="ru-RU" sz="7200" dirty="0">
              <a:solidFill>
                <a:srgbClr val="C00000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CC107D-98E5-D837-F462-B746C2B3ED8A}"/>
              </a:ext>
            </a:extLst>
          </p:cNvPr>
          <p:cNvSpPr txBox="1"/>
          <p:nvPr/>
        </p:nvSpPr>
        <p:spPr>
          <a:xfrm>
            <a:off x="239489" y="2184553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2</a:t>
            </a:r>
            <a:endParaRPr lang="ru-RU" sz="7200" dirty="0">
              <a:solidFill>
                <a:srgbClr val="C00000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E398EFB-EDB2-26FD-4496-826E428D7674}"/>
              </a:ext>
            </a:extLst>
          </p:cNvPr>
          <p:cNvSpPr txBox="1"/>
          <p:nvPr/>
        </p:nvSpPr>
        <p:spPr>
          <a:xfrm>
            <a:off x="254004" y="3187228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3</a:t>
            </a:r>
            <a:endParaRPr lang="ru-RU" sz="7200" dirty="0">
              <a:solidFill>
                <a:srgbClr val="C00000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2FB918F-F37A-AC95-CF4F-619F57CCA1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094" y="1395852"/>
            <a:ext cx="5642573" cy="67898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5C27DBD-4A0D-9DB7-6B54-9882AE5ED63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094" y="2445225"/>
            <a:ext cx="6183600" cy="678983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E95FCD2-57E4-D9FB-2920-CA661F41A17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094" y="3499531"/>
            <a:ext cx="6580901" cy="67898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4A62FE-18CC-00C6-8BA3-706D1E30CACE}"/>
              </a:ext>
            </a:extLst>
          </p:cNvPr>
          <p:cNvSpPr txBox="1"/>
          <p:nvPr/>
        </p:nvSpPr>
        <p:spPr>
          <a:xfrm>
            <a:off x="291380" y="4271092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b="1" dirty="0">
                <a:solidFill>
                  <a:srgbClr val="C00000"/>
                </a:solidFill>
              </a:rPr>
              <a:t>4</a:t>
            </a:r>
            <a:endParaRPr lang="ru-RU" sz="7200" dirty="0">
              <a:solidFill>
                <a:srgbClr val="C00000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CFC6D08-81BC-99C0-97E9-3E5476F5B3BC}"/>
              </a:ext>
            </a:extLst>
          </p:cNvPr>
          <p:cNvSpPr txBox="1"/>
          <p:nvPr/>
        </p:nvSpPr>
        <p:spPr>
          <a:xfrm>
            <a:off x="329850" y="5354956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b="1" dirty="0">
                <a:solidFill>
                  <a:srgbClr val="C00000"/>
                </a:solidFill>
              </a:rPr>
              <a:t>5</a:t>
            </a:r>
            <a:endParaRPr lang="ru-RU" sz="7200" dirty="0">
              <a:solidFill>
                <a:srgbClr val="C00000"/>
              </a:solidFill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AF014885-1357-EAD5-5FAC-E0CEB13E03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094" y="4602242"/>
            <a:ext cx="7058451" cy="572307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B82E3EBE-7CB7-89BE-C398-21E04DD262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7094" y="5665324"/>
            <a:ext cx="9408736" cy="572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068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Область видимости переменных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41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59A5FE2-C965-8F04-B82A-3EE986603072}"/>
              </a:ext>
            </a:extLst>
          </p:cNvPr>
          <p:cNvSpPr/>
          <p:nvPr/>
        </p:nvSpPr>
        <p:spPr>
          <a:xfrm>
            <a:off x="7443603" y="1236277"/>
            <a:ext cx="365794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if (true) {   var x = 5; }</a:t>
            </a:r>
          </a:p>
          <a:p>
            <a:r>
              <a:rPr lang="ru-RU" sz="2000" b="1" dirty="0"/>
              <a:t>console.log(x); // 5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4C6CE32-7FAA-33D5-DA77-A3F463E6C444}"/>
              </a:ext>
            </a:extLst>
          </p:cNvPr>
          <p:cNvSpPr/>
          <p:nvPr/>
        </p:nvSpPr>
        <p:spPr>
          <a:xfrm>
            <a:off x="393364" y="743886"/>
            <a:ext cx="11791572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Глобальная переменная </a:t>
            </a:r>
            <a:r>
              <a:rPr lang="ru-RU" sz="2000" b="1" dirty="0"/>
              <a:t>доступна любому коду в текущем документе. </a:t>
            </a:r>
            <a:r>
              <a:rPr lang="ru-RU" sz="2000" b="1" dirty="0">
                <a:solidFill>
                  <a:srgbClr val="C00000"/>
                </a:solidFill>
              </a:rPr>
              <a:t>Локальная переменная </a:t>
            </a:r>
            <a:r>
              <a:rPr lang="ru-RU" sz="2000" b="1" dirty="0"/>
              <a:t>доступна только внутри функции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EFC790B-16ED-1B74-2932-3E7D32886EB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220" y="1551002"/>
            <a:ext cx="6973273" cy="456311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8708300-6788-133F-C01E-BA8CEE5D58E7}"/>
              </a:ext>
            </a:extLst>
          </p:cNvPr>
          <p:cNvSpPr txBox="1"/>
          <p:nvPr/>
        </p:nvSpPr>
        <p:spPr>
          <a:xfrm>
            <a:off x="7453644" y="2083335"/>
            <a:ext cx="437569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/>
              <a:t>let</a:t>
            </a:r>
            <a:r>
              <a:rPr lang="ru-RU" sz="2000" b="1" dirty="0"/>
              <a:t> </a:t>
            </a:r>
            <a:r>
              <a:rPr lang="ru-RU" sz="2000" b="1" dirty="0" err="1"/>
              <a:t>res</a:t>
            </a:r>
            <a:r>
              <a:rPr lang="ru-RU" sz="2000" b="1" dirty="0"/>
              <a:t>; // переменная объявлена снаружи</a:t>
            </a:r>
          </a:p>
          <a:p>
            <a:r>
              <a:rPr lang="ru-RU" sz="2000" b="1" dirty="0" err="1"/>
              <a:t>if</a:t>
            </a:r>
            <a:r>
              <a:rPr lang="ru-RU" sz="2000" b="1" dirty="0"/>
              <a:t> (</a:t>
            </a:r>
            <a:r>
              <a:rPr lang="ru-RU" sz="2000" b="1" dirty="0" err="1"/>
              <a:t>true</a:t>
            </a:r>
            <a:r>
              <a:rPr lang="ru-RU" sz="2000" b="1" dirty="0"/>
              <a:t>) {</a:t>
            </a:r>
          </a:p>
          <a:p>
            <a:r>
              <a:rPr lang="ru-RU" sz="2000" b="1" dirty="0"/>
              <a:t>     </a:t>
            </a:r>
            <a:r>
              <a:rPr lang="ru-RU" sz="2000" b="1" dirty="0" err="1"/>
              <a:t>res</a:t>
            </a:r>
            <a:r>
              <a:rPr lang="ru-RU" sz="2000" b="1" dirty="0"/>
              <a:t> = '!';</a:t>
            </a:r>
          </a:p>
          <a:p>
            <a:r>
              <a:rPr lang="ru-RU" sz="2000" b="1" dirty="0"/>
              <a:t>}</a:t>
            </a:r>
          </a:p>
          <a:p>
            <a:r>
              <a:rPr lang="ru-RU" sz="2000" b="1" dirty="0"/>
              <a:t>console.log(</a:t>
            </a:r>
            <a:r>
              <a:rPr lang="ru-RU" sz="2000" b="1" dirty="0" err="1"/>
              <a:t>res</a:t>
            </a:r>
            <a:r>
              <a:rPr lang="ru-RU" sz="2000" b="1" dirty="0"/>
              <a:t>); // выведет '!’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A32C91-4AC1-3AD8-E27C-6AE9E7B3C1C2}"/>
              </a:ext>
            </a:extLst>
          </p:cNvPr>
          <p:cNvSpPr txBox="1"/>
          <p:nvPr/>
        </p:nvSpPr>
        <p:spPr>
          <a:xfrm>
            <a:off x="7453644" y="4161499"/>
            <a:ext cx="455713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/>
              <a:t>let</a:t>
            </a:r>
            <a:r>
              <a:rPr lang="ru-RU" sz="2000" b="1" dirty="0"/>
              <a:t> </a:t>
            </a:r>
            <a:r>
              <a:rPr lang="ru-RU" sz="2000" b="1" dirty="0" err="1"/>
              <a:t>test</a:t>
            </a:r>
            <a:r>
              <a:rPr lang="ru-RU" sz="2000" b="1" dirty="0"/>
              <a:t> = </a:t>
            </a:r>
            <a:r>
              <a:rPr lang="ru-RU" sz="2000" b="1" dirty="0" err="1"/>
              <a:t>true</a:t>
            </a:r>
            <a:r>
              <a:rPr lang="ru-RU" sz="2000" b="1" dirty="0"/>
              <a:t>;</a:t>
            </a:r>
          </a:p>
          <a:p>
            <a:r>
              <a:rPr lang="ru-RU" sz="2000" b="1" dirty="0" err="1"/>
              <a:t>let</a:t>
            </a:r>
            <a:r>
              <a:rPr lang="ru-RU" sz="2000" b="1" dirty="0"/>
              <a:t> </a:t>
            </a:r>
            <a:r>
              <a:rPr lang="ru-RU" sz="2000" b="1" dirty="0" err="1"/>
              <a:t>res</a:t>
            </a:r>
            <a:r>
              <a:rPr lang="ru-RU" sz="2000" b="1" dirty="0"/>
              <a:t>; // объявим пер. снаружи</a:t>
            </a:r>
          </a:p>
          <a:p>
            <a:r>
              <a:rPr lang="ru-RU" sz="2000" b="1" dirty="0" err="1"/>
              <a:t>if</a:t>
            </a:r>
            <a:r>
              <a:rPr lang="ru-RU" sz="2000" b="1" dirty="0"/>
              <a:t> (</a:t>
            </a:r>
            <a:r>
              <a:rPr lang="ru-RU" sz="2000" b="1" dirty="0" err="1"/>
              <a:t>test</a:t>
            </a:r>
            <a:r>
              <a:rPr lang="ru-RU" sz="2000" b="1" dirty="0"/>
              <a:t>) {</a:t>
            </a:r>
          </a:p>
          <a:p>
            <a:r>
              <a:rPr lang="ru-RU" sz="2000" b="1" dirty="0"/>
              <a:t>     </a:t>
            </a:r>
            <a:r>
              <a:rPr lang="ru-RU" sz="2000" b="1" dirty="0" err="1"/>
              <a:t>res</a:t>
            </a:r>
            <a:r>
              <a:rPr lang="ru-RU" sz="2000" b="1" dirty="0"/>
              <a:t> = 1;</a:t>
            </a:r>
          </a:p>
          <a:p>
            <a:r>
              <a:rPr lang="ru-RU" sz="2000" b="1" dirty="0"/>
              <a:t>} </a:t>
            </a:r>
            <a:r>
              <a:rPr lang="ru-RU" sz="2000" b="1" dirty="0" err="1"/>
              <a:t>else</a:t>
            </a:r>
            <a:r>
              <a:rPr lang="ru-RU" sz="2000" b="1" dirty="0"/>
              <a:t> {</a:t>
            </a:r>
          </a:p>
          <a:p>
            <a:r>
              <a:rPr lang="ru-RU" sz="2000" b="1" dirty="0"/>
              <a:t>    </a:t>
            </a:r>
            <a:r>
              <a:rPr lang="ru-RU" sz="2000" b="1" dirty="0" err="1"/>
              <a:t>res</a:t>
            </a:r>
            <a:r>
              <a:rPr lang="ru-RU" sz="2000" b="1" dirty="0"/>
              <a:t> = 2;</a:t>
            </a:r>
          </a:p>
          <a:p>
            <a:r>
              <a:rPr lang="ru-RU" sz="2000" b="1" dirty="0"/>
              <a:t>}</a:t>
            </a:r>
          </a:p>
          <a:p>
            <a:r>
              <a:rPr lang="ru-RU" sz="2000" b="1" dirty="0"/>
              <a:t>console.log(</a:t>
            </a:r>
            <a:r>
              <a:rPr lang="ru-RU" sz="2000" b="1" dirty="0" err="1"/>
              <a:t>res</a:t>
            </a:r>
            <a:r>
              <a:rPr lang="ru-RU" sz="2000" b="1" dirty="0"/>
              <a:t>); // выведет 1</a:t>
            </a:r>
          </a:p>
        </p:txBody>
      </p:sp>
    </p:spTree>
    <p:extLst>
      <p:ext uri="{BB962C8B-B14F-4D97-AF65-F5344CB8AC3E}">
        <p14:creationId xmlns:p14="http://schemas.microsoft.com/office/powerpoint/2010/main" val="347404569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FE7036-8BBF-0652-9C4E-A1D4CF42B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962B0D-F0DE-3FB7-E0F7-98369CB741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Область видимости переменных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58BD906-5700-8344-0319-64B8E452316D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7DF29E9C-F6C6-F361-0F1F-7BF3BF2EB410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42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01E9BB98-5FFD-5307-5BDB-3A6357C31113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5AC3BBC-FD2B-0B06-CD9A-BB312D321A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719" y="821078"/>
            <a:ext cx="5751932" cy="318048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B7D6224-AC90-2B92-57BB-83F310C7FC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812611"/>
            <a:ext cx="5975079" cy="3188947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0BF8063-E814-C370-77E0-F90726923C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82867" y="4160300"/>
            <a:ext cx="4226265" cy="2540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022379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26EDAF-ED3C-E088-94D2-31BE0F7A9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D417D9-C009-6E53-F4CA-6439746687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45C9C5-A4E4-3CA0-E418-E4B860A9CF33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D9D83FF1-21AF-618D-AC49-249CA061D2C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43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4CE23DB3-09A8-6385-BC73-CC6E0AFD0250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5037F0F-50E6-5807-7155-98D858487F7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205" y="1752192"/>
            <a:ext cx="5497862" cy="507897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C902AD2-1739-2BA9-729C-2504734AE478}"/>
              </a:ext>
            </a:extLst>
          </p:cNvPr>
          <p:cNvSpPr txBox="1"/>
          <p:nvPr/>
        </p:nvSpPr>
        <p:spPr>
          <a:xfrm>
            <a:off x="327205" y="813769"/>
            <a:ext cx="115375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/>
              <a:t>Автор приведенного ниже кода хотел выполнить проверку возраста. Код, однако, при любом значение возраста выводит в консоль значение undefined. Исправьте ошибку автора кода.</a:t>
            </a:r>
          </a:p>
        </p:txBody>
      </p:sp>
    </p:spTree>
    <p:extLst>
      <p:ext uri="{BB962C8B-B14F-4D97-AF65-F5344CB8AC3E}">
        <p14:creationId xmlns:p14="http://schemas.microsoft.com/office/powerpoint/2010/main" val="1395533101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Оператор, операнд, приоритет и ассоциативность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44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7" name="Text Box 52">
            <a:extLst>
              <a:ext uri="{FF2B5EF4-FFF2-40B4-BE49-F238E27FC236}">
                <a16:creationId xmlns:a16="http://schemas.microsoft.com/office/drawing/2014/main" id="{189FBF09-C0A2-1973-1680-FB5634AF718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0214" y="839136"/>
            <a:ext cx="11791572" cy="3477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buFont typeface="Wingdings" pitchFamily="2" charset="2"/>
              <a:buNone/>
            </a:pPr>
            <a:r>
              <a:rPr lang="ru-RU" sz="2000" b="1" dirty="0">
                <a:solidFill>
                  <a:srgbClr val="C00000"/>
                </a:solidFill>
              </a:rPr>
              <a:t>Оператор</a:t>
            </a:r>
            <a:r>
              <a:rPr lang="ru-RU" sz="2000" b="1" dirty="0"/>
              <a:t> — это элемент языка, задающий полное описание действия, которое необходимо выполнить.</a:t>
            </a:r>
            <a:endParaRPr lang="en-US" sz="2000" b="1" dirty="0"/>
          </a:p>
          <a:p>
            <a:pPr algn="just">
              <a:buFont typeface="Wingdings" pitchFamily="2" charset="2"/>
              <a:buNone/>
            </a:pPr>
            <a:endParaRPr lang="en-US" sz="2000" b="1" i="1" dirty="0"/>
          </a:p>
          <a:p>
            <a:pPr algn="just">
              <a:buFont typeface="Wingdings" pitchFamily="2" charset="2"/>
              <a:buNone/>
            </a:pPr>
            <a:r>
              <a:rPr lang="ru-RU" sz="2000" b="1" dirty="0">
                <a:solidFill>
                  <a:srgbClr val="C00000"/>
                </a:solidFill>
              </a:rPr>
              <a:t>Операнд</a:t>
            </a:r>
            <a:r>
              <a:rPr lang="en-US" sz="2000" b="1" dirty="0">
                <a:solidFill>
                  <a:srgbClr val="C00000"/>
                </a:solidFill>
              </a:rPr>
              <a:t> (</a:t>
            </a:r>
            <a:r>
              <a:rPr lang="ru-RU" sz="2000" b="1" dirty="0">
                <a:solidFill>
                  <a:srgbClr val="C00000"/>
                </a:solidFill>
              </a:rPr>
              <a:t>аргумент оператора</a:t>
            </a:r>
            <a:r>
              <a:rPr lang="en-US" sz="2000" b="1" dirty="0">
                <a:solidFill>
                  <a:srgbClr val="C00000"/>
                </a:solidFill>
              </a:rPr>
              <a:t>)</a:t>
            </a:r>
            <a:r>
              <a:rPr lang="ru-RU" sz="2000" b="1" i="1" dirty="0"/>
              <a:t> – то, к чему применяется оператор. </a:t>
            </a:r>
          </a:p>
          <a:p>
            <a:pPr algn="just">
              <a:buFont typeface="Wingdings" pitchFamily="2" charset="2"/>
              <a:buNone/>
            </a:pPr>
            <a:endParaRPr lang="ru-RU" sz="2000" b="1" i="1" dirty="0"/>
          </a:p>
          <a:p>
            <a:pPr algn="just">
              <a:buFont typeface="Wingdings" pitchFamily="2" charset="2"/>
              <a:buNone/>
            </a:pPr>
            <a:endParaRPr lang="ru-RU" sz="2000" b="1" i="1" dirty="0"/>
          </a:p>
          <a:p>
            <a:pPr algn="just">
              <a:buFont typeface="Wingdings" pitchFamily="2" charset="2"/>
              <a:buNone/>
            </a:pPr>
            <a:endParaRPr lang="ru-RU" sz="2000" b="1" i="1" dirty="0"/>
          </a:p>
          <a:p>
            <a:pPr algn="just">
              <a:buFont typeface="Wingdings" pitchFamily="2" charset="2"/>
              <a:buNone/>
            </a:pPr>
            <a:r>
              <a:rPr lang="ru-RU" sz="2000" b="1" dirty="0">
                <a:solidFill>
                  <a:srgbClr val="C00000"/>
                </a:solidFill>
              </a:rPr>
              <a:t>Приоритет операторов </a:t>
            </a:r>
            <a:r>
              <a:rPr lang="ru-RU" sz="2000" b="1" dirty="0"/>
              <a:t>определяет порядок, в котором операторы выполняются. </a:t>
            </a:r>
          </a:p>
          <a:p>
            <a:pPr algn="just">
              <a:buFont typeface="Wingdings" pitchFamily="2" charset="2"/>
              <a:buNone/>
            </a:pPr>
            <a:r>
              <a:rPr lang="ru-RU" sz="2000" b="1" dirty="0">
                <a:solidFill>
                  <a:srgbClr val="C00000"/>
                </a:solidFill>
              </a:rPr>
              <a:t>Ассоциативность</a:t>
            </a:r>
            <a:r>
              <a:rPr lang="ru-RU" sz="2000" b="1" dirty="0"/>
              <a:t> определяет порядок, в котором обрабатываются операторы с одинаковым приоритетом. </a:t>
            </a:r>
          </a:p>
          <a:p>
            <a:pPr algn="just">
              <a:buFont typeface="Wingdings" pitchFamily="2" charset="2"/>
              <a:buNone/>
            </a:pPr>
            <a:endParaRPr lang="ru-RU" sz="2000" b="1" dirty="0"/>
          </a:p>
          <a:p>
            <a:pPr algn="just">
              <a:buFont typeface="Wingdings" pitchFamily="2" charset="2"/>
              <a:buNone/>
            </a:pPr>
            <a:endParaRPr lang="en-US" sz="2000" b="1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06856E6E-0B65-8832-F042-D0E6BC026083}"/>
              </a:ext>
            </a:extLst>
          </p:cNvPr>
          <p:cNvSpPr/>
          <p:nvPr/>
        </p:nvSpPr>
        <p:spPr>
          <a:xfrm>
            <a:off x="8164766" y="1409127"/>
            <a:ext cx="2996654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Унарный оператор</a:t>
            </a:r>
          </a:p>
          <a:p>
            <a:r>
              <a:rPr lang="ru-RU" sz="2400" b="1" dirty="0">
                <a:solidFill>
                  <a:srgbClr val="C00000"/>
                </a:solidFill>
              </a:rPr>
              <a:t>Бинарный оператор</a:t>
            </a:r>
          </a:p>
          <a:p>
            <a:r>
              <a:rPr lang="ru-RU" sz="2400" b="1" dirty="0">
                <a:solidFill>
                  <a:srgbClr val="C00000"/>
                </a:solidFill>
              </a:rPr>
              <a:t>Тернарный оператор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FF4FC556-411B-E137-391F-F6F1733D0188}"/>
              </a:ext>
            </a:extLst>
          </p:cNvPr>
          <p:cNvSpPr/>
          <p:nvPr/>
        </p:nvSpPr>
        <p:spPr>
          <a:xfrm>
            <a:off x="5129750" y="3246725"/>
            <a:ext cx="138852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a OP b OP c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D61982F1-6D79-202B-5305-4C6C2D051EBD}"/>
              </a:ext>
            </a:extLst>
          </p:cNvPr>
          <p:cNvSpPr/>
          <p:nvPr/>
        </p:nvSpPr>
        <p:spPr>
          <a:xfrm>
            <a:off x="3653999" y="3965393"/>
            <a:ext cx="15456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/>
              <a:t>(a OP b) OP c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4A238215-AB2E-2AF4-2243-E23620AE64EE}"/>
              </a:ext>
            </a:extLst>
          </p:cNvPr>
          <p:cNvSpPr/>
          <p:nvPr/>
        </p:nvSpPr>
        <p:spPr>
          <a:xfrm>
            <a:off x="6349576" y="3965393"/>
            <a:ext cx="15456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dirty="0"/>
              <a:t>a OP (b OP c)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8C091C0F-0116-294C-DF78-EC578D7CD9A9}"/>
              </a:ext>
            </a:extLst>
          </p:cNvPr>
          <p:cNvCxnSpPr/>
          <p:nvPr/>
        </p:nvCxnSpPr>
        <p:spPr>
          <a:xfrm flipH="1">
            <a:off x="4583958" y="3638507"/>
            <a:ext cx="580556" cy="32688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42F9B2C5-BDF4-A72B-1FB9-EB182A3AFD58}"/>
              </a:ext>
            </a:extLst>
          </p:cNvPr>
          <p:cNvCxnSpPr/>
          <p:nvPr/>
        </p:nvCxnSpPr>
        <p:spPr>
          <a:xfrm>
            <a:off x="6114162" y="3616057"/>
            <a:ext cx="630084" cy="34933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51DF1B16-B71B-F191-CDC5-B9280B2C0250}"/>
              </a:ext>
            </a:extLst>
          </p:cNvPr>
          <p:cNvSpPr/>
          <p:nvPr/>
        </p:nvSpPr>
        <p:spPr>
          <a:xfrm>
            <a:off x="2403347" y="4328041"/>
            <a:ext cx="330770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Левая ассоциативность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01D00894-6BB7-0EAD-219A-C5C86EE99589}"/>
              </a:ext>
            </a:extLst>
          </p:cNvPr>
          <p:cNvSpPr/>
          <p:nvPr/>
        </p:nvSpPr>
        <p:spPr>
          <a:xfrm>
            <a:off x="6286027" y="4334725"/>
            <a:ext cx="34696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400" b="1" dirty="0">
                <a:solidFill>
                  <a:srgbClr val="C00000"/>
                </a:solidFill>
              </a:rPr>
              <a:t>Правая ассоциативность</a:t>
            </a:r>
            <a:endParaRPr lang="ru-RU" sz="2400" dirty="0">
              <a:solidFill>
                <a:srgbClr val="C00000"/>
              </a:solidFill>
            </a:endParaRP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8673BF0-038B-A2ED-7D78-D973233367D4}"/>
              </a:ext>
            </a:extLst>
          </p:cNvPr>
          <p:cNvSpPr/>
          <p:nvPr/>
        </p:nvSpPr>
        <p:spPr>
          <a:xfrm>
            <a:off x="204705" y="4919501"/>
            <a:ext cx="1165725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Операторы могут </a:t>
            </a:r>
            <a:r>
              <a:rPr lang="ru-RU" sz="2000" b="1" dirty="0">
                <a:solidFill>
                  <a:srgbClr val="C00000"/>
                </a:solidFill>
              </a:rPr>
              <a:t>автоматически преобразовывать типы своих операндов </a:t>
            </a:r>
            <a:r>
              <a:rPr lang="ru-RU" sz="2000" b="1" dirty="0"/>
              <a:t>по мере необходимости. 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294507726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Арифметические операторы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45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BDDBA590-817C-55DE-BFC1-01C802224B5C}"/>
              </a:ext>
            </a:extLst>
          </p:cNvPr>
          <p:cNvSpPr/>
          <p:nvPr/>
        </p:nvSpPr>
        <p:spPr>
          <a:xfrm>
            <a:off x="71400" y="3801530"/>
            <a:ext cx="11975895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Операторы: </a:t>
            </a:r>
            <a:r>
              <a:rPr lang="ru-RU" sz="2000" b="1" dirty="0">
                <a:solidFill>
                  <a:srgbClr val="C00000"/>
                </a:solidFill>
              </a:rPr>
              <a:t>- (вычитание)</a:t>
            </a:r>
            <a:r>
              <a:rPr lang="ru-RU" sz="2000" b="1" dirty="0"/>
              <a:t>, </a:t>
            </a:r>
            <a:r>
              <a:rPr lang="ru-RU" sz="2000" b="1" dirty="0">
                <a:solidFill>
                  <a:srgbClr val="C00000"/>
                </a:solidFill>
              </a:rPr>
              <a:t>+ (сложение)</a:t>
            </a:r>
            <a:r>
              <a:rPr lang="ru-RU" sz="2000" b="1" dirty="0"/>
              <a:t>, </a:t>
            </a:r>
            <a:r>
              <a:rPr lang="ru-RU" sz="2000" b="1" dirty="0">
                <a:solidFill>
                  <a:srgbClr val="C00000"/>
                </a:solidFill>
              </a:rPr>
              <a:t>* (умножение)</a:t>
            </a:r>
            <a:r>
              <a:rPr lang="ru-RU" sz="2000" b="1" dirty="0"/>
              <a:t> и </a:t>
            </a:r>
            <a:r>
              <a:rPr lang="ru-RU" sz="2000" b="1" dirty="0">
                <a:solidFill>
                  <a:srgbClr val="C00000"/>
                </a:solidFill>
              </a:rPr>
              <a:t>/ (деление) </a:t>
            </a:r>
            <a:r>
              <a:rPr lang="ru-RU" sz="2000" b="1" dirty="0"/>
              <a:t>работают точно так же, как и арифметические действия в математике. </a:t>
            </a:r>
          </a:p>
          <a:p>
            <a:pPr algn="just"/>
            <a:endParaRPr lang="ru-RU" sz="2000" b="1" dirty="0"/>
          </a:p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% (деление с остатком) </a:t>
            </a:r>
            <a:r>
              <a:rPr lang="ru-RU" sz="2000" b="1" dirty="0"/>
              <a:t>возвращает остаток от деления первого операнда на второй. Результат деления с остатком будет иметь тот же знак, что и первый операнд.</a:t>
            </a:r>
          </a:p>
          <a:p>
            <a:pPr algn="just"/>
            <a:endParaRPr lang="ru-RU" sz="2000" b="1" dirty="0"/>
          </a:p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** (возведение в степень) </a:t>
            </a:r>
            <a:r>
              <a:rPr lang="ru-RU" sz="2000" b="1" dirty="0"/>
              <a:t>имеет два операнда. Первый операнд является основанием степени, второй операнд – показателем степени, в результате оператор возвращает основание, возведённое в указанную степень.</a:t>
            </a:r>
            <a:endParaRPr lang="en-US" sz="2000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95E0599-F43B-346C-F2AC-090E22308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592726"/>
              </p:ext>
            </p:extLst>
          </p:nvPr>
        </p:nvGraphicFramePr>
        <p:xfrm>
          <a:off x="223086" y="842697"/>
          <a:ext cx="8151552" cy="2733040"/>
        </p:xfrm>
        <a:graphic>
          <a:graphicData uri="http://schemas.openxmlformats.org/drawingml/2006/table">
            <a:tbl>
              <a:tblPr firstRow="1" bandRow="1"/>
              <a:tblGrid>
                <a:gridCol w="1265891">
                  <a:extLst>
                    <a:ext uri="{9D8B030D-6E8A-4147-A177-3AD203B41FA5}">
                      <a16:colId xmlns:a16="http://schemas.microsoft.com/office/drawing/2014/main" val="4251485928"/>
                    </a:ext>
                  </a:extLst>
                </a:gridCol>
                <a:gridCol w="1994730">
                  <a:extLst>
                    <a:ext uri="{9D8B030D-6E8A-4147-A177-3AD203B41FA5}">
                      <a16:colId xmlns:a16="http://schemas.microsoft.com/office/drawing/2014/main" val="3177780962"/>
                    </a:ext>
                  </a:extLst>
                </a:gridCol>
                <a:gridCol w="1630310">
                  <a:extLst>
                    <a:ext uri="{9D8B030D-6E8A-4147-A177-3AD203B41FA5}">
                      <a16:colId xmlns:a16="http://schemas.microsoft.com/office/drawing/2014/main" val="3301685891"/>
                    </a:ext>
                  </a:extLst>
                </a:gridCol>
                <a:gridCol w="937746">
                  <a:extLst>
                    <a:ext uri="{9D8B030D-6E8A-4147-A177-3AD203B41FA5}">
                      <a16:colId xmlns:a16="http://schemas.microsoft.com/office/drawing/2014/main" val="2197194351"/>
                    </a:ext>
                  </a:extLst>
                </a:gridCol>
                <a:gridCol w="2322875">
                  <a:extLst>
                    <a:ext uri="{9D8B030D-6E8A-4147-A177-3AD203B41FA5}">
                      <a16:colId xmlns:a16="http://schemas.microsoft.com/office/drawing/2014/main" val="1810766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 оператора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Типы значений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582613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+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Сложение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слева направо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число, число → 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219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-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Вычитание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слева направо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число, число → 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0940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*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Умножение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слева направо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число, число → 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49896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/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Деление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слева направо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число, число → 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69936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%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Деление с остатком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слева направо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число, число → 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558308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**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Возведение в степень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число, число → 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4203803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D340B3E-88AA-A9AB-DA57-FFB9100FAB79}"/>
              </a:ext>
            </a:extLst>
          </p:cNvPr>
          <p:cNvSpPr/>
          <p:nvPr/>
        </p:nvSpPr>
        <p:spPr>
          <a:xfrm>
            <a:off x="8526324" y="962814"/>
            <a:ext cx="352097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console.log('1' + 2); // "12"</a:t>
            </a:r>
          </a:p>
          <a:p>
            <a:r>
              <a:rPr lang="ru-RU" sz="2000" b="1" dirty="0"/>
              <a:t>console.log(2 + '1'); // "21"</a:t>
            </a:r>
          </a:p>
          <a:p>
            <a:r>
              <a:rPr lang="ru-RU" sz="2000" b="1" dirty="0"/>
              <a:t>console.log(5 % 2); // 1, остаток от деления 5 на 2</a:t>
            </a:r>
          </a:p>
          <a:p>
            <a:r>
              <a:rPr lang="ru-RU" sz="2000" b="1" dirty="0"/>
              <a:t>var i = 2;</a:t>
            </a:r>
          </a:p>
          <a:p>
            <a:r>
              <a:rPr lang="ru-RU" sz="2000" b="1" dirty="0"/>
              <a:t>i++; // более короткая запись для i = i + 1.</a:t>
            </a:r>
          </a:p>
          <a:p>
            <a:r>
              <a:rPr lang="ru-RU" sz="2000" b="1" dirty="0"/>
              <a:t>console.log(i); // 3</a:t>
            </a:r>
          </a:p>
          <a:p>
            <a:endParaRPr lang="ru-RU" sz="2000" b="1" dirty="0"/>
          </a:p>
        </p:txBody>
      </p:sp>
    </p:spTree>
    <p:extLst>
      <p:ext uri="{BB962C8B-B14F-4D97-AF65-F5344CB8AC3E}">
        <p14:creationId xmlns:p14="http://schemas.microsoft.com/office/powerpoint/2010/main" val="420088150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Арифметические операторы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46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EC13038-1639-768D-64E5-0C48934A06CA}"/>
              </a:ext>
            </a:extLst>
          </p:cNvPr>
          <p:cNvSpPr/>
          <p:nvPr/>
        </p:nvSpPr>
        <p:spPr>
          <a:xfrm>
            <a:off x="202103" y="2481087"/>
            <a:ext cx="11787793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+ (унарный плюс) </a:t>
            </a:r>
            <a:r>
              <a:rPr lang="ru-RU" sz="2000" b="1" dirty="0"/>
              <a:t>преобразует значение своего операнда в число и возвращает преобразованное значение. При использовании с числовым операндом он не выполняет никаких действий</a:t>
            </a:r>
          </a:p>
          <a:p>
            <a:pPr algn="just"/>
            <a:endParaRPr lang="ru-RU" sz="2000" b="1" dirty="0"/>
          </a:p>
          <a:p>
            <a:pPr algn="just"/>
            <a:r>
              <a:rPr lang="ru-RU" sz="2000" b="1" dirty="0"/>
              <a:t>	</a:t>
            </a:r>
            <a:r>
              <a:rPr lang="en-US" sz="2000" b="1" i="1" dirty="0"/>
              <a:t>var x = +"5";</a:t>
            </a:r>
            <a:endParaRPr lang="ru-RU" sz="2000" b="1" i="1" dirty="0"/>
          </a:p>
          <a:p>
            <a:pPr algn="just"/>
            <a:endParaRPr lang="ru-RU" sz="2000" b="1" dirty="0"/>
          </a:p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- (унарный минус) </a:t>
            </a:r>
            <a:r>
              <a:rPr lang="ru-RU" sz="2000" b="1" dirty="0"/>
              <a:t>преобразует значение своего операнда в число, если это необходимо, и затем делает число отрицательным:</a:t>
            </a:r>
          </a:p>
          <a:p>
            <a:pPr algn="just"/>
            <a:endParaRPr lang="ru-RU" sz="2000" b="1" dirty="0"/>
          </a:p>
          <a:p>
            <a:pPr algn="just"/>
            <a:r>
              <a:rPr lang="ru-RU" sz="2000" b="1" dirty="0"/>
              <a:t>	</a:t>
            </a:r>
            <a:r>
              <a:rPr lang="en-US" sz="2000" b="1" i="1" dirty="0"/>
              <a:t>var x = -5 + 3;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2B33D71E-7D8F-3E42-53A4-469F19A40A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1980571"/>
              </p:ext>
            </p:extLst>
          </p:nvPr>
        </p:nvGraphicFramePr>
        <p:xfrm>
          <a:off x="1875596" y="1060362"/>
          <a:ext cx="8208210" cy="1041400"/>
        </p:xfrm>
        <a:graphic>
          <a:graphicData uri="http://schemas.openxmlformats.org/drawingml/2006/table">
            <a:tbl>
              <a:tblPr firstRow="1" bandRow="1"/>
              <a:tblGrid>
                <a:gridCol w="1274690">
                  <a:extLst>
                    <a:ext uri="{9D8B030D-6E8A-4147-A177-3AD203B41FA5}">
                      <a16:colId xmlns:a16="http://schemas.microsoft.com/office/drawing/2014/main" val="4251485928"/>
                    </a:ext>
                  </a:extLst>
                </a:gridCol>
                <a:gridCol w="2008594">
                  <a:extLst>
                    <a:ext uri="{9D8B030D-6E8A-4147-A177-3AD203B41FA5}">
                      <a16:colId xmlns:a16="http://schemas.microsoft.com/office/drawing/2014/main" val="3177780962"/>
                    </a:ext>
                  </a:extLst>
                </a:gridCol>
                <a:gridCol w="1641642">
                  <a:extLst>
                    <a:ext uri="{9D8B030D-6E8A-4147-A177-3AD203B41FA5}">
                      <a16:colId xmlns:a16="http://schemas.microsoft.com/office/drawing/2014/main" val="3301685891"/>
                    </a:ext>
                  </a:extLst>
                </a:gridCol>
                <a:gridCol w="944264">
                  <a:extLst>
                    <a:ext uri="{9D8B030D-6E8A-4147-A177-3AD203B41FA5}">
                      <a16:colId xmlns:a16="http://schemas.microsoft.com/office/drawing/2014/main" val="2197194351"/>
                    </a:ext>
                  </a:extLst>
                </a:gridCol>
                <a:gridCol w="2339020">
                  <a:extLst>
                    <a:ext uri="{9D8B030D-6E8A-4147-A177-3AD203B41FA5}">
                      <a16:colId xmlns:a16="http://schemas.microsoft.com/office/drawing/2014/main" val="1810766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 оператора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Типы значений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582613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-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Унарный минус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 → 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219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/>
                        <a:t>+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Унарный плюс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 → 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0940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858231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Арифметические операторы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47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9C12D92-F233-9F3E-2B9E-1F30CD865BCF}"/>
              </a:ext>
            </a:extLst>
          </p:cNvPr>
          <p:cNvSpPr/>
          <p:nvPr/>
        </p:nvSpPr>
        <p:spPr>
          <a:xfrm>
            <a:off x="97412" y="2664071"/>
            <a:ext cx="11875380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++ (инкремент) </a:t>
            </a:r>
            <a:r>
              <a:rPr lang="ru-RU" sz="2000" b="1" dirty="0"/>
              <a:t>увеличивает значение своего операнда на единицу. Если значение операнда не является числом, оператор автоматически преобразует его в число, увеличивает на единицу и возвращает результат, который присваивается обратно операнду.</a:t>
            </a:r>
          </a:p>
          <a:p>
            <a:pPr algn="just"/>
            <a:endParaRPr lang="ru-RU" sz="2000" b="1" dirty="0"/>
          </a:p>
          <a:p>
            <a:pPr algn="just"/>
            <a:r>
              <a:rPr lang="ru-RU" sz="2000" b="1" dirty="0"/>
              <a:t>Инкремент имеет две формы – </a:t>
            </a:r>
            <a:r>
              <a:rPr lang="ru-RU" sz="2000" b="1" dirty="0">
                <a:solidFill>
                  <a:srgbClr val="C00000"/>
                </a:solidFill>
              </a:rPr>
              <a:t>постфиксную</a:t>
            </a:r>
            <a:r>
              <a:rPr lang="ru-RU" sz="2000" b="1" dirty="0"/>
              <a:t> (оператор ставится после операнда) и </a:t>
            </a:r>
            <a:r>
              <a:rPr lang="ru-RU" sz="2000" b="1" dirty="0">
                <a:solidFill>
                  <a:srgbClr val="C00000"/>
                </a:solidFill>
              </a:rPr>
              <a:t>префиксную</a:t>
            </a:r>
            <a:r>
              <a:rPr lang="ru-RU" sz="2000" b="1" dirty="0"/>
              <a:t> (оператор ставится перед операндом). Если он используется в постфиксной форме, то сначала возвращается исходное значение операнда, и только затем значение операнда увеличивается на единицу.</a:t>
            </a:r>
          </a:p>
          <a:p>
            <a:pPr algn="just"/>
            <a:endParaRPr lang="ru-RU" sz="2000" b="1" dirty="0"/>
          </a:p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-- (декремент) </a:t>
            </a:r>
            <a:r>
              <a:rPr lang="ru-RU" sz="2000" b="1" dirty="0"/>
              <a:t>работает аналогично оператору инкремент, но не увеличивает значение своего операнда, а наоборот, уменьшает его на единицу.</a:t>
            </a:r>
            <a:endParaRPr lang="en-US" sz="2000" b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5ECF526C-E180-1F4C-76E8-CD7ADD316A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027395"/>
              </p:ext>
            </p:extLst>
          </p:nvPr>
        </p:nvGraphicFramePr>
        <p:xfrm>
          <a:off x="795252" y="816574"/>
          <a:ext cx="10601495" cy="1711960"/>
        </p:xfrm>
        <a:graphic>
          <a:graphicData uri="http://schemas.openxmlformats.org/drawingml/2006/table">
            <a:tbl>
              <a:tblPr firstRow="1" bandRow="1"/>
              <a:tblGrid>
                <a:gridCol w="1646354">
                  <a:extLst>
                    <a:ext uri="{9D8B030D-6E8A-4147-A177-3AD203B41FA5}">
                      <a16:colId xmlns:a16="http://schemas.microsoft.com/office/drawing/2014/main" val="4251485928"/>
                    </a:ext>
                  </a:extLst>
                </a:gridCol>
                <a:gridCol w="2594244">
                  <a:extLst>
                    <a:ext uri="{9D8B030D-6E8A-4147-A177-3AD203B41FA5}">
                      <a16:colId xmlns:a16="http://schemas.microsoft.com/office/drawing/2014/main" val="3177780962"/>
                    </a:ext>
                  </a:extLst>
                </a:gridCol>
                <a:gridCol w="2120299">
                  <a:extLst>
                    <a:ext uri="{9D8B030D-6E8A-4147-A177-3AD203B41FA5}">
                      <a16:colId xmlns:a16="http://schemas.microsoft.com/office/drawing/2014/main" val="3301685891"/>
                    </a:ext>
                  </a:extLst>
                </a:gridCol>
                <a:gridCol w="1219585">
                  <a:extLst>
                    <a:ext uri="{9D8B030D-6E8A-4147-A177-3AD203B41FA5}">
                      <a16:colId xmlns:a16="http://schemas.microsoft.com/office/drawing/2014/main" val="2197194351"/>
                    </a:ext>
                  </a:extLst>
                </a:gridCol>
                <a:gridCol w="3021013">
                  <a:extLst>
                    <a:ext uri="{9D8B030D-6E8A-4147-A177-3AD203B41FA5}">
                      <a16:colId xmlns:a16="http://schemas.microsoft.com/office/drawing/2014/main" val="1810766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 оператора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Типы значений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582613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++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Постфиксный инкремент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отсутствует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lval</a:t>
                      </a:r>
                      <a:r>
                        <a:rPr lang="en-US" sz="1600" b="1" dirty="0"/>
                        <a:t> → </a:t>
                      </a:r>
                      <a:r>
                        <a:rPr lang="ru-RU" sz="1600" b="1" dirty="0"/>
                        <a:t>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219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--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Постфиксный декремент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отсутствует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lval</a:t>
                      </a:r>
                      <a:r>
                        <a:rPr lang="en-US" sz="1600" b="1" dirty="0"/>
                        <a:t> → </a:t>
                      </a:r>
                      <a:r>
                        <a:rPr lang="ru-RU" sz="1600" b="1" dirty="0"/>
                        <a:t>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094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/>
                        <a:t>++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Префиксный инкремент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lval</a:t>
                      </a:r>
                      <a:r>
                        <a:rPr lang="en-US" sz="1600" b="1" dirty="0"/>
                        <a:t> → </a:t>
                      </a:r>
                      <a:r>
                        <a:rPr lang="ru-RU" sz="1600" b="1" dirty="0"/>
                        <a:t>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003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/>
                        <a:t>--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Префиксный декремент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lval</a:t>
                      </a:r>
                      <a:r>
                        <a:rPr lang="en-US" sz="1600" b="1" dirty="0"/>
                        <a:t> → </a:t>
                      </a:r>
                      <a:r>
                        <a:rPr lang="ru-RU" sz="1600" b="1" dirty="0"/>
                        <a:t>число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907424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01050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Операторы присваивания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48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9AF01F2-25D9-402D-575E-4B5B7004A269}"/>
              </a:ext>
            </a:extLst>
          </p:cNvPr>
          <p:cNvSpPr/>
          <p:nvPr/>
        </p:nvSpPr>
        <p:spPr>
          <a:xfrm>
            <a:off x="122920" y="3507667"/>
            <a:ext cx="11946159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= (присваивание) </a:t>
            </a:r>
            <a:r>
              <a:rPr lang="ru-RU" sz="2000" b="1" dirty="0"/>
              <a:t>используется для присваивания значения. Левым операндом оператора должно быть левостороннее выражение. Правым операндом может быть значение любого типа. Возвращаемым значением оператора является значение правого операнда.</a:t>
            </a:r>
          </a:p>
          <a:p>
            <a:pPr algn="just"/>
            <a:endParaRPr lang="ru-RU" sz="2000" b="1" dirty="0"/>
          </a:p>
          <a:p>
            <a:pPr lvl="1" algn="just"/>
            <a:r>
              <a:rPr lang="en-US" sz="2000" b="1" i="1" dirty="0"/>
              <a:t>var x = 20;</a:t>
            </a:r>
            <a:endParaRPr lang="ru-RU" sz="2000" b="1" i="1" dirty="0"/>
          </a:p>
          <a:p>
            <a:pPr lvl="1" algn="just"/>
            <a:r>
              <a:rPr lang="pt-BR" sz="2000" b="1" i="1" dirty="0"/>
              <a:t>var a, d, f;</a:t>
            </a:r>
          </a:p>
          <a:p>
            <a:pPr lvl="1" algn="just"/>
            <a:r>
              <a:rPr lang="pt-BR" sz="2000" b="1" i="1" dirty="0"/>
              <a:t>a = d = f = 101;</a:t>
            </a:r>
            <a:endParaRPr lang="ru-RU" sz="2000" b="1" i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690FAD28-4C9E-C5C0-7B0E-14D5A9536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4844429"/>
              </p:ext>
            </p:extLst>
          </p:nvPr>
        </p:nvGraphicFramePr>
        <p:xfrm>
          <a:off x="995680" y="903092"/>
          <a:ext cx="9949290" cy="2382520"/>
        </p:xfrm>
        <a:graphic>
          <a:graphicData uri="http://schemas.openxmlformats.org/drawingml/2006/table">
            <a:tbl>
              <a:tblPr firstRow="1" bandRow="1"/>
              <a:tblGrid>
                <a:gridCol w="1545070">
                  <a:extLst>
                    <a:ext uri="{9D8B030D-6E8A-4147-A177-3AD203B41FA5}">
                      <a16:colId xmlns:a16="http://schemas.microsoft.com/office/drawing/2014/main" val="4251485928"/>
                    </a:ext>
                  </a:extLst>
                </a:gridCol>
                <a:gridCol w="2733902">
                  <a:extLst>
                    <a:ext uri="{9D8B030D-6E8A-4147-A177-3AD203B41FA5}">
                      <a16:colId xmlns:a16="http://schemas.microsoft.com/office/drawing/2014/main" val="3177780962"/>
                    </a:ext>
                  </a:extLst>
                </a:gridCol>
                <a:gridCol w="1690602">
                  <a:extLst>
                    <a:ext uri="{9D8B030D-6E8A-4147-A177-3AD203B41FA5}">
                      <a16:colId xmlns:a16="http://schemas.microsoft.com/office/drawing/2014/main" val="3301685891"/>
                    </a:ext>
                  </a:extLst>
                </a:gridCol>
                <a:gridCol w="1144556">
                  <a:extLst>
                    <a:ext uri="{9D8B030D-6E8A-4147-A177-3AD203B41FA5}">
                      <a16:colId xmlns:a16="http://schemas.microsoft.com/office/drawing/2014/main" val="2197194351"/>
                    </a:ext>
                  </a:extLst>
                </a:gridCol>
                <a:gridCol w="2835160">
                  <a:extLst>
                    <a:ext uri="{9D8B030D-6E8A-4147-A177-3AD203B41FA5}">
                      <a16:colId xmlns:a16="http://schemas.microsoft.com/office/drawing/2014/main" val="1810766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 оператора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Типы значений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582613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=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Присваивание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lval</a:t>
                      </a:r>
                      <a:r>
                        <a:rPr lang="en-US" sz="1600" b="1" dirty="0"/>
                        <a:t>, </a:t>
                      </a:r>
                      <a:r>
                        <a:rPr lang="ru-RU" sz="1600" b="1" dirty="0"/>
                        <a:t>любое → любое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219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+=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Операция с присваиванием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lval</a:t>
                      </a:r>
                      <a:r>
                        <a:rPr lang="en-US" sz="1600" b="1" dirty="0"/>
                        <a:t>, </a:t>
                      </a:r>
                      <a:r>
                        <a:rPr lang="ru-RU" sz="1600" b="1" dirty="0"/>
                        <a:t>любое → любое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340940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-=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Операция с присваиванием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lval</a:t>
                      </a:r>
                      <a:r>
                        <a:rPr lang="en-US" sz="1600" b="1" dirty="0"/>
                        <a:t>, </a:t>
                      </a:r>
                      <a:r>
                        <a:rPr lang="ru-RU" sz="1600" b="1" dirty="0"/>
                        <a:t>любое → любое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76003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**=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Операция с присваиванием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lval</a:t>
                      </a:r>
                      <a:r>
                        <a:rPr lang="en-US" sz="1600" b="1" dirty="0"/>
                        <a:t>, </a:t>
                      </a:r>
                      <a:r>
                        <a:rPr lang="ru-RU" sz="1600" b="1" dirty="0"/>
                        <a:t>любое → любое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9074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*=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Операция с присваиванием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 err="1"/>
                        <a:t>lval</a:t>
                      </a:r>
                      <a:r>
                        <a:rPr lang="en-US" sz="1600" b="1" dirty="0"/>
                        <a:t>, </a:t>
                      </a:r>
                      <a:r>
                        <a:rPr lang="ru-RU" sz="1600" b="1" dirty="0"/>
                        <a:t>любое → любое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241604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ru-RU" sz="1600" b="1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…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890608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23925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Побитовые  операторы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49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113406E-E657-61DD-F4F7-6519B878B99A}"/>
              </a:ext>
            </a:extLst>
          </p:cNvPr>
          <p:cNvSpPr/>
          <p:nvPr/>
        </p:nvSpPr>
        <p:spPr>
          <a:xfrm>
            <a:off x="181220" y="3492337"/>
            <a:ext cx="11605344" cy="31700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&amp; (побитовое И)</a:t>
            </a:r>
            <a:r>
              <a:rPr lang="ru-RU" sz="2000" b="1" dirty="0"/>
              <a:t> выполняет операцию И для каждой пары битов в соответствующих разрядах. </a:t>
            </a:r>
          </a:p>
          <a:p>
            <a:pPr algn="just"/>
            <a:endParaRPr lang="ru-RU" sz="2000" b="1" dirty="0">
              <a:solidFill>
                <a:srgbClr val="C00000"/>
              </a:solidFill>
            </a:endParaRPr>
          </a:p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| (побитовое ИЛИ) </a:t>
            </a:r>
            <a:r>
              <a:rPr lang="ru-RU" sz="2000" b="1" dirty="0"/>
              <a:t>выполняет операцию ИЛИ для каждой пары битов в соответствующих разрядах. </a:t>
            </a:r>
          </a:p>
          <a:p>
            <a:pPr algn="just"/>
            <a:endParaRPr lang="ru-RU" sz="2000" b="1" dirty="0">
              <a:solidFill>
                <a:srgbClr val="C00000"/>
              </a:solidFill>
            </a:endParaRPr>
          </a:p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^ (побитовое ИСКЛЮЧАЮЩЕЕ ИЛИ) </a:t>
            </a:r>
            <a:r>
              <a:rPr lang="ru-RU" sz="2000" b="1" dirty="0"/>
              <a:t>выполняет операцию ИСКЛЮЧАЮЩЕЕ ИЛИ для каждой пары битов в соответствующих разрядах. </a:t>
            </a:r>
          </a:p>
          <a:p>
            <a:pPr algn="just"/>
            <a:endParaRPr lang="ru-RU" sz="2000" b="1" dirty="0">
              <a:solidFill>
                <a:srgbClr val="C00000"/>
              </a:solidFill>
            </a:endParaRPr>
          </a:p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~ (побитовое НЕ) </a:t>
            </a:r>
            <a:r>
              <a:rPr lang="ru-RU" sz="2000" b="1" dirty="0"/>
              <a:t>выполняет операцию НЕ (инверсию) для каждого бита числа. 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36E287BA-A35B-49B1-9F34-281D5EFA315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7197156"/>
              </p:ext>
            </p:extLst>
          </p:nvPr>
        </p:nvGraphicFramePr>
        <p:xfrm>
          <a:off x="271232" y="1013633"/>
          <a:ext cx="9197888" cy="2291080"/>
        </p:xfrm>
        <a:graphic>
          <a:graphicData uri="http://schemas.openxmlformats.org/drawingml/2006/table">
            <a:tbl>
              <a:tblPr firstRow="1" bandRow="1"/>
              <a:tblGrid>
                <a:gridCol w="1428380">
                  <a:extLst>
                    <a:ext uri="{9D8B030D-6E8A-4147-A177-3AD203B41FA5}">
                      <a16:colId xmlns:a16="http://schemas.microsoft.com/office/drawing/2014/main" val="4251485928"/>
                    </a:ext>
                  </a:extLst>
                </a:gridCol>
                <a:gridCol w="2527428">
                  <a:extLst>
                    <a:ext uri="{9D8B030D-6E8A-4147-A177-3AD203B41FA5}">
                      <a16:colId xmlns:a16="http://schemas.microsoft.com/office/drawing/2014/main" val="3177780962"/>
                    </a:ext>
                  </a:extLst>
                </a:gridCol>
                <a:gridCol w="1562923">
                  <a:extLst>
                    <a:ext uri="{9D8B030D-6E8A-4147-A177-3AD203B41FA5}">
                      <a16:colId xmlns:a16="http://schemas.microsoft.com/office/drawing/2014/main" val="3301685891"/>
                    </a:ext>
                  </a:extLst>
                </a:gridCol>
                <a:gridCol w="1058117">
                  <a:extLst>
                    <a:ext uri="{9D8B030D-6E8A-4147-A177-3AD203B41FA5}">
                      <a16:colId xmlns:a16="http://schemas.microsoft.com/office/drawing/2014/main" val="2197194351"/>
                    </a:ext>
                  </a:extLst>
                </a:gridCol>
                <a:gridCol w="2621040">
                  <a:extLst>
                    <a:ext uri="{9D8B030D-6E8A-4147-A177-3AD203B41FA5}">
                      <a16:colId xmlns:a16="http://schemas.microsoft.com/office/drawing/2014/main" val="1810766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 оператора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Типы значений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582613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&amp;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Побитовое 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слева направо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целое, целое → целое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219728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|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Побитовое ИЛИ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/>
                        <a:t>слева направо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целое, целое → целое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7048816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^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Побитовое ИСКЛЮЧАЮЩЕЕ ИЛИ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слева направо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целое, целое → целое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579646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~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Побитовое НЕ (инверсия)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целое → целое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6727640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7246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978606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Оператор запятая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50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FC00B00-52E1-BD18-A284-8F6077CEB49C}"/>
              </a:ext>
            </a:extLst>
          </p:cNvPr>
          <p:cNvSpPr/>
          <p:nvPr/>
        </p:nvSpPr>
        <p:spPr>
          <a:xfrm>
            <a:off x="181220" y="912814"/>
            <a:ext cx="11791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Один из самых необычных операторов – </a:t>
            </a:r>
            <a:r>
              <a:rPr lang="ru-RU" sz="2000" b="1" dirty="0">
                <a:solidFill>
                  <a:srgbClr val="C00000"/>
                </a:solidFill>
              </a:rPr>
              <a:t>запятая ','</a:t>
            </a:r>
            <a:r>
              <a:rPr lang="ru-RU" sz="2000" b="1" dirty="0"/>
              <a:t>. Его можно вызвать явным образом.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DFD77360-EE58-8ABF-EE8D-03665137339E}"/>
              </a:ext>
            </a:extLst>
          </p:cNvPr>
          <p:cNvSpPr/>
          <p:nvPr/>
        </p:nvSpPr>
        <p:spPr>
          <a:xfrm>
            <a:off x="524491" y="1398588"/>
            <a:ext cx="6096000" cy="70788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dirty="0"/>
              <a:t>var a = (5, 6);</a:t>
            </a:r>
          </a:p>
          <a:p>
            <a:r>
              <a:rPr lang="ru-RU" sz="2000" b="1" dirty="0"/>
              <a:t>console.log(a);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6524079-AD52-5D1A-5242-021CB505A366}"/>
              </a:ext>
            </a:extLst>
          </p:cNvPr>
          <p:cNvSpPr/>
          <p:nvPr/>
        </p:nvSpPr>
        <p:spPr>
          <a:xfrm>
            <a:off x="1334599" y="2315487"/>
            <a:ext cx="927123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Каждое из перечисленных выражений – вычисляется и отбрасывается, за исключением последнего, которое возвращается.</a:t>
            </a:r>
            <a:endParaRPr lang="ru-RU" sz="2000" b="1" dirty="0">
              <a:solidFill>
                <a:srgbClr val="C00000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527F72BF-BE3F-CD85-97BA-AECC7382A051}"/>
              </a:ext>
            </a:extLst>
          </p:cNvPr>
          <p:cNvSpPr/>
          <p:nvPr/>
        </p:nvSpPr>
        <p:spPr>
          <a:xfrm>
            <a:off x="2324731" y="3434820"/>
            <a:ext cx="783104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for (a = 1, b = 3, c = a*b; a &lt; 10; a++) { // три операции в одной строке</a:t>
            </a:r>
          </a:p>
          <a:p>
            <a:r>
              <a:rPr lang="ru-RU" sz="2000" b="1" dirty="0"/>
              <a:t> ...</a:t>
            </a:r>
          </a:p>
          <a:p>
            <a:r>
              <a:rPr lang="ru-RU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52033975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Операторы сравнения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51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75F634D-A9D1-2FDA-9093-592A4E4CC199}"/>
              </a:ext>
            </a:extLst>
          </p:cNvPr>
          <p:cNvSpPr/>
          <p:nvPr/>
        </p:nvSpPr>
        <p:spPr>
          <a:xfrm>
            <a:off x="108052" y="4543740"/>
            <a:ext cx="1197589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=== (строго равно) </a:t>
            </a:r>
            <a:r>
              <a:rPr lang="ru-RU" sz="2000" b="1" dirty="0"/>
              <a:t>производит сравнение значений операндов без преобразования типов.</a:t>
            </a:r>
            <a:endParaRPr lang="pt-BR" sz="2000" b="1" dirty="0"/>
          </a:p>
          <a:p>
            <a:pPr algn="just"/>
            <a:endParaRPr lang="en-US" sz="2000" b="1" dirty="0"/>
          </a:p>
          <a:p>
            <a:pPr algn="just"/>
            <a:r>
              <a:rPr lang="ru-RU" sz="2000" b="1" dirty="0">
                <a:solidFill>
                  <a:srgbClr val="C00000"/>
                </a:solidFill>
              </a:rPr>
              <a:t>Оператор == (равно) </a:t>
            </a:r>
            <a:r>
              <a:rPr lang="ru-RU" sz="2000" b="1" dirty="0"/>
              <a:t>выполняет сравнение значений. Если значения операндов имеют разные типы, оператор выполняет неявное преобразование типов и затем пытается выполнить сравнение.</a:t>
            </a:r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3EBF699-9C48-A84A-F657-ECF95F6B55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151812"/>
              </p:ext>
            </p:extLst>
          </p:nvPr>
        </p:nvGraphicFramePr>
        <p:xfrm>
          <a:off x="1412192" y="860825"/>
          <a:ext cx="8981487" cy="2382520"/>
        </p:xfrm>
        <a:graphic>
          <a:graphicData uri="http://schemas.openxmlformats.org/drawingml/2006/table">
            <a:tbl>
              <a:tblPr firstRow="1" bandRow="1"/>
              <a:tblGrid>
                <a:gridCol w="1394775">
                  <a:extLst>
                    <a:ext uri="{9D8B030D-6E8A-4147-A177-3AD203B41FA5}">
                      <a16:colId xmlns:a16="http://schemas.microsoft.com/office/drawing/2014/main" val="4251485928"/>
                    </a:ext>
                  </a:extLst>
                </a:gridCol>
                <a:gridCol w="2467966">
                  <a:extLst>
                    <a:ext uri="{9D8B030D-6E8A-4147-A177-3AD203B41FA5}">
                      <a16:colId xmlns:a16="http://schemas.microsoft.com/office/drawing/2014/main" val="3177780962"/>
                    </a:ext>
                  </a:extLst>
                </a:gridCol>
                <a:gridCol w="1526151">
                  <a:extLst>
                    <a:ext uri="{9D8B030D-6E8A-4147-A177-3AD203B41FA5}">
                      <a16:colId xmlns:a16="http://schemas.microsoft.com/office/drawing/2014/main" val="3301685891"/>
                    </a:ext>
                  </a:extLst>
                </a:gridCol>
                <a:gridCol w="1033221">
                  <a:extLst>
                    <a:ext uri="{9D8B030D-6E8A-4147-A177-3AD203B41FA5}">
                      <a16:colId xmlns:a16="http://schemas.microsoft.com/office/drawing/2014/main" val="2197194351"/>
                    </a:ext>
                  </a:extLst>
                </a:gridCol>
                <a:gridCol w="2559374">
                  <a:extLst>
                    <a:ext uri="{9D8B030D-6E8A-4147-A177-3AD203B41FA5}">
                      <a16:colId xmlns:a16="http://schemas.microsoft.com/office/drawing/2014/main" val="1810766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 оператора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Типы значений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582613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&lt;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Меньше чем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</a:t>
                      </a:r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число, число → булево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219728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&lt;=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Меньше или равно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</a:t>
                      </a:r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число, число → булево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67048816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en-US" sz="1600" b="1" dirty="0"/>
                        <a:t>…</a:t>
                      </a:r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7579646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==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Равно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</a:t>
                      </a:r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число, число → булево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28228544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!=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Не равно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2</a:t>
                      </a:r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число, число → булево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4341933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en-US" sz="1600" b="1" dirty="0"/>
                        <a:t>…</a:t>
                      </a:r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ru-RU" sz="160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95213238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90E0D47-1A59-1663-53BE-D87A4ED3BB85}"/>
              </a:ext>
            </a:extLst>
          </p:cNvPr>
          <p:cNvSpPr/>
          <p:nvPr/>
        </p:nvSpPr>
        <p:spPr>
          <a:xfrm>
            <a:off x="1661968" y="3504039"/>
            <a:ext cx="340612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/>
              <a:t>console.log(0 == false); // true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609F6B6-3ACF-0630-7389-89B218AC84D5}"/>
              </a:ext>
            </a:extLst>
          </p:cNvPr>
          <p:cNvSpPr/>
          <p:nvPr/>
        </p:nvSpPr>
        <p:spPr>
          <a:xfrm>
            <a:off x="5345866" y="3511506"/>
            <a:ext cx="339490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/>
              <a:t>console.log('' == false); // true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8DD089A6-0A75-B900-8FFE-51602BA1511B}"/>
              </a:ext>
            </a:extLst>
          </p:cNvPr>
          <p:cNvSpPr/>
          <p:nvPr/>
        </p:nvSpPr>
        <p:spPr>
          <a:xfrm>
            <a:off x="1661968" y="4019196"/>
            <a:ext cx="583647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/>
              <a:t>console.log(0 === false); // false, т.к. типы различны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2E3EA26E-BB85-C0D3-5126-A16C484D1F57}"/>
              </a:ext>
            </a:extLst>
          </p:cNvPr>
          <p:cNvSpPr/>
          <p:nvPr/>
        </p:nvSpPr>
        <p:spPr>
          <a:xfrm>
            <a:off x="7410564" y="4036050"/>
            <a:ext cx="290271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--</a:t>
            </a:r>
            <a:r>
              <a:rPr lang="en-US" sz="2000" b="1" dirty="0">
                <a:solidFill>
                  <a:srgbClr val="C00000"/>
                </a:solidFill>
              </a:rPr>
              <a:t>&gt;      </a:t>
            </a:r>
            <a:r>
              <a:rPr lang="ru-RU" sz="2000" b="1" dirty="0">
                <a:solidFill>
                  <a:srgbClr val="C00000"/>
                </a:solidFill>
              </a:rPr>
              <a:t>строгое равенство </a:t>
            </a:r>
            <a:endParaRPr lang="ru-RU" sz="20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35264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Операторы взаимодействия с пользователем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52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6CD24C35-D613-3AD9-309E-7527350C549A}"/>
              </a:ext>
            </a:extLst>
          </p:cNvPr>
          <p:cNvSpPr/>
          <p:nvPr/>
        </p:nvSpPr>
        <p:spPr>
          <a:xfrm>
            <a:off x="360000" y="1033788"/>
            <a:ext cx="6832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alert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DA3D7F7-9502-DB3C-C5F1-030C331D4FD8}"/>
              </a:ext>
            </a:extLst>
          </p:cNvPr>
          <p:cNvSpPr/>
          <p:nvPr/>
        </p:nvSpPr>
        <p:spPr>
          <a:xfrm>
            <a:off x="360000" y="1589926"/>
            <a:ext cx="193610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/>
              <a:t>alert("Привет");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150C717-27DC-284B-5EA3-8E6771C56AAD}"/>
              </a:ext>
            </a:extLst>
          </p:cNvPr>
          <p:cNvSpPr/>
          <p:nvPr/>
        </p:nvSpPr>
        <p:spPr>
          <a:xfrm>
            <a:off x="2996157" y="1011063"/>
            <a:ext cx="98200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prompt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850CAC4-C0DC-1328-3E5E-79A9343863A2}"/>
              </a:ext>
            </a:extLst>
          </p:cNvPr>
          <p:cNvSpPr/>
          <p:nvPr/>
        </p:nvSpPr>
        <p:spPr>
          <a:xfrm>
            <a:off x="2996157" y="1567201"/>
            <a:ext cx="337925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/>
              <a:t>result = prompt(title, default);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2E9826BB-6D5E-C71E-EA89-E8B075014745}"/>
              </a:ext>
            </a:extLst>
          </p:cNvPr>
          <p:cNvSpPr/>
          <p:nvPr/>
        </p:nvSpPr>
        <p:spPr>
          <a:xfrm>
            <a:off x="6930875" y="1029691"/>
            <a:ext cx="10091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confirm</a:t>
            </a: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E0C27A46-F979-5A27-F1B5-2A7B95BA829C}"/>
              </a:ext>
            </a:extLst>
          </p:cNvPr>
          <p:cNvSpPr/>
          <p:nvPr/>
        </p:nvSpPr>
        <p:spPr>
          <a:xfrm>
            <a:off x="6930875" y="1589926"/>
            <a:ext cx="4781139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var isAdmin = confirm("Вы - администратор?");</a:t>
            </a:r>
          </a:p>
          <a:p>
            <a:r>
              <a:rPr lang="ru-RU" sz="2000" b="1" dirty="0"/>
              <a:t>alert(isAdmin);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2F6046D9-061B-3B8A-EFAD-36CF2460931C}"/>
              </a:ext>
            </a:extLst>
          </p:cNvPr>
          <p:cNvSpPr/>
          <p:nvPr/>
        </p:nvSpPr>
        <p:spPr>
          <a:xfrm>
            <a:off x="360000" y="2330730"/>
            <a:ext cx="2636157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модальное окно с сообщением и приостанавливает выполнение скрипта, пока пользователь не нажмёт «ОК»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id="{21F80952-106F-8610-58E8-B0CAAA027001}"/>
              </a:ext>
            </a:extLst>
          </p:cNvPr>
          <p:cNvSpPr/>
          <p:nvPr/>
        </p:nvSpPr>
        <p:spPr>
          <a:xfrm>
            <a:off x="2996157" y="2330730"/>
            <a:ext cx="3340236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модальное окно с заголовком title, полем для ввода текста, заполненным строкой по умолчанию default и кнопками OK/CANCEL.</a:t>
            </a: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C349E17-C8B4-96C0-9430-A46895A2713F}"/>
              </a:ext>
            </a:extLst>
          </p:cNvPr>
          <p:cNvSpPr/>
          <p:nvPr/>
        </p:nvSpPr>
        <p:spPr>
          <a:xfrm>
            <a:off x="6930875" y="2721114"/>
            <a:ext cx="478113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модальное окно с вопросом question с двумя кнопками: OK и CANCEL.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C171B6-B28E-9BBE-470A-40E757522647}"/>
              </a:ext>
            </a:extLst>
          </p:cNvPr>
          <p:cNvSpPr txBox="1"/>
          <p:nvPr/>
        </p:nvSpPr>
        <p:spPr>
          <a:xfrm>
            <a:off x="439157" y="4739441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/>
              <a:t>prompt</a:t>
            </a:r>
            <a:r>
              <a:rPr lang="ru-RU" sz="2000" b="1" dirty="0"/>
              <a:t>('Ваше имя?');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74BB7D-F0F9-1581-E083-2444A3B8238A}"/>
              </a:ext>
            </a:extLst>
          </p:cNvPr>
          <p:cNvSpPr txBox="1"/>
          <p:nvPr/>
        </p:nvSpPr>
        <p:spPr>
          <a:xfrm>
            <a:off x="359286" y="569224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/>
              <a:t>let</a:t>
            </a:r>
            <a:r>
              <a:rPr lang="ru-RU" sz="2000" b="1" dirty="0"/>
              <a:t> </a:t>
            </a:r>
            <a:r>
              <a:rPr lang="ru-RU" sz="2000" b="1" dirty="0" err="1"/>
              <a:t>name</a:t>
            </a:r>
            <a:r>
              <a:rPr lang="ru-RU" sz="2000" b="1" dirty="0"/>
              <a:t> = </a:t>
            </a:r>
            <a:r>
              <a:rPr lang="ru-RU" sz="2000" b="1" dirty="0" err="1"/>
              <a:t>prompt</a:t>
            </a:r>
            <a:r>
              <a:rPr lang="ru-RU" sz="2000" b="1" dirty="0"/>
              <a:t>('Ваше имя?');</a:t>
            </a:r>
          </a:p>
          <a:p>
            <a:r>
              <a:rPr lang="ru-RU" sz="2000" b="1" dirty="0" err="1"/>
              <a:t>alert</a:t>
            </a:r>
            <a:r>
              <a:rPr lang="ru-RU" sz="2000" b="1" dirty="0"/>
              <a:t>('Ваше имя: ' + </a:t>
            </a:r>
            <a:r>
              <a:rPr lang="ru-RU" sz="2000" b="1" dirty="0" err="1"/>
              <a:t>name</a:t>
            </a:r>
            <a:r>
              <a:rPr lang="ru-RU" sz="2000" b="1" dirty="0"/>
              <a:t>);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3C1E22-59FC-A184-AF8C-FCA129E900FF}"/>
              </a:ext>
            </a:extLst>
          </p:cNvPr>
          <p:cNvSpPr txBox="1"/>
          <p:nvPr/>
        </p:nvSpPr>
        <p:spPr>
          <a:xfrm>
            <a:off x="5299118" y="4869814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b="1" dirty="0" err="1"/>
              <a:t>let</a:t>
            </a:r>
            <a:r>
              <a:rPr lang="ru-RU" sz="2000" b="1" dirty="0"/>
              <a:t> num1 = </a:t>
            </a:r>
            <a:r>
              <a:rPr lang="ru-RU" sz="2000" b="1" dirty="0" err="1"/>
              <a:t>prompt</a:t>
            </a:r>
            <a:r>
              <a:rPr lang="ru-RU" sz="2000" b="1" dirty="0"/>
              <a:t>('Введите первое число');</a:t>
            </a:r>
          </a:p>
          <a:p>
            <a:r>
              <a:rPr lang="ru-RU" sz="2000" b="1" dirty="0" err="1"/>
              <a:t>let</a:t>
            </a:r>
            <a:r>
              <a:rPr lang="ru-RU" sz="2000" b="1" dirty="0"/>
              <a:t> num2 = </a:t>
            </a:r>
            <a:r>
              <a:rPr lang="ru-RU" sz="2000" b="1" dirty="0" err="1"/>
              <a:t>prompt</a:t>
            </a:r>
            <a:r>
              <a:rPr lang="ru-RU" sz="2000" b="1" dirty="0"/>
              <a:t>('Введите второе число');</a:t>
            </a:r>
          </a:p>
          <a:p>
            <a:endParaRPr lang="ru-RU" sz="2000" b="1" dirty="0"/>
          </a:p>
          <a:p>
            <a:r>
              <a:rPr lang="ru-RU" sz="2000" b="1" dirty="0" err="1"/>
              <a:t>alert</a:t>
            </a:r>
            <a:r>
              <a:rPr lang="ru-RU" sz="2000" b="1" dirty="0"/>
              <a:t>(num1 + num2); // сложит числа как строки</a:t>
            </a:r>
          </a:p>
        </p:txBody>
      </p:sp>
    </p:spTree>
    <p:extLst>
      <p:ext uri="{BB962C8B-B14F-4D97-AF65-F5344CB8AC3E}">
        <p14:creationId xmlns:p14="http://schemas.microsoft.com/office/powerpoint/2010/main" val="176185430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Выражения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53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3CD9C5E-8582-7922-A895-3C92C934C329}"/>
              </a:ext>
            </a:extLst>
          </p:cNvPr>
          <p:cNvSpPr/>
          <p:nvPr/>
        </p:nvSpPr>
        <p:spPr>
          <a:xfrm>
            <a:off x="78327" y="804958"/>
            <a:ext cx="1179157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Выражением</a:t>
            </a:r>
            <a:r>
              <a:rPr lang="ru-RU" sz="2000" b="1" dirty="0"/>
              <a:t> является любой корректный блок кода, который возвращает значение. 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BF3632CA-441C-0C90-BD2E-CEF70CF5B493}"/>
              </a:ext>
            </a:extLst>
          </p:cNvPr>
          <p:cNvSpPr/>
          <p:nvPr/>
        </p:nvSpPr>
        <p:spPr>
          <a:xfrm>
            <a:off x="78327" y="1188847"/>
            <a:ext cx="11791572" cy="47089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Все выражения в JavaScript делятся на следующие категории:</a:t>
            </a:r>
          </a:p>
          <a:p>
            <a:pPr marL="285750" indent="-285750">
              <a:buFontTx/>
              <a:buChar char="-"/>
            </a:pPr>
            <a:r>
              <a:rPr lang="ru-RU" sz="2000" b="1" dirty="0">
                <a:solidFill>
                  <a:srgbClr val="C00000"/>
                </a:solidFill>
              </a:rPr>
              <a:t>Арифметические:</a:t>
            </a:r>
            <a:r>
              <a:rPr lang="ru-RU" sz="2000" b="1" dirty="0"/>
              <a:t> вычисляются в число, например, 3.14159 (используют арифметические операторы).</a:t>
            </a:r>
          </a:p>
          <a:p>
            <a:pPr marL="285750" indent="-285750">
              <a:buFontTx/>
              <a:buChar char="-"/>
            </a:pPr>
            <a:endParaRPr lang="ru-RU" sz="2000" b="1" dirty="0"/>
          </a:p>
          <a:p>
            <a:pPr marL="285750" indent="-285750">
              <a:buFontTx/>
              <a:buChar char="-"/>
            </a:pPr>
            <a:r>
              <a:rPr lang="ru-RU" sz="2000" b="1" dirty="0">
                <a:solidFill>
                  <a:srgbClr val="C00000"/>
                </a:solidFill>
              </a:rPr>
              <a:t>Строковые:</a:t>
            </a:r>
            <a:r>
              <a:rPr lang="ru-RU" sz="2000" b="1" dirty="0"/>
              <a:t> вычисляются в текстовую строку, например, «</a:t>
            </a:r>
            <a:r>
              <a:rPr lang="ru-RU" sz="2000" b="1" dirty="0" err="1"/>
              <a:t>Fred</a:t>
            </a:r>
            <a:r>
              <a:rPr lang="ru-RU" sz="2000" b="1" dirty="0"/>
              <a:t>» или «234» (используют строковые операторы).</a:t>
            </a:r>
          </a:p>
          <a:p>
            <a:pPr marL="285750" indent="-285750">
              <a:buFontTx/>
              <a:buChar char="-"/>
            </a:pPr>
            <a:endParaRPr lang="ru-RU" sz="2000" b="1" dirty="0"/>
          </a:p>
          <a:p>
            <a:pPr marL="285750" indent="-285750">
              <a:buFontTx/>
              <a:buChar char="-"/>
            </a:pPr>
            <a:r>
              <a:rPr lang="ru-RU" sz="2000" b="1" dirty="0">
                <a:solidFill>
                  <a:srgbClr val="C00000"/>
                </a:solidFill>
              </a:rPr>
              <a:t>Логические:</a:t>
            </a:r>
            <a:r>
              <a:rPr lang="ru-RU" sz="2000" b="1" dirty="0"/>
              <a:t> вычисляются в true или false (используют логические операторы).</a:t>
            </a:r>
          </a:p>
          <a:p>
            <a:pPr marL="285750" indent="-285750">
              <a:buFontTx/>
              <a:buChar char="-"/>
            </a:pPr>
            <a:endParaRPr lang="ru-RU" sz="2000" b="1" dirty="0"/>
          </a:p>
          <a:p>
            <a:pPr marL="285750" indent="-285750">
              <a:buFontTx/>
              <a:buChar char="-"/>
            </a:pPr>
            <a:r>
              <a:rPr lang="ru-RU" sz="2000" b="1" dirty="0">
                <a:solidFill>
                  <a:srgbClr val="C00000"/>
                </a:solidFill>
              </a:rPr>
              <a:t>Основные выражения: </a:t>
            </a:r>
            <a:r>
              <a:rPr lang="ru-RU" sz="2000" b="1" dirty="0"/>
              <a:t>базовые ключевые слова и основные выражения в JavaScript.</a:t>
            </a:r>
          </a:p>
          <a:p>
            <a:pPr marL="285750" indent="-285750">
              <a:buFontTx/>
              <a:buChar char="-"/>
            </a:pPr>
            <a:endParaRPr lang="en-US" sz="2000" b="1" dirty="0"/>
          </a:p>
          <a:p>
            <a:pPr marL="285750" indent="-285750">
              <a:buFontTx/>
              <a:buChar char="-"/>
            </a:pPr>
            <a:endParaRPr lang="en-US" sz="2000" b="1" dirty="0"/>
          </a:p>
          <a:p>
            <a:pPr marL="285750" indent="-285750">
              <a:buFontTx/>
              <a:buChar char="-"/>
            </a:pPr>
            <a:endParaRPr lang="ru-RU" sz="2000" b="1" dirty="0"/>
          </a:p>
          <a:p>
            <a:pPr marL="285750" indent="-285750">
              <a:buFontTx/>
              <a:buChar char="-"/>
            </a:pPr>
            <a:r>
              <a:rPr lang="ru-RU" sz="2000" b="1" dirty="0">
                <a:solidFill>
                  <a:srgbClr val="C00000"/>
                </a:solidFill>
              </a:rPr>
              <a:t>Левосторонние выражения: </a:t>
            </a:r>
            <a:r>
              <a:rPr lang="ru-RU" sz="2000" b="1" dirty="0"/>
              <a:t>значениям слева назначаются значения справа.</a:t>
            </a:r>
          </a:p>
          <a:p>
            <a:pPr marL="285750" indent="-285750">
              <a:buFontTx/>
              <a:buChar char="-"/>
            </a:pPr>
            <a:endParaRPr lang="ru-RU" sz="2000" b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BE7C542-7FF3-7693-AAEB-869EEE9AB06B}"/>
              </a:ext>
            </a:extLst>
          </p:cNvPr>
          <p:cNvSpPr/>
          <p:nvPr/>
        </p:nvSpPr>
        <p:spPr>
          <a:xfrm>
            <a:off x="4304737" y="4537728"/>
            <a:ext cx="22109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this.propertyName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09B3588-7E82-7E19-E784-2BFA39439785}"/>
              </a:ext>
            </a:extLst>
          </p:cNvPr>
          <p:cNvSpPr/>
          <p:nvPr/>
        </p:nvSpPr>
        <p:spPr>
          <a:xfrm>
            <a:off x="1460729" y="5652932"/>
            <a:ext cx="809506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var objectName = new objectType([param1, param2, ..., </a:t>
            </a:r>
            <a:r>
              <a:rPr lang="ru-RU" sz="2000" b="1" dirty="0" err="1">
                <a:solidFill>
                  <a:srgbClr val="C00000"/>
                </a:solidFill>
              </a:rPr>
              <a:t>paramN</a:t>
            </a:r>
            <a:r>
              <a:rPr lang="ru-RU" sz="2000" b="1" dirty="0">
                <a:solidFill>
                  <a:srgbClr val="C00000"/>
                </a:solidFill>
              </a:rPr>
              <a:t>]);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C114CBC-E55E-F444-C831-D8288DD089A9}"/>
              </a:ext>
            </a:extLst>
          </p:cNvPr>
          <p:cNvSpPr/>
          <p:nvPr/>
        </p:nvSpPr>
        <p:spPr>
          <a:xfrm>
            <a:off x="1460729" y="6096258"/>
            <a:ext cx="1147596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>
                <a:solidFill>
                  <a:srgbClr val="C00000"/>
                </a:solidFill>
              </a:rPr>
              <a:t>super([arguments]); // вызывает конструктор родителя. super.functionOnParent([arguments]);</a:t>
            </a:r>
          </a:p>
        </p:txBody>
      </p:sp>
    </p:spTree>
    <p:extLst>
      <p:ext uri="{BB962C8B-B14F-4D97-AF65-F5344CB8AC3E}">
        <p14:creationId xmlns:p14="http://schemas.microsoft.com/office/powerpoint/2010/main" val="260006213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Понятие утверждения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54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F2F0E621-90CB-7D6E-C8AA-673441F71C5F}"/>
              </a:ext>
            </a:extLst>
          </p:cNvPr>
          <p:cNvSpPr/>
          <p:nvPr/>
        </p:nvSpPr>
        <p:spPr>
          <a:xfrm>
            <a:off x="80885" y="811008"/>
            <a:ext cx="12030229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В программировании под </a:t>
            </a:r>
            <a:r>
              <a:rPr lang="ru-RU" sz="2000" b="1" dirty="0">
                <a:solidFill>
                  <a:srgbClr val="C00000"/>
                </a:solidFill>
              </a:rPr>
              <a:t>утверждением (statement) </a:t>
            </a:r>
            <a:r>
              <a:rPr lang="ru-RU" sz="2000" b="1" dirty="0"/>
              <a:t>понимается законченная языковая конструкция.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C6BDF807-DC89-3CB8-85A0-DBCEAADD0F59}"/>
              </a:ext>
            </a:extLst>
          </p:cNvPr>
          <p:cNvSpPr/>
          <p:nvPr/>
        </p:nvSpPr>
        <p:spPr>
          <a:xfrm>
            <a:off x="80884" y="1276393"/>
            <a:ext cx="11927169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Чтобы различить где кончается одно утверждение и начинается другое в JavaScript используется </a:t>
            </a:r>
            <a:r>
              <a:rPr lang="ru-RU" sz="2000" b="1" dirty="0">
                <a:solidFill>
                  <a:srgbClr val="C00000"/>
                </a:solidFill>
              </a:rPr>
              <a:t>; (пустой оператор)</a:t>
            </a:r>
            <a:r>
              <a:rPr lang="ru-RU" sz="2000" b="1" dirty="0"/>
              <a:t>. 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626FEB06-1572-3C6F-4BD4-A00A5B105EF8}"/>
              </a:ext>
            </a:extLst>
          </p:cNvPr>
          <p:cNvSpPr/>
          <p:nvPr/>
        </p:nvSpPr>
        <p:spPr>
          <a:xfrm>
            <a:off x="7947011" y="3049198"/>
            <a:ext cx="369049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if(x==3.14) </a:t>
            </a:r>
          </a:p>
          <a:p>
            <a:r>
              <a:rPr lang="ru-RU" sz="2000" b="1" dirty="0"/>
              <a:t>	; // ничего не делаем</a:t>
            </a:r>
          </a:p>
          <a:p>
            <a:r>
              <a:rPr lang="ru-RU" sz="2000" b="1" dirty="0"/>
              <a:t>else </a:t>
            </a:r>
          </a:p>
          <a:p>
            <a:r>
              <a:rPr lang="ru-RU" sz="2000" b="1" dirty="0"/>
              <a:t>	y*=2;</a:t>
            </a:r>
          </a:p>
          <a:p>
            <a:r>
              <a:rPr lang="ru-RU" sz="2000" b="1" dirty="0"/>
              <a:t>for(int i=0;i&lt;10;i++)</a:t>
            </a:r>
          </a:p>
          <a:p>
            <a:r>
              <a:rPr lang="ru-RU" sz="2000" b="1" dirty="0"/>
              <a:t>	; // холостой цикл</a:t>
            </a:r>
          </a:p>
          <a:p>
            <a:r>
              <a:rPr lang="ru-RU" sz="2000" b="1" dirty="0"/>
              <a:t>;;;; // тоже допустимо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08C0A81-3565-3214-FE24-ADE657482334}"/>
              </a:ext>
            </a:extLst>
          </p:cNvPr>
          <p:cNvSpPr/>
          <p:nvPr/>
        </p:nvSpPr>
        <p:spPr>
          <a:xfrm>
            <a:off x="126687" y="2071176"/>
            <a:ext cx="1169084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Другим важным оператором является </a:t>
            </a:r>
            <a:r>
              <a:rPr lang="ru-RU" sz="2000" b="1" dirty="0">
                <a:solidFill>
                  <a:srgbClr val="C00000"/>
                </a:solidFill>
              </a:rPr>
              <a:t>составной оператор {}</a:t>
            </a:r>
            <a:r>
              <a:rPr lang="ru-RU" sz="2000" b="1" dirty="0"/>
              <a:t>. После составного оператора пустой оператор не требуется.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42A0AC49-1948-60C4-6C2A-CF767FCD0B95}"/>
              </a:ext>
            </a:extLst>
          </p:cNvPr>
          <p:cNvSpPr/>
          <p:nvPr/>
        </p:nvSpPr>
        <p:spPr>
          <a:xfrm>
            <a:off x="1600513" y="3331344"/>
            <a:ext cx="3765570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if(x==3.14) {</a:t>
            </a:r>
          </a:p>
          <a:p>
            <a:r>
              <a:rPr lang="ru-RU" sz="2000" b="1" dirty="0"/>
              <a:t>	y*=2;</a:t>
            </a:r>
          </a:p>
          <a:p>
            <a:r>
              <a:rPr lang="ru-RU" sz="2000" b="1" dirty="0"/>
              <a:t>	... // и т.д.</a:t>
            </a:r>
          </a:p>
          <a:p>
            <a:r>
              <a:rPr lang="ru-RU" sz="2000" b="1" dirty="0"/>
              <a:t>   }</a:t>
            </a:r>
          </a:p>
        </p:txBody>
      </p:sp>
    </p:spTree>
    <p:extLst>
      <p:ext uri="{BB962C8B-B14F-4D97-AF65-F5344CB8AC3E}">
        <p14:creationId xmlns:p14="http://schemas.microsoft.com/office/powerpoint/2010/main" val="248364365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Условное утверждение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55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F528A1-612B-12D4-11EF-6CD284D4354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232" y="1044975"/>
            <a:ext cx="4376460" cy="141971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041BFA26-CF33-CE47-8985-3D1F7B0F4B31}"/>
              </a:ext>
            </a:extLst>
          </p:cNvPr>
          <p:cNvSpPr/>
          <p:nvPr/>
        </p:nvSpPr>
        <p:spPr>
          <a:xfrm>
            <a:off x="4936347" y="1011063"/>
            <a:ext cx="711094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Выражение в круглых скобках называется </a:t>
            </a:r>
            <a:r>
              <a:rPr lang="ru-RU" sz="2000" b="1" dirty="0">
                <a:solidFill>
                  <a:srgbClr val="C00000"/>
                </a:solidFill>
              </a:rPr>
              <a:t>условием выполнения </a:t>
            </a:r>
            <a:r>
              <a:rPr lang="ru-RU" sz="2000" b="1" dirty="0"/>
              <a:t>инструкции if или кратко </a:t>
            </a:r>
            <a:r>
              <a:rPr lang="ru-RU" sz="2000" b="1" dirty="0">
                <a:solidFill>
                  <a:srgbClr val="C00000"/>
                </a:solidFill>
              </a:rPr>
              <a:t>условием</a:t>
            </a:r>
            <a:r>
              <a:rPr lang="ru-RU" sz="2000" b="1" dirty="0"/>
              <a:t>. Полученное значение</a:t>
            </a:r>
            <a:r>
              <a:rPr lang="en-US" sz="2000" b="1" dirty="0"/>
              <a:t> </a:t>
            </a:r>
            <a:r>
              <a:rPr lang="ru-RU" sz="2000" b="1" dirty="0"/>
              <a:t>при вычислении выражения, если необходимо, неявно преобразуется к булеву типу. </a:t>
            </a:r>
            <a:endParaRPr lang="ru-RU" sz="2000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267BFBE1-98B8-7929-A2F2-8CF1EF20AF41}"/>
              </a:ext>
            </a:extLst>
          </p:cNvPr>
          <p:cNvSpPr/>
          <p:nvPr/>
        </p:nvSpPr>
        <p:spPr>
          <a:xfrm>
            <a:off x="6816096" y="2481591"/>
            <a:ext cx="522069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В JavaScript под значением “ложь” понимается:</a:t>
            </a:r>
          </a:p>
          <a:p>
            <a:r>
              <a:rPr lang="en-US" sz="2000" b="1" dirty="0"/>
              <a:t>- </a:t>
            </a:r>
            <a:r>
              <a:rPr lang="ru-RU" sz="2000" b="1" dirty="0"/>
              <a:t>Число 0 (ноль).</a:t>
            </a:r>
          </a:p>
          <a:p>
            <a:r>
              <a:rPr lang="en-US" sz="2000" b="1" dirty="0"/>
              <a:t>- </a:t>
            </a:r>
            <a:r>
              <a:rPr lang="ru-RU" sz="2000" b="1" dirty="0"/>
              <a:t>Пустая строка "".</a:t>
            </a:r>
          </a:p>
          <a:p>
            <a:r>
              <a:rPr lang="en-US" sz="2000" b="1" dirty="0"/>
              <a:t>- </a:t>
            </a:r>
            <a:r>
              <a:rPr lang="ru-RU" sz="2000" b="1" dirty="0"/>
              <a:t>Логическое значение false.</a:t>
            </a:r>
          </a:p>
          <a:p>
            <a:r>
              <a:rPr lang="en-US" sz="2000" b="1" dirty="0"/>
              <a:t>- </a:t>
            </a:r>
            <a:r>
              <a:rPr lang="ru-RU" sz="2000" b="1" dirty="0"/>
              <a:t>Значение null.</a:t>
            </a:r>
          </a:p>
          <a:p>
            <a:r>
              <a:rPr lang="en-US" sz="2000" b="1" dirty="0"/>
              <a:t>- </a:t>
            </a:r>
            <a:r>
              <a:rPr lang="ru-RU" sz="2000" b="1" dirty="0"/>
              <a:t>Значение undefined.</a:t>
            </a:r>
          </a:p>
          <a:p>
            <a:r>
              <a:rPr lang="en-US" sz="2000" b="1" dirty="0"/>
              <a:t>- </a:t>
            </a:r>
            <a:r>
              <a:rPr lang="ru-RU" sz="2000" b="1" dirty="0"/>
              <a:t>Значение NaN (Not a Number - не число).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F3B49BFB-2B92-5D6C-B943-D1401C9033A4}"/>
              </a:ext>
            </a:extLst>
          </p:cNvPr>
          <p:cNvSpPr/>
          <p:nvPr/>
        </p:nvSpPr>
        <p:spPr>
          <a:xfrm>
            <a:off x="155208" y="2635480"/>
            <a:ext cx="6480864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var digit = 4;</a:t>
            </a:r>
          </a:p>
          <a:p>
            <a:r>
              <a:rPr lang="ru-RU" sz="2000" b="1" dirty="0"/>
              <a:t>if (digit &lt; 4) </a:t>
            </a:r>
            <a:endParaRPr lang="en-US" sz="2000" b="1" dirty="0"/>
          </a:p>
          <a:p>
            <a:r>
              <a:rPr lang="en-US" sz="2000" b="1" dirty="0"/>
              <a:t>       </a:t>
            </a:r>
            <a:r>
              <a:rPr lang="ru-RU" sz="2000" b="1" dirty="0"/>
              <a:t>console.log("Значение переменной меньше 4.");</a:t>
            </a:r>
          </a:p>
          <a:p>
            <a:r>
              <a:rPr lang="ru-RU" sz="2000" b="1" dirty="0"/>
              <a:t>else if (digit == 4) </a:t>
            </a:r>
            <a:endParaRPr lang="en-US" sz="2000" b="1" dirty="0"/>
          </a:p>
          <a:p>
            <a:r>
              <a:rPr lang="en-US" sz="2000" b="1" dirty="0"/>
              <a:t>       </a:t>
            </a:r>
            <a:r>
              <a:rPr lang="ru-RU" sz="2000" b="1" dirty="0"/>
              <a:t>console.log("Значение переменной равно 4.");</a:t>
            </a:r>
          </a:p>
          <a:p>
            <a:r>
              <a:rPr lang="ru-RU" sz="2000" b="1" dirty="0"/>
              <a:t>else </a:t>
            </a:r>
            <a:endParaRPr lang="en-US" sz="2000" b="1" dirty="0"/>
          </a:p>
          <a:p>
            <a:r>
              <a:rPr lang="en-US" sz="2000" b="1" dirty="0"/>
              <a:t>       </a:t>
            </a:r>
            <a:r>
              <a:rPr lang="ru-RU" sz="2000" b="1" dirty="0"/>
              <a:t>console.log("Значение переменной больше 4.");</a:t>
            </a:r>
          </a:p>
        </p:txBody>
      </p:sp>
    </p:spTree>
    <p:extLst>
      <p:ext uri="{BB962C8B-B14F-4D97-AF65-F5344CB8AC3E}">
        <p14:creationId xmlns:p14="http://schemas.microsoft.com/office/powerpoint/2010/main" val="30626796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Тернарный оператор как альтернатива IF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  <a:latin typeface="Sansation" pitchFamily="2" charset="0"/>
              </a:rPr>
              <a:t>56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CB678DA5-FD78-D54F-A965-2BAE7AA04C28}"/>
              </a:ext>
            </a:extLst>
          </p:cNvPr>
          <p:cNvSpPr/>
          <p:nvPr/>
        </p:nvSpPr>
        <p:spPr>
          <a:xfrm>
            <a:off x="129118" y="2007015"/>
            <a:ext cx="11740781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Тернарный оператор </a:t>
            </a:r>
            <a:r>
              <a:rPr lang="ru-RU" sz="2000" b="1" dirty="0"/>
              <a:t>часто используется, когда переменной необходимо присвоить одно из значений в зависимости от некоторого условия.</a:t>
            </a:r>
          </a:p>
          <a:p>
            <a:pPr algn="just"/>
            <a:endParaRPr lang="ru-RU" sz="2000" b="1" dirty="0"/>
          </a:p>
          <a:p>
            <a:pPr algn="ctr"/>
            <a:r>
              <a:rPr lang="ru-RU" sz="2000" b="1" dirty="0"/>
              <a:t>условие ? выражение 1 : выражение 2</a:t>
            </a:r>
          </a:p>
          <a:p>
            <a:pPr algn="ctr"/>
            <a:endParaRPr lang="ru-RU" sz="2000" b="1" dirty="0"/>
          </a:p>
          <a:p>
            <a:pPr algn="just"/>
            <a:endParaRPr lang="ru-RU" sz="2000" b="1" dirty="0"/>
          </a:p>
          <a:p>
            <a:pPr lvl="1" algn="just"/>
            <a:endParaRPr lang="en-US" sz="2000" b="1" i="1" dirty="0"/>
          </a:p>
          <a:p>
            <a:pPr lvl="1" algn="just"/>
            <a:endParaRPr lang="en-US" sz="2000" b="1" i="1" dirty="0"/>
          </a:p>
          <a:p>
            <a:pPr lvl="1" algn="just"/>
            <a:endParaRPr lang="en-US" sz="2000" b="1" i="1" dirty="0"/>
          </a:p>
        </p:txBody>
      </p:sp>
      <p:graphicFrame>
        <p:nvGraphicFramePr>
          <p:cNvPr id="5" name="Таблица 4">
            <a:extLst>
              <a:ext uri="{FF2B5EF4-FFF2-40B4-BE49-F238E27FC236}">
                <a16:creationId xmlns:a16="http://schemas.microsoft.com/office/drawing/2014/main" id="{EABAED25-92F2-0C85-DE45-CA15AF05E4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782255"/>
              </p:ext>
            </p:extLst>
          </p:nvPr>
        </p:nvGraphicFramePr>
        <p:xfrm>
          <a:off x="1802711" y="940799"/>
          <a:ext cx="8844500" cy="949960"/>
        </p:xfrm>
        <a:graphic>
          <a:graphicData uri="http://schemas.openxmlformats.org/drawingml/2006/table">
            <a:tbl>
              <a:tblPr firstRow="1" bandRow="1"/>
              <a:tblGrid>
                <a:gridCol w="1373502">
                  <a:extLst>
                    <a:ext uri="{9D8B030D-6E8A-4147-A177-3AD203B41FA5}">
                      <a16:colId xmlns:a16="http://schemas.microsoft.com/office/drawing/2014/main" val="4251485928"/>
                    </a:ext>
                  </a:extLst>
                </a:gridCol>
                <a:gridCol w="2520336">
                  <a:extLst>
                    <a:ext uri="{9D8B030D-6E8A-4147-A177-3AD203B41FA5}">
                      <a16:colId xmlns:a16="http://schemas.microsoft.com/office/drawing/2014/main" val="3177780962"/>
                    </a:ext>
                  </a:extLst>
                </a:gridCol>
                <a:gridCol w="1350180">
                  <a:extLst>
                    <a:ext uri="{9D8B030D-6E8A-4147-A177-3AD203B41FA5}">
                      <a16:colId xmlns:a16="http://schemas.microsoft.com/office/drawing/2014/main" val="3301685891"/>
                    </a:ext>
                  </a:extLst>
                </a:gridCol>
                <a:gridCol w="810108">
                  <a:extLst>
                    <a:ext uri="{9D8B030D-6E8A-4147-A177-3AD203B41FA5}">
                      <a16:colId xmlns:a16="http://schemas.microsoft.com/office/drawing/2014/main" val="2197194351"/>
                    </a:ext>
                  </a:extLst>
                </a:gridCol>
                <a:gridCol w="2790374">
                  <a:extLst>
                    <a:ext uri="{9D8B030D-6E8A-4147-A177-3AD203B41FA5}">
                      <a16:colId xmlns:a16="http://schemas.microsoft.com/office/drawing/2014/main" val="18107664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 оператора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600" b="1" dirty="0"/>
                        <a:t>Типы значений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7582613"/>
                  </a:ext>
                </a:extLst>
              </a:tr>
              <a:tr h="130956">
                <a:tc>
                  <a:txBody>
                    <a:bodyPr/>
                    <a:lstStyle/>
                    <a:p>
                      <a:r>
                        <a:rPr lang="ru-RU" sz="1600" b="1" dirty="0"/>
                        <a:t>… ? … : 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Тернарный оператор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справа налево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ru-RU" sz="1600" b="1" dirty="0"/>
                        <a:t>любое, любое, любое→любое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219728"/>
                  </a:ext>
                </a:extLst>
              </a:tr>
            </a:tbl>
          </a:graphicData>
        </a:graphic>
      </p:graphicFrame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0695A4B-45BA-81A0-EF62-03EC4BBF9227}"/>
              </a:ext>
            </a:extLst>
          </p:cNvPr>
          <p:cNvSpPr/>
          <p:nvPr/>
        </p:nvSpPr>
        <p:spPr>
          <a:xfrm>
            <a:off x="1885825" y="3312273"/>
            <a:ext cx="8678272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dirty="0">
                <a:solidFill>
                  <a:srgbClr val="C00000"/>
                </a:solidFill>
              </a:rPr>
              <a:t>'?' - это оператор, а не инструкция. Все операторы возвращают значения, этим они отличаются от инструкций. </a:t>
            </a: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983F8EF9-501E-F316-2DC6-37F81826A649}"/>
              </a:ext>
            </a:extLst>
          </p:cNvPr>
          <p:cNvSpPr/>
          <p:nvPr/>
        </p:nvSpPr>
        <p:spPr>
          <a:xfrm>
            <a:off x="2449284" y="4869337"/>
            <a:ext cx="837111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err="1"/>
              <a:t>var</a:t>
            </a:r>
            <a:r>
              <a:rPr lang="ru-RU" sz="2000" b="1" dirty="0"/>
              <a:t> </a:t>
            </a:r>
            <a:r>
              <a:rPr lang="ru-RU" sz="2000" b="1" dirty="0" err="1"/>
              <a:t>dostup</a:t>
            </a:r>
            <a:r>
              <a:rPr lang="ru-RU" sz="2000" b="1" dirty="0"/>
              <a:t>;</a:t>
            </a:r>
          </a:p>
          <a:p>
            <a:r>
              <a:rPr lang="ru-RU" sz="2000" b="1" dirty="0"/>
              <a:t>var age = prompt('Укажите Ваш возраст?', '');</a:t>
            </a:r>
          </a:p>
          <a:p>
            <a:r>
              <a:rPr lang="ru-RU" sz="2000" b="1" dirty="0"/>
              <a:t>dostup  = (age &gt; 16) ? "Вам разрешён доступ." : "Вам запрещён доступ.";</a:t>
            </a:r>
          </a:p>
          <a:p>
            <a:r>
              <a:rPr lang="ru-RU" sz="2000" b="1" dirty="0"/>
              <a:t>alert(dostup);</a:t>
            </a:r>
          </a:p>
        </p:txBody>
      </p:sp>
    </p:spTree>
    <p:extLst>
      <p:ext uri="{BB962C8B-B14F-4D97-AF65-F5344CB8AC3E}">
        <p14:creationId xmlns:p14="http://schemas.microsoft.com/office/powerpoint/2010/main" val="11860709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60FD2B-23DD-F45A-A739-CE46C1E61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ED892-7832-6019-8ED1-BBCEA2392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6957F-1F43-A909-A5CD-5F562DFC3F28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D349534C-92FA-B73A-4375-697ADFBDA525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57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3FBEC57-95A3-3446-4E24-C9C6D3A6E5FE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778F52C-219A-B3E2-64A2-342F9B5FA5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02" y="2056736"/>
            <a:ext cx="3171487" cy="20994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9A6B3C1-AFD7-93D9-6CD4-06AF64851DD6}"/>
              </a:ext>
            </a:extLst>
          </p:cNvPr>
          <p:cNvSpPr txBox="1"/>
          <p:nvPr/>
        </p:nvSpPr>
        <p:spPr>
          <a:xfrm>
            <a:off x="46878" y="1260433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200" b="1" dirty="0">
                <a:solidFill>
                  <a:srgbClr val="C00000"/>
                </a:solidFill>
              </a:rPr>
              <a:t>1</a:t>
            </a:r>
            <a:endParaRPr lang="ru-RU" sz="7200" dirty="0">
              <a:solidFill>
                <a:srgbClr val="C00000"/>
              </a:solidFill>
            </a:endParaRPr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25ABC5D6-52AB-CB6F-2124-B45F18A23A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07684" y="1329565"/>
            <a:ext cx="3176632" cy="209943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0BD53D-57FA-29F8-E7E1-9D22259C90C4}"/>
              </a:ext>
            </a:extLst>
          </p:cNvPr>
          <p:cNvSpPr txBox="1"/>
          <p:nvPr/>
        </p:nvSpPr>
        <p:spPr>
          <a:xfrm>
            <a:off x="3912598" y="483815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b="1" dirty="0">
                <a:solidFill>
                  <a:srgbClr val="C00000"/>
                </a:solidFill>
              </a:rPr>
              <a:t>2</a:t>
            </a:r>
            <a:endParaRPr lang="ru-RU" sz="7200" dirty="0">
              <a:solidFill>
                <a:srgbClr val="C00000"/>
              </a:solidFill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99665C9-B02C-C2EB-93D2-8165860F18E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49011" y="1735311"/>
            <a:ext cx="3714384" cy="2099434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D2E5F191-573E-833B-DD0D-3E9F8E912D50}"/>
              </a:ext>
            </a:extLst>
          </p:cNvPr>
          <p:cNvSpPr txBox="1"/>
          <p:nvPr/>
        </p:nvSpPr>
        <p:spPr>
          <a:xfrm>
            <a:off x="7981859" y="681037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b="1" dirty="0">
                <a:solidFill>
                  <a:srgbClr val="C00000"/>
                </a:solidFill>
              </a:rPr>
              <a:t>3</a:t>
            </a:r>
            <a:endParaRPr lang="ru-RU" sz="7200" dirty="0">
              <a:solidFill>
                <a:srgbClr val="C00000"/>
              </a:solidFill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6B91314B-31D7-DA03-A473-96EE4E2BC1C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60466" y="4389621"/>
            <a:ext cx="8374333" cy="2112332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9E8D6242-0BA2-FA6A-2CF9-DA0671E4014F}"/>
              </a:ext>
            </a:extLst>
          </p:cNvPr>
          <p:cNvSpPr txBox="1"/>
          <p:nvPr/>
        </p:nvSpPr>
        <p:spPr>
          <a:xfrm>
            <a:off x="2695771" y="4003357"/>
            <a:ext cx="59508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7200" b="1" dirty="0">
                <a:solidFill>
                  <a:srgbClr val="C00000"/>
                </a:solidFill>
              </a:rPr>
              <a:t>4</a:t>
            </a:r>
            <a:endParaRPr lang="ru-RU" sz="720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8746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Утверждение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SWITCH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58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B63FCEF-F8DE-2661-1246-A8B612DBFF30}"/>
              </a:ext>
            </a:extLst>
          </p:cNvPr>
          <p:cNvSpPr/>
          <p:nvPr/>
        </p:nvSpPr>
        <p:spPr>
          <a:xfrm>
            <a:off x="5715289" y="792172"/>
            <a:ext cx="6311343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Инструкция switch </a:t>
            </a:r>
            <a:r>
              <a:rPr lang="ru-RU" sz="2000" b="1" dirty="0"/>
              <a:t>была придумана в качестве альтернативы для нескольких if. Обычно она используется когда нужно </a:t>
            </a:r>
            <a:r>
              <a:rPr lang="ru-RU" sz="2000" b="1" dirty="0">
                <a:solidFill>
                  <a:srgbClr val="C00000"/>
                </a:solidFill>
              </a:rPr>
              <a:t>сравнить некоторое значение сразу с несколькими различными вариантами (другими значениями) </a:t>
            </a:r>
            <a:r>
              <a:rPr lang="ru-RU" sz="2000" b="1" dirty="0"/>
              <a:t>и выполнить соответствующий фрагмент кода из предложенных вариантов.</a:t>
            </a:r>
            <a:endParaRPr lang="en-US" sz="2000" b="1" dirty="0"/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E603AA84-D554-6B77-CE53-BBC831C20A4E}"/>
              </a:ext>
            </a:extLst>
          </p:cNvPr>
          <p:cNvSpPr/>
          <p:nvPr/>
        </p:nvSpPr>
        <p:spPr>
          <a:xfrm>
            <a:off x="165368" y="889843"/>
            <a:ext cx="5400720" cy="560153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i="1" dirty="0"/>
              <a:t>switch (выражение) {</a:t>
            </a:r>
          </a:p>
          <a:p>
            <a:pPr algn="just"/>
            <a:r>
              <a:rPr lang="ru-RU" sz="2000" b="1" i="1" dirty="0"/>
              <a:t>  case выражение1:</a:t>
            </a:r>
          </a:p>
          <a:p>
            <a:pPr algn="just"/>
            <a:r>
              <a:rPr lang="ru-RU" sz="2000" b="1" i="1" dirty="0"/>
              <a:t>    // Этот фрагмент кода выполнится, если вычисленное значение выражения в скобках</a:t>
            </a:r>
          </a:p>
          <a:p>
            <a:pPr algn="just"/>
            <a:r>
              <a:rPr lang="ru-RU" sz="2000" b="1" i="1" dirty="0"/>
              <a:t>    // равно значению выражение1</a:t>
            </a:r>
          </a:p>
          <a:p>
            <a:pPr algn="just"/>
            <a:r>
              <a:rPr lang="ru-RU" sz="2000" b="1" i="1" dirty="0"/>
              <a:t>    break;</a:t>
            </a:r>
          </a:p>
          <a:p>
            <a:pPr algn="just"/>
            <a:r>
              <a:rPr lang="ru-RU" sz="2000" b="1" i="1" dirty="0"/>
              <a:t>  ...</a:t>
            </a:r>
          </a:p>
          <a:p>
            <a:pPr algn="just"/>
            <a:r>
              <a:rPr lang="ru-RU" sz="2000" b="1" i="1" dirty="0"/>
              <a:t>  case выражениеN:</a:t>
            </a:r>
          </a:p>
          <a:p>
            <a:pPr algn="just"/>
            <a:r>
              <a:rPr lang="ru-RU" sz="2000" b="1" i="1" dirty="0"/>
              <a:t>    // Этот фрагмент кода выполнится, если вычисленное значение выражения в скобках</a:t>
            </a:r>
          </a:p>
          <a:p>
            <a:pPr algn="just"/>
            <a:r>
              <a:rPr lang="ru-RU" sz="2000" b="1" i="1" dirty="0"/>
              <a:t>    // равно значению выражениеN</a:t>
            </a:r>
          </a:p>
          <a:p>
            <a:pPr algn="just"/>
            <a:r>
              <a:rPr lang="ru-RU" sz="2000" b="1" i="1" dirty="0"/>
              <a:t>    break;</a:t>
            </a:r>
          </a:p>
          <a:p>
            <a:pPr algn="just"/>
            <a:r>
              <a:rPr lang="ru-RU" sz="2000" b="1" i="1" dirty="0"/>
              <a:t>  default:</a:t>
            </a:r>
          </a:p>
          <a:p>
            <a:pPr algn="just"/>
            <a:r>
              <a:rPr lang="ru-RU" sz="2000" b="1" i="1" dirty="0"/>
              <a:t>    // Этот фрагмент кода выполнится при отсутствии</a:t>
            </a:r>
          </a:p>
          <a:p>
            <a:pPr algn="just"/>
            <a:r>
              <a:rPr lang="ru-RU" sz="2000" b="1" i="1" dirty="0"/>
              <a:t>    // совпадений со значениями представленных вариантов</a:t>
            </a:r>
          </a:p>
          <a:p>
            <a:pPr algn="just"/>
            <a:r>
              <a:rPr lang="ru-RU" sz="2000" b="1" i="1" dirty="0"/>
              <a:t>}</a:t>
            </a:r>
            <a:endParaRPr lang="en-US" sz="2000" b="1" i="1" dirty="0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45B49882-B6D9-378D-580A-33E87C80628E}"/>
              </a:ext>
            </a:extLst>
          </p:cNvPr>
          <p:cNvSpPr/>
          <p:nvPr/>
        </p:nvSpPr>
        <p:spPr>
          <a:xfrm>
            <a:off x="5773899" y="3103126"/>
            <a:ext cx="6096000" cy="3754874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2000" b="1" dirty="0"/>
              <a:t>var den = new Date();</a:t>
            </a:r>
          </a:p>
          <a:p>
            <a:r>
              <a:rPr lang="ru-RU" sz="2000" b="1" dirty="0"/>
              <a:t>var denNedeli = den.getDay();</a:t>
            </a:r>
          </a:p>
          <a:p>
            <a:r>
              <a:rPr lang="ru-RU" sz="2000" b="1" dirty="0"/>
              <a:t>switch (denNedeli) {</a:t>
            </a:r>
          </a:p>
          <a:p>
            <a:r>
              <a:rPr lang="en-US" sz="2000" b="1" dirty="0"/>
              <a:t>      </a:t>
            </a:r>
            <a:r>
              <a:rPr lang="ru-RU" sz="2000" b="1" dirty="0"/>
              <a:t>case 5:</a:t>
            </a:r>
            <a:r>
              <a:rPr lang="en-US" sz="2000" b="1" dirty="0"/>
              <a:t> </a:t>
            </a:r>
            <a:r>
              <a:rPr lang="ru-RU" sz="2000" b="1" dirty="0"/>
              <a:t>document.write("Долгожданная пятница :)");</a:t>
            </a:r>
          </a:p>
          <a:p>
            <a:r>
              <a:rPr lang="en-US" sz="2000" b="1" dirty="0"/>
              <a:t>      </a:t>
            </a:r>
            <a:r>
              <a:rPr lang="ru-RU" sz="2000" b="1" dirty="0"/>
              <a:t>break;</a:t>
            </a:r>
          </a:p>
          <a:p>
            <a:r>
              <a:rPr lang="en-US" sz="2000" b="1" dirty="0"/>
              <a:t>      </a:t>
            </a:r>
            <a:r>
              <a:rPr lang="ru-RU" sz="2000" b="1" dirty="0"/>
              <a:t>case 0:</a:t>
            </a:r>
            <a:r>
              <a:rPr lang="en-US" sz="2000" b="1" dirty="0"/>
              <a:t> d</a:t>
            </a:r>
            <a:r>
              <a:rPr lang="ru-RU" sz="2000" b="1" dirty="0"/>
              <a:t>ocument.write("Уже воскресенье...");</a:t>
            </a:r>
          </a:p>
          <a:p>
            <a:r>
              <a:rPr lang="en-US" sz="2000" b="1" dirty="0"/>
              <a:t>     </a:t>
            </a:r>
            <a:r>
              <a:rPr lang="ru-RU" sz="2000" b="1" dirty="0"/>
              <a:t>break;</a:t>
            </a:r>
          </a:p>
          <a:p>
            <a:r>
              <a:rPr lang="en-US" sz="2000" b="1" dirty="0"/>
              <a:t>     </a:t>
            </a:r>
            <a:r>
              <a:rPr lang="ru-RU" sz="2000" b="1" dirty="0"/>
              <a:t>default:</a:t>
            </a:r>
          </a:p>
          <a:p>
            <a:r>
              <a:rPr lang="en-US" sz="2000" b="1" dirty="0"/>
              <a:t>         </a:t>
            </a:r>
            <a:r>
              <a:rPr lang="ru-RU" sz="2000" b="1" dirty="0"/>
              <a:t>document.write("Выходные ещё ждать и ждать.");</a:t>
            </a:r>
          </a:p>
          <a:p>
            <a:r>
              <a:rPr lang="ru-RU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74861871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Утверждение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WHILE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59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8D05A211-5690-7F48-E479-8DF796BAE4FB}"/>
              </a:ext>
            </a:extLst>
          </p:cNvPr>
          <p:cNvSpPr/>
          <p:nvPr/>
        </p:nvSpPr>
        <p:spPr>
          <a:xfrm>
            <a:off x="132089" y="881902"/>
            <a:ext cx="1192782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Цикл</a:t>
            </a:r>
            <a:r>
              <a:rPr lang="ru-RU" sz="2000" b="1" dirty="0"/>
              <a:t> – это управляющая инструкция, позволяющая повторять выполнение программного кода определённое количество раз. Каждое отдельное исполнение инструкций в теле цикла называется </a:t>
            </a:r>
            <a:r>
              <a:rPr lang="ru-RU" sz="2000" b="1" dirty="0">
                <a:solidFill>
                  <a:srgbClr val="C00000"/>
                </a:solidFill>
              </a:rPr>
              <a:t>итерацией</a:t>
            </a:r>
            <a:r>
              <a:rPr lang="ru-RU" sz="2000" b="1" dirty="0"/>
              <a:t>.</a:t>
            </a:r>
            <a:endParaRPr lang="en-US" sz="2000" b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14C1CD3-C14B-43E2-B996-F81F20D2C85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0835" y="1995194"/>
            <a:ext cx="5663565" cy="4290151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14134582-BD37-FEE7-30B1-54090038076D}"/>
              </a:ext>
            </a:extLst>
          </p:cNvPr>
          <p:cNvSpPr/>
          <p:nvPr/>
        </p:nvSpPr>
        <p:spPr>
          <a:xfrm>
            <a:off x="7187371" y="1897565"/>
            <a:ext cx="432057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var i = 1; </a:t>
            </a:r>
          </a:p>
          <a:p>
            <a:r>
              <a:rPr lang="ru-RU" sz="2000" b="1" dirty="0"/>
              <a:t>var msg = '';</a:t>
            </a:r>
          </a:p>
          <a:p>
            <a:r>
              <a:rPr lang="ru-RU" sz="2000" b="1" dirty="0"/>
              <a:t>while (i &lt; 10) {</a:t>
            </a:r>
          </a:p>
          <a:p>
            <a:r>
              <a:rPr lang="ru-RU" sz="2000" b="1" dirty="0"/>
              <a:t>	msg+= i + ' x 3 = ' + (i * 3) + '&lt;br&gt;';  </a:t>
            </a:r>
          </a:p>
          <a:p>
            <a:r>
              <a:rPr lang="ru-RU" sz="2000" b="1" dirty="0"/>
              <a:t>	i++;</a:t>
            </a:r>
          </a:p>
          <a:p>
            <a:r>
              <a:rPr lang="ru-RU" sz="2000" b="1" dirty="0"/>
              <a:t>}</a:t>
            </a:r>
          </a:p>
          <a:p>
            <a:r>
              <a:rPr lang="ru-RU" sz="2000" b="1" dirty="0"/>
              <a:t>document.write(msg);</a:t>
            </a:r>
          </a:p>
        </p:txBody>
      </p:sp>
    </p:spTree>
    <p:extLst>
      <p:ext uri="{BB962C8B-B14F-4D97-AF65-F5344CB8AC3E}">
        <p14:creationId xmlns:p14="http://schemas.microsoft.com/office/powerpoint/2010/main" val="41538329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Область видимости переменных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60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1972C11-D52A-C8D8-3040-458D192A4328}"/>
              </a:ext>
            </a:extLst>
          </p:cNvPr>
          <p:cNvSpPr/>
          <p:nvPr/>
        </p:nvSpPr>
        <p:spPr>
          <a:xfrm>
            <a:off x="150927" y="912814"/>
            <a:ext cx="1189014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Цикл </a:t>
            </a:r>
            <a:r>
              <a:rPr lang="ru-RU" sz="2000" b="1" dirty="0" err="1"/>
              <a:t>do-while</a:t>
            </a:r>
            <a:r>
              <a:rPr lang="ru-RU" sz="2000" b="1" dirty="0"/>
              <a:t> похож на цикл </a:t>
            </a:r>
            <a:r>
              <a:rPr lang="ru-RU" sz="2000" b="1" dirty="0" err="1"/>
              <a:t>while</a:t>
            </a:r>
            <a:r>
              <a:rPr lang="ru-RU" sz="2000" b="1" dirty="0"/>
              <a:t>, за исключением того, что </a:t>
            </a:r>
            <a:r>
              <a:rPr lang="ru-RU" sz="2000" b="1" dirty="0">
                <a:solidFill>
                  <a:srgbClr val="C00000"/>
                </a:solidFill>
              </a:rPr>
              <a:t>проверка условия выполнения цикла производится после первой итерации</a:t>
            </a:r>
            <a:r>
              <a:rPr lang="ru-RU" sz="2000" b="1" dirty="0"/>
              <a:t>, а не перед ней, и завершается цикл точкой с запятой. Так как условие проверяется после итерации, код в теле цикла </a:t>
            </a:r>
            <a:r>
              <a:rPr lang="ru-RU" sz="2000" b="1" dirty="0" err="1">
                <a:solidFill>
                  <a:srgbClr val="C00000"/>
                </a:solidFill>
              </a:rPr>
              <a:t>do-while</a:t>
            </a:r>
            <a:r>
              <a:rPr lang="ru-RU" sz="2000" b="1" dirty="0">
                <a:solidFill>
                  <a:srgbClr val="C00000"/>
                </a:solidFill>
              </a:rPr>
              <a:t> всегда выполняется минимум один раз</a:t>
            </a:r>
            <a:r>
              <a:rPr lang="ru-RU" sz="2000" b="1" dirty="0"/>
              <a:t>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0FCC8F7-D876-63D4-FA16-846B312665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179" y="2088672"/>
            <a:ext cx="6210743" cy="3428207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31E74F00-A190-4B86-F119-D6BDD9094DC1}"/>
              </a:ext>
            </a:extLst>
          </p:cNvPr>
          <p:cNvSpPr/>
          <p:nvPr/>
        </p:nvSpPr>
        <p:spPr>
          <a:xfrm>
            <a:off x="7729985" y="2353006"/>
            <a:ext cx="315042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var result = '';</a:t>
            </a:r>
          </a:p>
          <a:p>
            <a:r>
              <a:rPr lang="ru-RU" sz="2000" b="1" dirty="0"/>
              <a:t>var i = 0;</a:t>
            </a:r>
          </a:p>
          <a:p>
            <a:r>
              <a:rPr lang="ru-RU" sz="2000" b="1" dirty="0"/>
              <a:t>do {</a:t>
            </a:r>
          </a:p>
          <a:p>
            <a:r>
              <a:rPr lang="en-US" sz="2000" b="1" dirty="0"/>
              <a:t>     </a:t>
            </a:r>
            <a:r>
              <a:rPr lang="ru-RU" sz="2000" b="1" dirty="0"/>
              <a:t>i += 1;</a:t>
            </a:r>
          </a:p>
          <a:p>
            <a:r>
              <a:rPr lang="en-US" sz="2000" b="1" dirty="0"/>
              <a:t>     </a:t>
            </a:r>
            <a:r>
              <a:rPr lang="ru-RU" sz="2000" b="1" dirty="0"/>
              <a:t>result += i + ' ';</a:t>
            </a:r>
          </a:p>
          <a:p>
            <a:r>
              <a:rPr lang="ru-RU" sz="2000" b="1" dirty="0"/>
              <a:t>} while (i &lt; 5);</a:t>
            </a:r>
          </a:p>
          <a:p>
            <a:r>
              <a:rPr lang="ru-RU" sz="2000" b="1" dirty="0"/>
              <a:t>document.write(result);</a:t>
            </a:r>
          </a:p>
        </p:txBody>
      </p:sp>
    </p:spTree>
    <p:extLst>
      <p:ext uri="{BB962C8B-B14F-4D97-AF65-F5344CB8AC3E}">
        <p14:creationId xmlns:p14="http://schemas.microsoft.com/office/powerpoint/2010/main" val="87747528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Утверждение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61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BFFFFF3-E7F5-4055-FEFC-29454EB99A70}"/>
              </a:ext>
            </a:extLst>
          </p:cNvPr>
          <p:cNvSpPr/>
          <p:nvPr/>
        </p:nvSpPr>
        <p:spPr>
          <a:xfrm>
            <a:off x="70006" y="815422"/>
            <a:ext cx="1190278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В цикле for располагаются три выражения, разделяемые точкой с запятой. Первое выражение всегда вычисляется только один раз – перед первой итерацией. Поэтому обычно в качестве первого выражения выступает </a:t>
            </a:r>
            <a:r>
              <a:rPr lang="ru-RU" sz="2000" b="1" dirty="0">
                <a:solidFill>
                  <a:srgbClr val="C00000"/>
                </a:solidFill>
              </a:rPr>
              <a:t>определение переменной</a:t>
            </a:r>
            <a:r>
              <a:rPr lang="ru-RU" sz="2000" b="1" dirty="0"/>
              <a:t>, которая используется в условии выполнения цикла в качестве счётчика.</a:t>
            </a:r>
            <a:endParaRPr lang="ru-RU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7C1767E-A81E-DE76-C50D-53F3942CEF4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41" y="2373440"/>
            <a:ext cx="6232673" cy="3609188"/>
          </a:xfrm>
          <a:prstGeom prst="rect">
            <a:avLst/>
          </a:prstGeom>
        </p:spPr>
      </p:pic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B84080E5-A74D-73BB-1BE6-3A3D04FAE299}"/>
              </a:ext>
            </a:extLst>
          </p:cNvPr>
          <p:cNvSpPr/>
          <p:nvPr/>
        </p:nvSpPr>
        <p:spPr>
          <a:xfrm>
            <a:off x="6928791" y="2373440"/>
            <a:ext cx="4760132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/>
              <a:t>for (var i = 0; i &lt; 5; i++) {</a:t>
            </a:r>
          </a:p>
          <a:p>
            <a:r>
              <a:rPr lang="ru-RU" sz="2000" b="1" dirty="0"/>
              <a:t>	console.log(i + ": Hello, JavaScript!");</a:t>
            </a:r>
          </a:p>
          <a:p>
            <a:r>
              <a:rPr lang="ru-RU" sz="20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07889457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Утверждение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FOR … IN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62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AB47C4D-886E-4B7E-34F6-F3511228DD07}"/>
              </a:ext>
            </a:extLst>
          </p:cNvPr>
          <p:cNvSpPr/>
          <p:nvPr/>
        </p:nvSpPr>
        <p:spPr>
          <a:xfrm>
            <a:off x="132089" y="766732"/>
            <a:ext cx="11927821" cy="53245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Цикл </a:t>
            </a:r>
            <a:r>
              <a:rPr lang="ru-RU" sz="2000" b="1" dirty="0" err="1">
                <a:solidFill>
                  <a:srgbClr val="C00000"/>
                </a:solidFill>
              </a:rPr>
              <a:t>for</a:t>
            </a:r>
            <a:r>
              <a:rPr lang="ru-RU" sz="2000" b="1" dirty="0">
                <a:solidFill>
                  <a:srgbClr val="C00000"/>
                </a:solidFill>
              </a:rPr>
              <a:t>-in </a:t>
            </a:r>
            <a:r>
              <a:rPr lang="ru-RU" sz="2000" b="1" dirty="0"/>
              <a:t>используется для перебора в случайном порядке перечисляемых свойств объекта и имеет следующий синтаксис:</a:t>
            </a:r>
            <a:endParaRPr lang="en-US" sz="2000" b="1" dirty="0"/>
          </a:p>
          <a:p>
            <a:pPr algn="just"/>
            <a:endParaRPr lang="en-US" sz="2000" b="1" dirty="0"/>
          </a:p>
          <a:p>
            <a:pPr lvl="8" algn="just"/>
            <a:r>
              <a:rPr lang="ru-RU" sz="2000" b="1" i="1" dirty="0" err="1"/>
              <a:t>for</a:t>
            </a:r>
            <a:r>
              <a:rPr lang="ru-RU" sz="2000" b="1" i="1" dirty="0"/>
              <a:t> (переменная in объект)</a:t>
            </a:r>
          </a:p>
          <a:p>
            <a:pPr lvl="8" algn="just"/>
            <a:r>
              <a:rPr lang="ru-RU" sz="2000" b="1" i="1" dirty="0"/>
              <a:t>  инструкция;</a:t>
            </a:r>
            <a:endParaRPr lang="en-US" sz="2000" b="1" i="1" dirty="0"/>
          </a:p>
          <a:p>
            <a:pPr algn="just"/>
            <a:endParaRPr lang="en-US" sz="2000" b="1" dirty="0"/>
          </a:p>
          <a:p>
            <a:pPr algn="just"/>
            <a:r>
              <a:rPr lang="ru-RU" sz="2000" b="1" dirty="0"/>
              <a:t>Слева от ключевого слова in указывается имя переменной, которой перед началом каждой итерации цикла присваивается в виде строки </a:t>
            </a:r>
            <a:r>
              <a:rPr lang="ru-RU" sz="2000" b="1" dirty="0">
                <a:solidFill>
                  <a:srgbClr val="C00000"/>
                </a:solidFill>
              </a:rPr>
              <a:t>имя одного из свойств объекта</a:t>
            </a:r>
            <a:r>
              <a:rPr lang="ru-RU" sz="2000" b="1" dirty="0"/>
              <a:t>. Справа от ключевого слова in указывается </a:t>
            </a:r>
            <a:r>
              <a:rPr lang="ru-RU" sz="2000" b="1" dirty="0">
                <a:solidFill>
                  <a:srgbClr val="C00000"/>
                </a:solidFill>
              </a:rPr>
              <a:t>объект</a:t>
            </a:r>
            <a:r>
              <a:rPr lang="ru-RU" sz="2000" b="1" dirty="0"/>
              <a:t>, свойства которого будут перебираться циклом. </a:t>
            </a:r>
          </a:p>
          <a:p>
            <a:pPr algn="just"/>
            <a:r>
              <a:rPr lang="ru-RU" sz="2000" b="1" dirty="0"/>
              <a:t>Цикл будет выполняться до тех пор, пока не будут перебраны все доступные свойства. Если переменная, представляющая объект, будет иметь значение null или undefined </a:t>
            </a:r>
            <a:r>
              <a:rPr lang="ru-RU" sz="2000" b="1" dirty="0">
                <a:solidFill>
                  <a:srgbClr val="C00000"/>
                </a:solidFill>
              </a:rPr>
              <a:t>цикл не выполнится ни разу</a:t>
            </a:r>
            <a:r>
              <a:rPr lang="ru-RU" sz="2000" b="1" dirty="0"/>
              <a:t>.</a:t>
            </a:r>
            <a:endParaRPr lang="en-US" sz="2000" b="1" dirty="0"/>
          </a:p>
          <a:p>
            <a:pPr algn="just"/>
            <a:endParaRPr lang="en-US" sz="2000" b="1" dirty="0"/>
          </a:p>
          <a:p>
            <a:pPr lvl="1" algn="just"/>
            <a:r>
              <a:rPr lang="en-US" sz="2000" b="1" i="1" dirty="0"/>
              <a:t>var obj = {x: 5, y: 10};</a:t>
            </a:r>
          </a:p>
          <a:p>
            <a:pPr lvl="1" algn="just"/>
            <a:r>
              <a:rPr lang="en-US" sz="2000" b="1" i="1" dirty="0"/>
              <a:t> </a:t>
            </a:r>
          </a:p>
          <a:p>
            <a:pPr lvl="1" algn="just"/>
            <a:r>
              <a:rPr lang="en-US" sz="2000" b="1" i="1" dirty="0"/>
              <a:t>for (var prop in obj) {</a:t>
            </a:r>
          </a:p>
          <a:p>
            <a:pPr lvl="1" algn="just"/>
            <a:r>
              <a:rPr lang="en-US" sz="2000" b="1" i="1" dirty="0"/>
              <a:t> </a:t>
            </a:r>
            <a:r>
              <a:rPr lang="ru-RU" sz="2000" b="1" i="1" dirty="0"/>
              <a:t>   </a:t>
            </a:r>
            <a:r>
              <a:rPr lang="en-US" sz="2000" b="1" i="1" dirty="0"/>
              <a:t>console.log(prop);</a:t>
            </a:r>
          </a:p>
          <a:p>
            <a:pPr lvl="1" algn="just"/>
            <a:r>
              <a:rPr lang="en-US" sz="2000" b="1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9020849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37CE03-75A7-04D2-1FE5-D944F5767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82985B-A5DA-31C5-01CE-ED09A8C7A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Примеры</a:t>
            </a:r>
            <a:endParaRPr lang="en-US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DEF69CB-727C-2FA6-F727-9A26FC756CA5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47ABA497-425D-71E0-70C7-CE953A442A15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63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90D28BE7-4962-2313-0CD5-A06F6DCE8216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4EBA4A-A2AB-A109-71D8-60F8F6786E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4156" y="1429681"/>
            <a:ext cx="5425609" cy="4037905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B241CA-0616-CD0E-5CD0-21F3FC134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72220" y="1410047"/>
            <a:ext cx="5700572" cy="403790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DEF823A-2A1E-53ED-CCBF-A9FBA6BF39D4}"/>
              </a:ext>
            </a:extLst>
          </p:cNvPr>
          <p:cNvSpPr txBox="1"/>
          <p:nvPr/>
        </p:nvSpPr>
        <p:spPr>
          <a:xfrm>
            <a:off x="404156" y="87069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b="1" dirty="0"/>
              <a:t>Исправьте ошибки в коде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5701839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Утверждение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64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2F6B2C20-E964-806B-90B4-0235E5541AA8}"/>
              </a:ext>
            </a:extLst>
          </p:cNvPr>
          <p:cNvSpPr/>
          <p:nvPr/>
        </p:nvSpPr>
        <p:spPr>
          <a:xfrm>
            <a:off x="149956" y="912814"/>
            <a:ext cx="118920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Оператор </a:t>
            </a:r>
            <a:r>
              <a:rPr lang="ru-RU" sz="2000" b="1" dirty="0">
                <a:solidFill>
                  <a:srgbClr val="C00000"/>
                </a:solidFill>
              </a:rPr>
              <a:t>break; </a:t>
            </a:r>
            <a:r>
              <a:rPr lang="ru-RU" sz="2000" b="1" dirty="0"/>
              <a:t>завершает выполнение текущего цикла. Он используется в исключительных случаях, когда цикл не может выполняться по какой-то причине, например, если приложение обнаруживает ошибку. Чаще всего оператор break; является частью конструкции if.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91F51E2A-C2F0-F2B0-AF4B-E2BE206FF666}"/>
              </a:ext>
            </a:extLst>
          </p:cNvPr>
          <p:cNvSpPr/>
          <p:nvPr/>
        </p:nvSpPr>
        <p:spPr>
          <a:xfrm>
            <a:off x="1441384" y="2357290"/>
            <a:ext cx="10171356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Инструкция break </a:t>
            </a:r>
            <a:r>
              <a:rPr lang="ru-RU" sz="2000" b="1" dirty="0"/>
              <a:t>завершает текущую итерацию и приводит к немедленному выходу из цикла. </a:t>
            </a:r>
            <a:endParaRPr lang="en-US" sz="2000" b="1" dirty="0"/>
          </a:p>
          <a:p>
            <a:pPr algn="just"/>
            <a:endParaRPr lang="en-US" sz="2000" b="1" dirty="0"/>
          </a:p>
          <a:p>
            <a:pPr lvl="1" algn="just"/>
            <a:r>
              <a:rPr lang="ru-RU" sz="2000" b="1" i="1" dirty="0"/>
              <a:t>for (var i = -2; i &lt;= 2; i++) {</a:t>
            </a:r>
          </a:p>
          <a:p>
            <a:pPr lvl="1" algn="just"/>
            <a:r>
              <a:rPr lang="ru-RU" sz="2000" b="1" i="1" dirty="0"/>
              <a:t>    if (i &gt; 0) break;   // Если значение переменной i станет положительным,</a:t>
            </a:r>
          </a:p>
          <a:p>
            <a:pPr lvl="1" algn="just"/>
            <a:r>
              <a:rPr lang="ru-RU" sz="2000" b="1" i="1" dirty="0"/>
              <a:t>                      // завершить итерацию и выйти из цикла</a:t>
            </a:r>
          </a:p>
          <a:p>
            <a:pPr lvl="1" algn="just"/>
            <a:r>
              <a:rPr lang="ru-RU" sz="2000" b="1" i="1" dirty="0"/>
              <a:t>    </a:t>
            </a:r>
            <a:r>
              <a:rPr lang="en-US" sz="2000" b="1" i="1" dirty="0"/>
              <a:t>console.log</a:t>
            </a:r>
            <a:r>
              <a:rPr lang="ru-RU" sz="2000" b="1" i="1" dirty="0"/>
              <a:t>(i);</a:t>
            </a:r>
          </a:p>
          <a:p>
            <a:pPr lvl="1" algn="just"/>
            <a:r>
              <a:rPr lang="ru-RU" sz="2000" b="1" i="1" dirty="0"/>
              <a:t>}</a:t>
            </a:r>
            <a:endParaRPr lang="en-US" sz="2000" b="1" i="1" dirty="0"/>
          </a:p>
        </p:txBody>
      </p:sp>
    </p:spTree>
    <p:extLst>
      <p:ext uri="{BB962C8B-B14F-4D97-AF65-F5344CB8AC3E}">
        <p14:creationId xmlns:p14="http://schemas.microsoft.com/office/powerpoint/2010/main" val="319615465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Утверждение </a:t>
            </a:r>
            <a:r>
              <a:rPr 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CONTINUE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65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D830FF51-B36F-C645-1599-AFA1B5E3D304}"/>
              </a:ext>
            </a:extLst>
          </p:cNvPr>
          <p:cNvSpPr/>
          <p:nvPr/>
        </p:nvSpPr>
        <p:spPr>
          <a:xfrm>
            <a:off x="149956" y="836280"/>
            <a:ext cx="11892087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/>
              <a:t>Оператор </a:t>
            </a:r>
            <a:r>
              <a:rPr lang="ru-RU" sz="2000" b="1" dirty="0">
                <a:solidFill>
                  <a:srgbClr val="C00000"/>
                </a:solidFill>
              </a:rPr>
              <a:t>continue; </a:t>
            </a:r>
            <a:r>
              <a:rPr lang="ru-RU" sz="2000" b="1" dirty="0"/>
              <a:t>останавливает текущую итерацию цикла и запускает новую итерацию. При этом, цикл while возвращается непосредственно к своему условию, а цикл for сначала вычисляет выражение инкремента, а затем возвращается к условию.</a:t>
            </a: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5CCFCB41-620A-5413-F3AC-D5FE0CB17307}"/>
              </a:ext>
            </a:extLst>
          </p:cNvPr>
          <p:cNvSpPr/>
          <p:nvPr/>
        </p:nvSpPr>
        <p:spPr>
          <a:xfrm>
            <a:off x="1684320" y="2460780"/>
            <a:ext cx="9724736" cy="20928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000" b="1" dirty="0">
                <a:solidFill>
                  <a:srgbClr val="C00000"/>
                </a:solidFill>
              </a:rPr>
              <a:t>Инструкция continue </a:t>
            </a:r>
            <a:r>
              <a:rPr lang="ru-RU" sz="2000" b="1" dirty="0"/>
              <a:t>схожа с инструкцией break, однако вместо выхода из цикла она просто завершает его текущую итерацию.</a:t>
            </a:r>
            <a:endParaRPr lang="en-US" sz="2000" b="1" dirty="0"/>
          </a:p>
          <a:p>
            <a:pPr algn="just"/>
            <a:endParaRPr lang="en-US" sz="1000" b="1" dirty="0"/>
          </a:p>
          <a:p>
            <a:pPr algn="just"/>
            <a:r>
              <a:rPr lang="ru-RU" sz="2000" b="1" dirty="0"/>
              <a:t>for (var i = 0; i &lt;= 10; i++) {</a:t>
            </a:r>
          </a:p>
          <a:p>
            <a:pPr algn="just"/>
            <a:r>
              <a:rPr lang="ru-RU" sz="2000" b="1" dirty="0"/>
              <a:t>   if ((i % 2) != 0) continue; // завершить текущую итерацию</a:t>
            </a:r>
          </a:p>
          <a:p>
            <a:pPr algn="just"/>
            <a:r>
              <a:rPr lang="ru-RU" sz="2000" b="1" i="1" dirty="0"/>
              <a:t>   </a:t>
            </a:r>
            <a:r>
              <a:rPr lang="en-US" sz="2000" b="1" i="1" dirty="0"/>
              <a:t>console.log</a:t>
            </a:r>
            <a:r>
              <a:rPr lang="ru-RU" sz="2000" b="1" dirty="0"/>
              <a:t>(i);</a:t>
            </a:r>
          </a:p>
          <a:p>
            <a:pPr algn="just"/>
            <a:r>
              <a:rPr lang="ru-RU" sz="2000" b="1" dirty="0"/>
              <a:t>}</a:t>
            </a:r>
            <a:endParaRPr 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400175361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1000" b="-1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815D3A-5270-4B0E-BD1E-89BBE93E8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1284" y="26831"/>
            <a:ext cx="10940716" cy="654206"/>
          </a:xfrm>
        </p:spPr>
        <p:txBody>
          <a:bodyPr>
            <a:normAutofit/>
          </a:bodyPr>
          <a:lstStyle/>
          <a:p>
            <a:r>
              <a:rPr lang="ru-RU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Литература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EC6A24-3D1F-6205-AC84-FFA0A737843C}"/>
              </a:ext>
            </a:extLst>
          </p:cNvPr>
          <p:cNvSpPr txBox="1"/>
          <p:nvPr/>
        </p:nvSpPr>
        <p:spPr>
          <a:xfrm>
            <a:off x="11430656" y="356857"/>
            <a:ext cx="54213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chemeClr val="tx1">
                    <a:lumMod val="75000"/>
                    <a:lumOff val="25000"/>
                  </a:schemeClr>
                </a:solidFill>
                <a:latin typeface="Sansation" pitchFamily="2" charset="0"/>
              </a:rPr>
              <a:t>PAGE</a:t>
            </a:r>
            <a:endParaRPr lang="mk-MK" sz="12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8433D2F8-D5AC-C2EA-6A6A-75A321C0984F}"/>
              </a:ext>
            </a:extLst>
          </p:cNvPr>
          <p:cNvSpPr/>
          <p:nvPr/>
        </p:nvSpPr>
        <p:spPr>
          <a:xfrm>
            <a:off x="11507947" y="26831"/>
            <a:ext cx="361952" cy="361952"/>
          </a:xfrm>
          <a:prstGeom prst="rect">
            <a:avLst/>
          </a:prstGeom>
          <a:solidFill>
            <a:srgbClr val="33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00" b="1" dirty="0">
                <a:solidFill>
                  <a:schemeClr val="bg1"/>
                </a:solidFill>
                <a:latin typeface="Sansation" pitchFamily="2" charset="0"/>
              </a:rPr>
              <a:t>66</a:t>
            </a:r>
            <a:endParaRPr lang="mk-MK" sz="1000" b="1" dirty="0">
              <a:solidFill>
                <a:schemeClr val="bg1"/>
              </a:solidFill>
            </a:endParaRPr>
          </a:p>
        </p:txBody>
      </p:sp>
      <p:sp>
        <p:nvSpPr>
          <p:cNvPr id="17" name="Subtitle 2">
            <a:extLst>
              <a:ext uri="{FF2B5EF4-FFF2-40B4-BE49-F238E27FC236}">
                <a16:creationId xmlns:a16="http://schemas.microsoft.com/office/drawing/2014/main" id="{54C37F67-3B1C-4F7E-4902-3CE87611BC88}"/>
              </a:ext>
            </a:extLst>
          </p:cNvPr>
          <p:cNvSpPr txBox="1">
            <a:spLocks/>
          </p:cNvSpPr>
          <p:nvPr/>
        </p:nvSpPr>
        <p:spPr>
          <a:xfrm>
            <a:off x="0" y="550862"/>
            <a:ext cx="10820400" cy="130175"/>
          </a:xfrm>
          <a:prstGeom prst="rect">
            <a:avLst/>
          </a:prstGeom>
          <a:solidFill>
            <a:srgbClr val="C00000"/>
          </a:solidFill>
          <a:effectLst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endParaRPr lang="mk-MK" sz="1600" b="1" dirty="0">
              <a:solidFill>
                <a:schemeClr val="bg1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1F5A42E-2DDC-19AC-457D-5BC5E88DA321}"/>
              </a:ext>
            </a:extLst>
          </p:cNvPr>
          <p:cNvSpPr/>
          <p:nvPr/>
        </p:nvSpPr>
        <p:spPr>
          <a:xfrm>
            <a:off x="294640" y="718809"/>
            <a:ext cx="11897360" cy="46198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ru-RU" b="1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Интернет-ресурсы: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Современный учебник по </a:t>
            </a: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Java Script</a:t>
            </a:r>
            <a:r>
              <a:rPr lang="ru-RU" dirty="0"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- </a:t>
            </a:r>
            <a:r>
              <a:rPr lang="ru-RU" u="sng" dirty="0">
                <a:solidFill>
                  <a:srgbClr val="C00000"/>
                </a:solidFill>
                <a:hlinkClick r:id="rId4"/>
              </a:rPr>
              <a:t>https://learn.javascript.ru/books</a:t>
            </a:r>
            <a:endParaRPr lang="ru-RU" u="sng" dirty="0">
              <a:solidFill>
                <a:srgbClr val="C00000"/>
              </a:solidFill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Выразительный </a:t>
            </a:r>
            <a:r>
              <a:rPr lang="en-US" dirty="0"/>
              <a:t>JavaScript</a:t>
            </a:r>
            <a:r>
              <a:rPr lang="ru-RU" dirty="0"/>
              <a:t> - </a:t>
            </a:r>
            <a:r>
              <a:rPr lang="ru-RU" u="sng" dirty="0">
                <a:hlinkClick r:id="rId5"/>
              </a:rPr>
              <a:t>https://www.gitbook.com/book/karmazzin/eloquentjavascript_ru/details</a:t>
            </a:r>
            <a:endParaRPr lang="ru-RU" u="sng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Ресурс с кратким изложением основ - </a:t>
            </a:r>
            <a:r>
              <a:rPr lang="ru-RU" u="sng" dirty="0">
                <a:hlinkClick r:id="rId6"/>
              </a:rPr>
              <a:t>http://bonsaiden.github.io/JavaScript-Garden/ru/</a:t>
            </a:r>
            <a:endParaRPr lang="ru-RU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ru-RU" dirty="0"/>
          </a:p>
          <a:p>
            <a:pPr>
              <a:lnSpc>
                <a:spcPct val="150000"/>
              </a:lnSpc>
            </a:pPr>
            <a:r>
              <a:rPr lang="ru-RU" b="1" dirty="0"/>
              <a:t>Печатные издания: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Закас Н. </a:t>
            </a:r>
            <a:r>
              <a:rPr lang="en-US" dirty="0"/>
              <a:t>JavaScript </a:t>
            </a:r>
            <a:r>
              <a:rPr lang="ru-RU" dirty="0"/>
              <a:t>для профессиональных веб-разработчиков / (Пер. с англ. А. Лютича). – СПб.: Питер, 2015. – 960с.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Kyle Simpson, You Don’t Know JS: ES6 and Beyond, O’Reilly, 2015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>
                <a:hlinkClick r:id="rId7"/>
              </a:rPr>
              <a:t>http://es6-features.org/</a:t>
            </a: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ru-RU" dirty="0"/>
              <a:t>Марк Бейтс. </a:t>
            </a:r>
            <a:r>
              <a:rPr lang="en-US" dirty="0" err="1"/>
              <a:t>CofeeScript</a:t>
            </a:r>
            <a:r>
              <a:rPr lang="en-US" dirty="0"/>
              <a:t>. </a:t>
            </a:r>
            <a:r>
              <a:rPr lang="ru-RU" dirty="0"/>
              <a:t>Второе дыхание </a:t>
            </a:r>
            <a:r>
              <a:rPr lang="en-US" dirty="0"/>
              <a:t>JavaScript: </a:t>
            </a:r>
            <a:r>
              <a:rPr lang="ru-RU" dirty="0"/>
              <a:t>пер. с англ. </a:t>
            </a:r>
            <a:r>
              <a:rPr lang="ru-RU" dirty="0" err="1"/>
              <a:t>А.Кисилев</a:t>
            </a:r>
            <a:r>
              <a:rPr lang="ru-RU" dirty="0"/>
              <a:t>. – М.: ДМК Пресс, 2012. – 312 с</a:t>
            </a:r>
            <a:endParaRPr lang="en-US" dirty="0"/>
          </a:p>
          <a:p>
            <a:pPr>
              <a:lnSpc>
                <a:spcPct val="15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93025657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880750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ИНФ_ТИХН" id="{2EBA96BF-A8A3-43A8-9614-A6A41BE6A38F}" vid="{90ED81AE-57FA-4E68-9BAD-13C5A182DEE7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Шаблон_инф._технологии</Template>
  <TotalTime>2162</TotalTime>
  <Words>7118</Words>
  <Application>Microsoft Office PowerPoint</Application>
  <PresentationFormat>Широкоэкранный</PresentationFormat>
  <Paragraphs>1260</Paragraphs>
  <Slides>67</Slides>
  <Notes>67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67</vt:i4>
      </vt:variant>
    </vt:vector>
  </HeadingPairs>
  <TitlesOfParts>
    <vt:vector size="74" baseType="lpstr">
      <vt:lpstr>Arial</vt:lpstr>
      <vt:lpstr>Calibri</vt:lpstr>
      <vt:lpstr>Calibri Light</vt:lpstr>
      <vt:lpstr>Google Sans</vt:lpstr>
      <vt:lpstr>Sansation</vt:lpstr>
      <vt:lpstr>Wingdings</vt:lpstr>
      <vt:lpstr>Тема Office</vt:lpstr>
      <vt:lpstr>Презентация PowerPoint</vt:lpstr>
      <vt:lpstr>Появление JavaScript</vt:lpstr>
      <vt:lpstr>Особенности исполнения кода JavaScript</vt:lpstr>
      <vt:lpstr>Стандарты языка JavaScript</vt:lpstr>
      <vt:lpstr>CoffeeScript</vt:lpstr>
      <vt:lpstr>TypeScript</vt:lpstr>
      <vt:lpstr>Dart</vt:lpstr>
      <vt:lpstr>Экосистема JavaScript</vt:lpstr>
      <vt:lpstr>Библиотека React</vt:lpstr>
      <vt:lpstr>Библиотека jQuery</vt:lpstr>
      <vt:lpstr>Библиотека D3: Data-Driven Documents </vt:lpstr>
      <vt:lpstr>Фреймворк Angular</vt:lpstr>
      <vt:lpstr>Фреймворк Vue.js</vt:lpstr>
      <vt:lpstr>Инструмент автоматизации </vt:lpstr>
      <vt:lpstr>Пакетный менеджер NPM</vt:lpstr>
      <vt:lpstr>Переменные</vt:lpstr>
      <vt:lpstr>Переменные</vt:lpstr>
      <vt:lpstr>Переменные</vt:lpstr>
      <vt:lpstr>Константы</vt:lpstr>
      <vt:lpstr>Типы данных языка JavaScript</vt:lpstr>
      <vt:lpstr>Типы данных языка JavaScript</vt:lpstr>
      <vt:lpstr>Встроенный объект Number</vt:lpstr>
      <vt:lpstr>Встроенный объект String</vt:lpstr>
      <vt:lpstr>Типы данных языка JavaScript</vt:lpstr>
      <vt:lpstr>Встроенный объект Boolean</vt:lpstr>
      <vt:lpstr>Типы данных языка JavaScript</vt:lpstr>
      <vt:lpstr>Типы данных языка JavaScript</vt:lpstr>
      <vt:lpstr>Определение типа данных. Оператор TypeOf</vt:lpstr>
      <vt:lpstr>Встроенный объект Date</vt:lpstr>
      <vt:lpstr>Встроенный объект Array</vt:lpstr>
      <vt:lpstr>Встроенный объект Math</vt:lpstr>
      <vt:lpstr>Преобразование типов</vt:lpstr>
      <vt:lpstr>Приведение к строке</vt:lpstr>
      <vt:lpstr>Примеры</vt:lpstr>
      <vt:lpstr>Численное преобразование</vt:lpstr>
      <vt:lpstr>Примеры</vt:lpstr>
      <vt:lpstr>Выделение чисел</vt:lpstr>
      <vt:lpstr>Преобразование к строке</vt:lpstr>
      <vt:lpstr>Булевое преобразование</vt:lpstr>
      <vt:lpstr>Примеры</vt:lpstr>
      <vt:lpstr>Область видимости переменных</vt:lpstr>
      <vt:lpstr>Область видимости переменных</vt:lpstr>
      <vt:lpstr>Пример</vt:lpstr>
      <vt:lpstr>Оператор, операнд, приоритет и ассоциативность</vt:lpstr>
      <vt:lpstr>Арифметические операторы</vt:lpstr>
      <vt:lpstr>Арифметические операторы</vt:lpstr>
      <vt:lpstr>Арифметические операторы</vt:lpstr>
      <vt:lpstr>Операторы присваивания</vt:lpstr>
      <vt:lpstr>Побитовые  операторы</vt:lpstr>
      <vt:lpstr>Оператор запятая</vt:lpstr>
      <vt:lpstr>Операторы сравнения</vt:lpstr>
      <vt:lpstr>Операторы взаимодействия с пользователем</vt:lpstr>
      <vt:lpstr>Выражения</vt:lpstr>
      <vt:lpstr>Понятие утверждения</vt:lpstr>
      <vt:lpstr>Условное утверждение IF</vt:lpstr>
      <vt:lpstr>Тернарный оператор как альтернатива IF</vt:lpstr>
      <vt:lpstr>Примеры</vt:lpstr>
      <vt:lpstr>Утверждение SWITCH</vt:lpstr>
      <vt:lpstr>Утверждение WHILE</vt:lpstr>
      <vt:lpstr>Область видимости переменных</vt:lpstr>
      <vt:lpstr>Утверждение FOR</vt:lpstr>
      <vt:lpstr>Утверждение FOR … IN</vt:lpstr>
      <vt:lpstr>Примеры</vt:lpstr>
      <vt:lpstr>Утверждение BREAK</vt:lpstr>
      <vt:lpstr>Утверждение CONTINUE</vt:lpstr>
      <vt:lpstr>Литература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ТЕМА ЗАНЯТИЯ</dc:title>
  <dc:creator>Сергей Чесноков</dc:creator>
  <cp:lastModifiedBy>Сергей Чесноков</cp:lastModifiedBy>
  <cp:revision>125</cp:revision>
  <dcterms:created xsi:type="dcterms:W3CDTF">2020-11-24T10:07:48Z</dcterms:created>
  <dcterms:modified xsi:type="dcterms:W3CDTF">2025-11-14T10:48:19Z</dcterms:modified>
</cp:coreProperties>
</file>