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309" r:id="rId3"/>
    <p:sldId id="311" r:id="rId4"/>
    <p:sldId id="310" r:id="rId5"/>
    <p:sldId id="351" r:id="rId6"/>
    <p:sldId id="352" r:id="rId7"/>
    <p:sldId id="312" r:id="rId8"/>
    <p:sldId id="354" r:id="rId9"/>
    <p:sldId id="353" r:id="rId10"/>
    <p:sldId id="315" r:id="rId11"/>
    <p:sldId id="355" r:id="rId12"/>
    <p:sldId id="346" r:id="rId13"/>
    <p:sldId id="345" r:id="rId14"/>
    <p:sldId id="356" r:id="rId15"/>
    <p:sldId id="347" r:id="rId16"/>
    <p:sldId id="348" r:id="rId17"/>
    <p:sldId id="349" r:id="rId18"/>
    <p:sldId id="350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43" r:id="rId39"/>
    <p:sldId id="344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E3E3519-4C17-455B-B73A-96115BB97D77}">
          <p14:sldIdLst>
            <p14:sldId id="256"/>
          </p14:sldIdLst>
        </p14:section>
        <p14:section name="Понятие объекта" id="{23B271F5-55DA-4DBF-8401-DDDC55A33AB7}">
          <p14:sldIdLst>
            <p14:sldId id="309"/>
            <p14:sldId id="311"/>
            <p14:sldId id="310"/>
            <p14:sldId id="351"/>
            <p14:sldId id="352"/>
            <p14:sldId id="312"/>
            <p14:sldId id="354"/>
            <p14:sldId id="353"/>
            <p14:sldId id="315"/>
            <p14:sldId id="355"/>
            <p14:sldId id="346"/>
            <p14:sldId id="345"/>
            <p14:sldId id="356"/>
            <p14:sldId id="347"/>
            <p14:sldId id="348"/>
            <p14:sldId id="349"/>
            <p14:sldId id="350"/>
          </p14:sldIdLst>
        </p14:section>
        <p14:section name="Классы и прототипы" id="{47A7F139-1AE7-4191-BC5B-840B43A931BE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Замыкания" id="{E372E719-436B-4A22-B22D-51E68D936F9E}">
          <p14:sldIdLst>
            <p14:sldId id="343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90C"/>
    <a:srgbClr val="1054B0"/>
    <a:srgbClr val="16B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92" autoAdjust="0"/>
    <p:restoredTop sz="80408" autoAdjust="0"/>
  </p:normalViewPr>
  <p:slideViewPr>
    <p:cSldViewPr snapToGrid="0">
      <p:cViewPr varScale="1">
        <p:scale>
          <a:sx n="69" d="100"/>
          <a:sy n="69" d="100"/>
        </p:scale>
        <p:origin x="100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1667A-CD68-4A4A-8351-BB4BF584E84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EBD1D-8FAA-4097-A84C-B41C92EFA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11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490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936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740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355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370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906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288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543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557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592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414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131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05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312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744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7682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8563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1550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3104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313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3841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1284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6770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8608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4980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4801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4177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557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444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3844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2025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3473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319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1304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8766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5792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6451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4498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174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799B8-E028-4635-BDDC-879D7231A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5545FB-C6EE-493F-8316-3673AE82A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F55223-659A-4181-B23A-287380AD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FCE8BD-071F-4583-A31C-654B0348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E19132-AA36-4978-908F-38D1FF6C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45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5D5AD-F4E4-48AC-A8BD-695FDA88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8FD038-7A80-441B-98E9-6A8F896CE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EAD88A-0BE5-4CA1-BFDE-1EC1F4C1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3E7AC8-C25E-4DF3-9FC7-988350F5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C49FB-B6C2-4013-9AF3-0541AFB0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45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A8308-18D8-44CF-B8C5-74806938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1754B8-6E24-44A2-8058-D7F293AB4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1EE3E5-4280-4571-A5EF-535AC98C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CB071D-1248-4FC1-A1CA-2411C82A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CE026C-DE0C-43D2-AF8D-CF1C2D07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94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93B2C-91D8-4BBB-BE95-5EC2D078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7A7759-0489-460A-A2FF-38F82B8D6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8B89DC-42C4-4F26-8F8D-28651ECE1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0CF2E9-2BC4-4E5C-B49F-E96E4D5C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1864C3-D7CA-40D4-8BB5-16F83C2BC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730566-7E55-4042-984A-57E2881C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95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2E7DB-30A6-4C2B-B2AA-8224DCBA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CA700D-0C35-44D9-9E60-38170CF19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244463-61C2-412B-9C60-E2228B38E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6815D5-D921-4661-B12F-DEEA24862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687229-40C0-476C-9F14-D608BAB6F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B76E6D-40E9-4979-9859-79EFF050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E1F738-6F5D-4061-A363-ABA2C218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A84C68-27FD-40AD-B277-EAD3E1FF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28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46F02-AF8D-4DFA-9377-4CF83035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E852254-E936-49C6-9AB0-A4DE88BF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995507-FF49-4105-840A-34A9A360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88EE6A-22E7-4A35-B393-13D00382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07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13D61B1-20A5-4389-AD60-17F3FA69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377B21-5836-4343-97B5-B466B4CD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9E4EE9-810F-4444-AA2D-87126F74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68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D60C7-B8B0-4A52-BDB1-9D32C3A2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0818F7-5361-4F7B-96F0-16F4802FE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D340F2-4F46-45E3-ADB2-7256EEF3F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695717-3C5F-436B-872C-A081C828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D4ACF8-F2DA-4525-908F-6B4D1C4F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7C8658-5C9A-4F0F-B481-F50B6943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30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61A20-6CEF-4903-8D55-EC606947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FAA5FB-F0AA-4A94-9C7A-4103C21A5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E4CB74-41A5-4852-B743-06C2AE915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EEC462-61FD-4363-AF6C-44B0E1F8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C2AFD4-1D26-4D5F-8B2B-816123511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B4B937-A8DB-4085-8A9B-7B084D7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86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C76E9-4D50-43C6-86D4-11A7A285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9A42FA-7372-4984-B14D-6E5BBCC7F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E7C77F-77B0-4083-B6F7-03DFA4FE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535D5E-2234-4B9C-859C-E3E4B3F6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C4DA6D-A4AB-48D2-8E37-94E5654D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49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19AFDB-AEB4-4811-A069-2EC1C68D8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88417B-BB83-4AFA-803F-A46D6AD0C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6EE468-D973-438B-9A97-1C64FD9E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C44983-F949-4999-AC3D-4C635BFE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46F308-AA90-4D0C-B9C0-958DAA4F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72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ABF55-0DF2-4DCA-A530-E6682802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B82AC2-EAC2-44A2-9007-F71A3D093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D7C19A-5B06-4C03-9CFC-FD72D65A1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53B276-1FAC-4604-93FD-DD84AA9BC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7E6145-DB10-4F28-84B0-CCA48DFBC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31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onsaiden.github.io/JavaScript-Garden/ru/" TargetMode="External"/><Relationship Id="rId5" Type="http://schemas.openxmlformats.org/officeDocument/2006/relationships/hyperlink" Target="https://www.gitbook.com/book/karmazzin/eloquentjavascript_ru/details" TargetMode="External"/><Relationship Id="rId4" Type="http://schemas.openxmlformats.org/officeDocument/2006/relationships/hyperlink" Target="https://learn.javascript.ru/books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60E9F-402B-47C4-82DB-3EDB849F705B}"/>
              </a:ext>
            </a:extLst>
          </p:cNvPr>
          <p:cNvSpPr txBox="1"/>
          <p:nvPr/>
        </p:nvSpPr>
        <p:spPr>
          <a:xfrm>
            <a:off x="962527" y="4979166"/>
            <a:ext cx="67438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kern="100" dirty="0">
                <a:latin typeface="Arial" panose="020B0604020202020204" pitchFamily="34" charset="0"/>
                <a:cs typeface="Arial" panose="020B0604020202020204" pitchFamily="34" charset="0"/>
              </a:rPr>
              <a:t>Объекты, классы и</a:t>
            </a:r>
          </a:p>
          <a:p>
            <a:r>
              <a:rPr lang="ru-RU" sz="4800" kern="100" dirty="0">
                <a:latin typeface="Arial" panose="020B0604020202020204" pitchFamily="34" charset="0"/>
                <a:cs typeface="Arial" panose="020B0604020202020204" pitchFamily="34" charset="0"/>
              </a:rPr>
              <a:t>прототипы в </a:t>
            </a:r>
            <a:r>
              <a:rPr lang="en-US" sz="4800" kern="100" dirty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endParaRPr lang="ru-RU" sz="4800" kern="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769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объекта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08A7849-43DD-D0BF-35FD-76F96B869A55}"/>
              </a:ext>
            </a:extLst>
          </p:cNvPr>
          <p:cNvSpPr/>
          <p:nvPr/>
        </p:nvSpPr>
        <p:spPr>
          <a:xfrm>
            <a:off x="44971" y="820347"/>
            <a:ext cx="11927821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solidFill>
                  <a:srgbClr val="C00000"/>
                </a:solidFill>
              </a:rPr>
              <a:t>Объект</a:t>
            </a:r>
            <a:r>
              <a:rPr lang="ru-RU" b="1" dirty="0"/>
              <a:t> – это неупорядоченная коллекция свойств. </a:t>
            </a:r>
            <a:r>
              <a:rPr lang="ru-RU" b="1" dirty="0">
                <a:solidFill>
                  <a:srgbClr val="C00000"/>
                </a:solidFill>
              </a:rPr>
              <a:t>Свойство</a:t>
            </a:r>
            <a:r>
              <a:rPr lang="ru-RU" b="1" dirty="0"/>
              <a:t> – это часть объекта имитирующая переменную. Свойство состоит из </a:t>
            </a:r>
            <a:r>
              <a:rPr lang="ru-RU" b="1" dirty="0">
                <a:solidFill>
                  <a:srgbClr val="C00000"/>
                </a:solidFill>
              </a:rPr>
              <a:t>имени и значения</a:t>
            </a:r>
            <a:r>
              <a:rPr lang="ru-RU" b="1" dirty="0"/>
              <a:t>.</a:t>
            </a:r>
          </a:p>
          <a:p>
            <a:pPr algn="just"/>
            <a:endParaRPr lang="ru-RU" sz="8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7CB6531-9B56-8BB3-BC01-D5CDBCC36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232" y="1321442"/>
            <a:ext cx="4221293" cy="2969754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6A68840-E0BA-7FBD-AB4D-07777F92DBD5}"/>
              </a:ext>
            </a:extLst>
          </p:cNvPr>
          <p:cNvSpPr/>
          <p:nvPr/>
        </p:nvSpPr>
        <p:spPr>
          <a:xfrm>
            <a:off x="44971" y="2042393"/>
            <a:ext cx="7385584" cy="42165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/>
              <a:t>В JavaScript есть три категории объектов:</a:t>
            </a:r>
          </a:p>
          <a:p>
            <a:pPr algn="just"/>
            <a:endParaRPr lang="ru-RU" sz="800" b="1" dirty="0"/>
          </a:p>
          <a:p>
            <a:pPr marL="342900" indent="-342900" algn="just"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</a:rPr>
              <a:t>Объекты базового типа </a:t>
            </a:r>
            <a:r>
              <a:rPr lang="ru-RU" b="1" dirty="0"/>
              <a:t>– это объекты, определённые в спецификации ECMAScript. Например, объекты типа Array, Function, Date или RegExp являются объектами базового типа.</a:t>
            </a:r>
          </a:p>
          <a:p>
            <a:pPr marL="342900" indent="-342900" algn="just">
              <a:buFont typeface="+mj-lt"/>
              <a:buAutoNum type="arabicPeriod"/>
            </a:pPr>
            <a:endParaRPr lang="ru-RU" b="1" dirty="0"/>
          </a:p>
          <a:p>
            <a:pPr marL="342900" indent="-342900" algn="just"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</a:rPr>
              <a:t>Объекты среды выполнения </a:t>
            </a:r>
            <a:r>
              <a:rPr lang="ru-RU" b="1" dirty="0"/>
              <a:t>– это объекты, определённые в среде выполнения (такой как браузер). Например, объекты типа </a:t>
            </a:r>
            <a:r>
              <a:rPr lang="ru-RU" b="1" dirty="0" err="1"/>
              <a:t>HTMLElement</a:t>
            </a:r>
            <a:r>
              <a:rPr lang="ru-RU" b="1" dirty="0"/>
              <a:t> (позволяют взаимодействовать с </a:t>
            </a:r>
            <a:r>
              <a:rPr lang="en-US" b="1" dirty="0"/>
              <a:t>DOM</a:t>
            </a:r>
            <a:r>
              <a:rPr lang="ru-RU" b="0" i="0" dirty="0">
                <a:solidFill>
                  <a:srgbClr val="262626"/>
                </a:solidFill>
                <a:effectLst/>
                <a:latin typeface="-apple-system"/>
              </a:rPr>
              <a:t>)</a:t>
            </a:r>
            <a:r>
              <a:rPr lang="ru-RU" b="1" dirty="0"/>
              <a:t>, объект </a:t>
            </a:r>
            <a:r>
              <a:rPr lang="en-US" b="1" dirty="0"/>
              <a:t>Window (</a:t>
            </a:r>
            <a:r>
              <a:rPr lang="ru-RU" b="1" dirty="0"/>
              <a:t>окно браузера</a:t>
            </a:r>
            <a:r>
              <a:rPr lang="en-US" b="1" dirty="0"/>
              <a:t>)</a:t>
            </a:r>
            <a:r>
              <a:rPr lang="ru-RU" b="1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endParaRPr lang="ru-RU" b="1" dirty="0"/>
          </a:p>
          <a:p>
            <a:pPr marL="342900" indent="-342900" algn="just"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</a:rPr>
              <a:t>Пользовательские объекты </a:t>
            </a:r>
            <a:r>
              <a:rPr lang="ru-RU" b="1" dirty="0"/>
              <a:t>– это любой объект, созданный в результате выполнения программного кода JavaScript. Создание с помощью литералов, конструкторов или прототипов (на основе других объектов).</a:t>
            </a:r>
          </a:p>
          <a:p>
            <a:pPr algn="just"/>
            <a:endParaRPr lang="ru-RU" sz="800" b="1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4FBFE7F-B4CA-D237-C8A2-71BDFBDD52AB}"/>
              </a:ext>
            </a:extLst>
          </p:cNvPr>
          <p:cNvSpPr/>
          <p:nvPr/>
        </p:nvSpPr>
        <p:spPr>
          <a:xfrm>
            <a:off x="959371" y="1519173"/>
            <a:ext cx="6380336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800" b="1" dirty="0">
                <a:solidFill>
                  <a:srgbClr val="C00000"/>
                </a:solidFill>
              </a:rPr>
              <a:t>В </a:t>
            </a:r>
            <a:r>
              <a:rPr lang="en-US" sz="2800" b="1" dirty="0">
                <a:solidFill>
                  <a:srgbClr val="C00000"/>
                </a:solidFill>
              </a:rPr>
              <a:t>JS </a:t>
            </a:r>
            <a:r>
              <a:rPr lang="ru-RU" sz="2800" b="1" dirty="0">
                <a:solidFill>
                  <a:srgbClr val="C00000"/>
                </a:solidFill>
              </a:rPr>
              <a:t>объекты являются динамическими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E7C25-F8AE-3855-5AAF-44D724E96AB4}"/>
              </a:ext>
            </a:extLst>
          </p:cNvPr>
          <p:cNvSpPr txBox="1"/>
          <p:nvPr/>
        </p:nvSpPr>
        <p:spPr>
          <a:xfrm>
            <a:off x="8129853" y="5300814"/>
            <a:ext cx="3740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D73A49"/>
                </a:solidFill>
                <a:effectLst/>
                <a:latin typeface="ui-monospace"/>
              </a:rPr>
              <a:t>function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b="1" i="0" dirty="0">
                <a:solidFill>
                  <a:srgbClr val="6841EA"/>
                </a:solidFill>
                <a:effectLst/>
                <a:latin typeface="ui-monospace"/>
              </a:rPr>
              <a:t>Person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(name) </a:t>
            </a:r>
            <a:endParaRPr lang="ru-RU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ru-RU" b="1" dirty="0">
                <a:solidFill>
                  <a:srgbClr val="262626"/>
                </a:solidFill>
                <a:latin typeface="ui-monospace"/>
              </a:rPr>
              <a:t>       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{ </a:t>
            </a:r>
            <a:r>
              <a:rPr lang="en-US" b="1" i="0" dirty="0">
                <a:solidFill>
                  <a:srgbClr val="D73A49"/>
                </a:solidFill>
                <a:effectLst/>
                <a:latin typeface="ui-monospace"/>
              </a:rPr>
              <a:t>this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.name = name; } </a:t>
            </a:r>
            <a:endParaRPr lang="ru-RU" b="1" i="0" dirty="0">
              <a:solidFill>
                <a:srgbClr val="262626"/>
              </a:solidFill>
              <a:effectLst/>
              <a:latin typeface="ui-monospace"/>
            </a:endParaRPr>
          </a:p>
          <a:p>
            <a:endParaRPr lang="ru-RU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b="1" i="0" dirty="0">
                <a:solidFill>
                  <a:srgbClr val="D73A49"/>
                </a:solidFill>
                <a:effectLst/>
                <a:latin typeface="ui-monospace"/>
              </a:rPr>
              <a:t>const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 person1 = </a:t>
            </a:r>
            <a:r>
              <a:rPr lang="en-US" b="1" i="0" dirty="0">
                <a:solidFill>
                  <a:srgbClr val="D73A49"/>
                </a:solidFill>
                <a:effectLst/>
                <a:latin typeface="ui-monospace"/>
              </a:rPr>
              <a:t>new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b="1" i="0" dirty="0">
                <a:solidFill>
                  <a:srgbClr val="6841EA"/>
                </a:solidFill>
                <a:effectLst/>
                <a:latin typeface="ui-monospace"/>
              </a:rPr>
              <a:t>Person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b="1" i="0" dirty="0">
                <a:solidFill>
                  <a:srgbClr val="1D6BC5"/>
                </a:solidFill>
                <a:effectLst/>
                <a:latin typeface="ui-monospace"/>
              </a:rPr>
              <a:t>'Alice'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);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75925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Создание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4B938B4-4225-F3E1-F221-ED6898E21108}"/>
              </a:ext>
            </a:extLst>
          </p:cNvPr>
          <p:cNvSpPr/>
          <p:nvPr/>
        </p:nvSpPr>
        <p:spPr>
          <a:xfrm>
            <a:off x="65196" y="1003684"/>
            <a:ext cx="11892087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/>
              <a:t>Объект можно создать с помощью </a:t>
            </a:r>
            <a:r>
              <a:rPr lang="ru-RU" b="1" dirty="0">
                <a:solidFill>
                  <a:srgbClr val="C00000"/>
                </a:solidFill>
              </a:rPr>
              <a:t>литерала объекта, оператора new с конструктором </a:t>
            </a:r>
            <a:r>
              <a:rPr lang="ru-RU" b="1" dirty="0"/>
              <a:t>или </a:t>
            </a:r>
            <a:r>
              <a:rPr lang="ru-RU" b="1" dirty="0">
                <a:solidFill>
                  <a:srgbClr val="C00000"/>
                </a:solidFill>
              </a:rPr>
              <a:t>метода </a:t>
            </a:r>
            <a:r>
              <a:rPr lang="en-US" b="1" dirty="0">
                <a:solidFill>
                  <a:srgbClr val="C00000"/>
                </a:solidFill>
              </a:rPr>
              <a:t>Object.create</a:t>
            </a:r>
            <a:r>
              <a:rPr lang="ru-RU" b="1" dirty="0"/>
              <a:t>. </a:t>
            </a:r>
            <a:r>
              <a:rPr lang="ru-RU" b="1" dirty="0">
                <a:solidFill>
                  <a:srgbClr val="C00000"/>
                </a:solidFill>
              </a:rPr>
              <a:t>Литерал объекта </a:t>
            </a:r>
            <a:r>
              <a:rPr lang="ru-RU" b="1" dirty="0"/>
              <a:t>– это заключённый в фигурные скобки список из нуля или более свойств (пар </a:t>
            </a:r>
            <a:r>
              <a:rPr lang="ru-RU" b="1" dirty="0">
                <a:solidFill>
                  <a:srgbClr val="C00000"/>
                </a:solidFill>
              </a:rPr>
              <a:t>имя: значение</a:t>
            </a:r>
            <a:r>
              <a:rPr lang="ru-RU" b="1" dirty="0"/>
              <a:t>), разделённых запятыми. 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022790E-0AD6-8BB1-D060-C642AC74D4B7}"/>
              </a:ext>
            </a:extLst>
          </p:cNvPr>
          <p:cNvSpPr/>
          <p:nvPr/>
        </p:nvSpPr>
        <p:spPr>
          <a:xfrm>
            <a:off x="3940469" y="1720840"/>
            <a:ext cx="5664552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i="1" dirty="0"/>
              <a:t>// Создание пустого объекта</a:t>
            </a:r>
          </a:p>
          <a:p>
            <a:r>
              <a:rPr lang="ru-RU" b="1" i="1" dirty="0"/>
              <a:t>var o</a:t>
            </a:r>
            <a:r>
              <a:rPr lang="en-US" b="1" i="1" dirty="0" err="1"/>
              <a:t>bj</a:t>
            </a:r>
            <a:r>
              <a:rPr lang="ru-RU" b="1" i="1" dirty="0"/>
              <a:t> = {};</a:t>
            </a:r>
          </a:p>
          <a:p>
            <a:r>
              <a:rPr lang="ru-RU" b="1" i="1" dirty="0"/>
              <a:t> // Создание объекта с тремя свойствами</a:t>
            </a:r>
          </a:p>
          <a:p>
            <a:r>
              <a:rPr lang="ru-RU" b="1" i="1" dirty="0"/>
              <a:t>var user = { name: "</a:t>
            </a:r>
            <a:r>
              <a:rPr lang="ru-RU" b="1" i="1" dirty="0" err="1"/>
              <a:t>Homer</a:t>
            </a:r>
            <a:r>
              <a:rPr lang="ru-RU" b="1" i="1" dirty="0"/>
              <a:t>",  "age": 45,  1: true };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CF2F156-7956-E95C-8C18-FE065BE37E6C}"/>
              </a:ext>
            </a:extLst>
          </p:cNvPr>
          <p:cNvSpPr/>
          <p:nvPr/>
        </p:nvSpPr>
        <p:spPr>
          <a:xfrm>
            <a:off x="5773912" y="3258094"/>
            <a:ext cx="6352893" cy="2585323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i="1" dirty="0"/>
              <a:t>// список свойств и методов для </a:t>
            </a:r>
            <a:r>
              <a:rPr lang="en-US" b="1" i="1" dirty="0"/>
              <a:t>Animal</a:t>
            </a:r>
          </a:p>
          <a:p>
            <a:r>
              <a:rPr lang="en-US" b="1" i="1" dirty="0"/>
              <a:t>var Animal = {</a:t>
            </a:r>
          </a:p>
          <a:p>
            <a:r>
              <a:rPr lang="en-US" b="1" i="1" dirty="0"/>
              <a:t>	type: 'Invertebrates', // </a:t>
            </a:r>
            <a:r>
              <a:rPr lang="ru-RU" b="1" i="1" dirty="0"/>
              <a:t>Значение </a:t>
            </a:r>
            <a:r>
              <a:rPr lang="en-US" b="1" i="1" dirty="0"/>
              <a:t>type </a:t>
            </a:r>
            <a:r>
              <a:rPr lang="ru-RU" b="1" i="1" dirty="0"/>
              <a:t>по умолчанию</a:t>
            </a:r>
          </a:p>
          <a:p>
            <a:r>
              <a:rPr lang="ru-RU" b="1" i="1" dirty="0"/>
              <a:t>	</a:t>
            </a:r>
            <a:r>
              <a:rPr lang="en-US" b="1" i="1" dirty="0"/>
              <a:t>displayType: function() {  // </a:t>
            </a:r>
            <a:r>
              <a:rPr lang="ru-RU" b="1" i="1" dirty="0"/>
              <a:t>Метод </a:t>
            </a:r>
          </a:p>
          <a:p>
            <a:r>
              <a:rPr lang="en-US" b="1" i="1" dirty="0"/>
              <a:t>	</a:t>
            </a:r>
            <a:r>
              <a:rPr lang="ru-RU" b="1" i="1" dirty="0"/>
              <a:t>     </a:t>
            </a:r>
            <a:r>
              <a:rPr lang="en-US" b="1" i="1" dirty="0"/>
              <a:t>console.log(this.type);</a:t>
            </a:r>
          </a:p>
          <a:p>
            <a:r>
              <a:rPr lang="en-US" b="1" i="1" dirty="0"/>
              <a:t>	}</a:t>
            </a:r>
          </a:p>
          <a:p>
            <a:r>
              <a:rPr lang="en-US" b="1" i="1" dirty="0"/>
              <a:t>};</a:t>
            </a:r>
          </a:p>
          <a:p>
            <a:r>
              <a:rPr lang="en-US" b="1" i="1" dirty="0"/>
              <a:t>// </a:t>
            </a:r>
            <a:r>
              <a:rPr lang="ru-RU" b="1" i="1" dirty="0"/>
              <a:t>Создаем объект </a:t>
            </a:r>
            <a:r>
              <a:rPr lang="en-US" b="1" i="1" dirty="0"/>
              <a:t>Animal</a:t>
            </a:r>
          </a:p>
          <a:p>
            <a:r>
              <a:rPr lang="en-US" b="1" i="1" dirty="0"/>
              <a:t>var animal1 = Object.create(Animal);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8088770-02E7-D457-E370-F22C346AD19B}"/>
              </a:ext>
            </a:extLst>
          </p:cNvPr>
          <p:cNvSpPr/>
          <p:nvPr/>
        </p:nvSpPr>
        <p:spPr>
          <a:xfrm>
            <a:off x="3363358" y="1767006"/>
            <a:ext cx="614271" cy="110799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b="1" dirty="0">
                <a:solidFill>
                  <a:srgbClr val="C00000"/>
                </a:solidFill>
              </a:rPr>
              <a:t>1</a:t>
            </a:r>
            <a:endParaRPr lang="ru-RU" sz="6600" dirty="0">
              <a:solidFill>
                <a:srgbClr val="C00000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F3A6272-2502-5C6E-5134-C1AC0D857B5F}"/>
              </a:ext>
            </a:extLst>
          </p:cNvPr>
          <p:cNvSpPr/>
          <p:nvPr/>
        </p:nvSpPr>
        <p:spPr>
          <a:xfrm>
            <a:off x="412525" y="2991994"/>
            <a:ext cx="5194008" cy="286232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/>
              <a:t>//</a:t>
            </a:r>
            <a:r>
              <a:rPr lang="ru-RU" b="1" i="1" dirty="0"/>
              <a:t>Создание функции-конструктора</a:t>
            </a:r>
            <a:endParaRPr lang="en-US" b="1" i="1" dirty="0"/>
          </a:p>
          <a:p>
            <a:r>
              <a:rPr lang="ru-RU" b="1" i="1" dirty="0"/>
              <a:t>function Car(make, model, year) {</a:t>
            </a:r>
          </a:p>
          <a:p>
            <a:r>
              <a:rPr lang="ru-RU" b="1" i="1" dirty="0"/>
              <a:t>	this.make = make;</a:t>
            </a:r>
          </a:p>
          <a:p>
            <a:r>
              <a:rPr lang="ru-RU" b="1" i="1" dirty="0"/>
              <a:t>	this.model = model;</a:t>
            </a:r>
          </a:p>
          <a:p>
            <a:r>
              <a:rPr lang="ru-RU" b="1" i="1" dirty="0"/>
              <a:t>	this.year = year;</a:t>
            </a:r>
          </a:p>
          <a:p>
            <a:r>
              <a:rPr lang="ru-RU" b="1" i="1" dirty="0"/>
              <a:t>}</a:t>
            </a:r>
          </a:p>
          <a:p>
            <a:r>
              <a:rPr lang="en-US" b="1" i="1" dirty="0"/>
              <a:t>//</a:t>
            </a:r>
            <a:r>
              <a:rPr lang="ru-RU" b="1" i="1" dirty="0"/>
              <a:t>Создание объектов</a:t>
            </a:r>
          </a:p>
          <a:p>
            <a:r>
              <a:rPr lang="en-US" b="1" i="1" dirty="0"/>
              <a:t>var kenscar = new Car("Nissan", "300ZX", 1992);</a:t>
            </a:r>
          </a:p>
          <a:p>
            <a:r>
              <a:rPr lang="en-US" b="1" i="1" dirty="0"/>
              <a:t>var vpgscar = new Car("Mazda", "Miata", 1990);</a:t>
            </a:r>
          </a:p>
          <a:p>
            <a:endParaRPr lang="ru-RU" b="1" i="1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C28C915-090F-6415-0B06-5630C5A78645}"/>
              </a:ext>
            </a:extLst>
          </p:cNvPr>
          <p:cNvSpPr/>
          <p:nvPr/>
        </p:nvSpPr>
        <p:spPr>
          <a:xfrm>
            <a:off x="412525" y="3438292"/>
            <a:ext cx="822828" cy="11079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rgbClr val="C00000"/>
                </a:solidFill>
              </a:rPr>
              <a:t>2</a:t>
            </a:r>
            <a:endParaRPr lang="ru-RU" sz="6600" dirty="0">
              <a:solidFill>
                <a:srgbClr val="C00000"/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772F70A-032F-2088-B89A-0ED542333B14}"/>
              </a:ext>
            </a:extLst>
          </p:cNvPr>
          <p:cNvSpPr/>
          <p:nvPr/>
        </p:nvSpPr>
        <p:spPr>
          <a:xfrm>
            <a:off x="5628580" y="3869157"/>
            <a:ext cx="614271" cy="110799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rgbClr val="C00000"/>
                </a:solidFill>
              </a:rPr>
              <a:t>3</a:t>
            </a:r>
            <a:endParaRPr lang="ru-RU" sz="6600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7F7424-6B1A-4A40-CDA7-23E27E5FF2C9}"/>
              </a:ext>
            </a:extLst>
          </p:cNvPr>
          <p:cNvSpPr txBox="1"/>
          <p:nvPr/>
        </p:nvSpPr>
        <p:spPr>
          <a:xfrm>
            <a:off x="236198" y="5877446"/>
            <a:ext cx="116337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Ключами объектов могут быть строки, при этом ключи-строки принято  кавычки не брать.</a:t>
            </a:r>
          </a:p>
          <a:p>
            <a:r>
              <a:rPr lang="en-US" b="1" dirty="0"/>
              <a:t>let obj = {</a:t>
            </a:r>
            <a:r>
              <a:rPr lang="en-US" b="1" dirty="0">
                <a:solidFill>
                  <a:srgbClr val="C00000"/>
                </a:solidFill>
              </a:rPr>
              <a:t>a: 1</a:t>
            </a:r>
            <a:r>
              <a:rPr lang="en-US" b="1" dirty="0"/>
              <a:t>, b: 2, c: 3};</a:t>
            </a:r>
            <a:endParaRPr lang="ru-RU" b="1" dirty="0"/>
          </a:p>
          <a:p>
            <a:r>
              <a:rPr lang="en-US" b="1" dirty="0"/>
              <a:t>console.log(obj['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dirty="0"/>
              <a:t>']); // </a:t>
            </a:r>
            <a:r>
              <a:rPr lang="ru-RU" b="1" dirty="0"/>
              <a:t>выведет 1</a:t>
            </a:r>
          </a:p>
        </p:txBody>
      </p:sp>
    </p:spTree>
    <p:extLst>
      <p:ext uri="{BB962C8B-B14F-4D97-AF65-F5344CB8AC3E}">
        <p14:creationId xmlns:p14="http://schemas.microsoft.com/office/powerpoint/2010/main" val="422583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Свойства и методы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282A5A-3BB9-CD0B-B520-3BD7F7F1F9A1}"/>
              </a:ext>
            </a:extLst>
          </p:cNvPr>
          <p:cNvSpPr/>
          <p:nvPr/>
        </p:nvSpPr>
        <p:spPr>
          <a:xfrm>
            <a:off x="1860187" y="1389644"/>
            <a:ext cx="3119828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solidFill>
                  <a:srgbClr val="C00000"/>
                </a:solidFill>
              </a:rPr>
              <a:t>objectName.propertyName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16A13BC-19E6-B9FB-EA19-F60807E6EE4E}"/>
              </a:ext>
            </a:extLst>
          </p:cNvPr>
          <p:cNvSpPr/>
          <p:nvPr/>
        </p:nvSpPr>
        <p:spPr>
          <a:xfrm>
            <a:off x="5730703" y="1388933"/>
            <a:ext cx="3442033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solidFill>
                  <a:srgbClr val="C00000"/>
                </a:solidFill>
              </a:rPr>
              <a:t>objectName</a:t>
            </a:r>
            <a:r>
              <a:rPr lang="en-US" sz="2000" b="1" dirty="0">
                <a:solidFill>
                  <a:srgbClr val="C00000"/>
                </a:solidFill>
              </a:rPr>
              <a:t>[“</a:t>
            </a:r>
            <a:r>
              <a:rPr lang="ru-RU" sz="2000" b="1" dirty="0">
                <a:solidFill>
                  <a:srgbClr val="C00000"/>
                </a:solidFill>
              </a:rPr>
              <a:t>propertyName</a:t>
            </a:r>
            <a:r>
              <a:rPr lang="en-US" sz="2000" b="1" dirty="0">
                <a:solidFill>
                  <a:srgbClr val="C00000"/>
                </a:solidFill>
              </a:rPr>
              <a:t>”]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7548F3B-4846-D375-7E52-B833DDBF9227}"/>
              </a:ext>
            </a:extLst>
          </p:cNvPr>
          <p:cNvSpPr/>
          <p:nvPr/>
        </p:nvSpPr>
        <p:spPr>
          <a:xfrm>
            <a:off x="780043" y="1973256"/>
            <a:ext cx="3240432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i="1" dirty="0"/>
              <a:t>var myCar = new Object();</a:t>
            </a:r>
          </a:p>
          <a:p>
            <a:r>
              <a:rPr lang="ru-RU" b="1" i="1" dirty="0"/>
              <a:t>myCar.make = "Ford";</a:t>
            </a:r>
          </a:p>
          <a:p>
            <a:r>
              <a:rPr lang="ru-RU" b="1" i="1" dirty="0"/>
              <a:t>myCar.model = "Mustang";</a:t>
            </a:r>
          </a:p>
          <a:p>
            <a:r>
              <a:rPr lang="ru-RU" b="1" i="1" dirty="0"/>
              <a:t>myCar.year = 1969;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3D586C0-8771-B2AD-1485-AF214206C55D}"/>
              </a:ext>
            </a:extLst>
          </p:cNvPr>
          <p:cNvSpPr/>
          <p:nvPr/>
        </p:nvSpPr>
        <p:spPr>
          <a:xfrm>
            <a:off x="5689805" y="1933963"/>
            <a:ext cx="3318036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i="1" dirty="0"/>
              <a:t>myCar["make"] = "Ford";</a:t>
            </a:r>
          </a:p>
          <a:p>
            <a:r>
              <a:rPr lang="ru-RU" b="1" i="1" dirty="0"/>
              <a:t>myCar["model"] = "Mustang";</a:t>
            </a:r>
          </a:p>
          <a:p>
            <a:r>
              <a:rPr lang="ru-RU" b="1" i="1" dirty="0"/>
              <a:t>myCar["year"] = 1969;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D9FBC11-B496-D4F4-3AE0-B10B4B2A67EF}"/>
              </a:ext>
            </a:extLst>
          </p:cNvPr>
          <p:cNvSpPr/>
          <p:nvPr/>
        </p:nvSpPr>
        <p:spPr>
          <a:xfrm>
            <a:off x="149957" y="3539494"/>
            <a:ext cx="11892087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solidFill>
                  <a:srgbClr val="C00000"/>
                </a:solidFill>
              </a:rPr>
              <a:t>Основные операции производимые с объектами</a:t>
            </a:r>
            <a:r>
              <a:rPr lang="ru-RU" b="1" dirty="0"/>
              <a:t> – это </a:t>
            </a:r>
            <a:r>
              <a:rPr lang="ru-RU" b="1" dirty="0">
                <a:solidFill>
                  <a:srgbClr val="C00000"/>
                </a:solidFill>
              </a:rPr>
              <a:t>добавление новых свойств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изменение существующих свойств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удаление свойств</a:t>
            </a:r>
            <a:r>
              <a:rPr lang="ru-RU" b="1" dirty="0"/>
              <a:t> и </a:t>
            </a:r>
            <a:r>
              <a:rPr lang="ru-RU" b="1" dirty="0">
                <a:solidFill>
                  <a:srgbClr val="C00000"/>
                </a:solidFill>
              </a:rPr>
              <a:t>обращение к свойствам</a:t>
            </a:r>
            <a:r>
              <a:rPr lang="ru-RU" b="1" dirty="0"/>
              <a:t>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183A809-6CF0-3C96-B79C-9E065867DE22}"/>
              </a:ext>
            </a:extLst>
          </p:cNvPr>
          <p:cNvSpPr/>
          <p:nvPr/>
        </p:nvSpPr>
        <p:spPr>
          <a:xfrm>
            <a:off x="419995" y="4268737"/>
            <a:ext cx="4680626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i="1" dirty="0"/>
              <a:t>var o</a:t>
            </a:r>
            <a:r>
              <a:rPr lang="en-US" b="1" i="1" dirty="0" err="1"/>
              <a:t>bj</a:t>
            </a:r>
            <a:r>
              <a:rPr lang="ru-RU" b="1" i="1" dirty="0"/>
              <a:t> = {};</a:t>
            </a:r>
          </a:p>
          <a:p>
            <a:pPr algn="just"/>
            <a:r>
              <a:rPr lang="ru-RU" b="1" i="1" dirty="0"/>
              <a:t>o</a:t>
            </a:r>
            <a:r>
              <a:rPr lang="en-US" b="1" i="1" dirty="0" err="1"/>
              <a:t>bj</a:t>
            </a:r>
            <a:r>
              <a:rPr lang="ru-RU" b="1" i="1" dirty="0"/>
              <a:t>.x = 5;           // Добавили новое свойство</a:t>
            </a:r>
          </a:p>
          <a:p>
            <a:pPr algn="just"/>
            <a:r>
              <a:rPr lang="ru-RU" b="1" i="1" dirty="0"/>
              <a:t>o</a:t>
            </a:r>
            <a:r>
              <a:rPr lang="en-US" b="1" i="1" dirty="0" err="1"/>
              <a:t>bj</a:t>
            </a:r>
            <a:r>
              <a:rPr lang="ru-RU" b="1" i="1" dirty="0"/>
              <a:t>["y"] = 10;   // Добавили новое свойство</a:t>
            </a:r>
            <a:endParaRPr lang="en-US" b="1" i="1" dirty="0"/>
          </a:p>
          <a:p>
            <a:pPr algn="just"/>
            <a:r>
              <a:rPr lang="en-US" b="1" i="1" dirty="0"/>
              <a:t>obj.x = 34; </a:t>
            </a:r>
            <a:r>
              <a:rPr lang="ru-RU" b="1" i="1" dirty="0"/>
              <a:t>       </a:t>
            </a:r>
            <a:r>
              <a:rPr lang="en-US" b="1" i="1" dirty="0"/>
              <a:t>//</a:t>
            </a:r>
            <a:r>
              <a:rPr lang="ru-RU" b="1" i="1" dirty="0"/>
              <a:t>Изменили значение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7C251D5-2273-551D-D9D0-679910E7A423}"/>
              </a:ext>
            </a:extLst>
          </p:cNvPr>
          <p:cNvSpPr/>
          <p:nvPr/>
        </p:nvSpPr>
        <p:spPr>
          <a:xfrm>
            <a:off x="5467817" y="4607033"/>
            <a:ext cx="6465568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/>
              <a:t>Обращение к свойству и изменение значения осуществляется точно так же (с помощью </a:t>
            </a:r>
            <a:r>
              <a:rPr lang="ru-RU" b="1" dirty="0">
                <a:solidFill>
                  <a:srgbClr val="C00000"/>
                </a:solidFill>
              </a:rPr>
              <a:t>операторов доступа</a:t>
            </a:r>
            <a:r>
              <a:rPr lang="en-US" b="1" dirty="0">
                <a:solidFill>
                  <a:srgbClr val="C00000"/>
                </a:solidFill>
              </a:rPr>
              <a:t> - . </a:t>
            </a:r>
            <a:r>
              <a:rPr lang="ru-RU" b="1" dirty="0">
                <a:solidFill>
                  <a:srgbClr val="C00000"/>
                </a:solidFill>
              </a:rPr>
              <a:t>и </a:t>
            </a:r>
            <a:r>
              <a:rPr lang="en-US" b="1" dirty="0">
                <a:solidFill>
                  <a:srgbClr val="C00000"/>
                </a:solidFill>
              </a:rPr>
              <a:t>[]</a:t>
            </a:r>
            <a:r>
              <a:rPr lang="ru-RU" b="1" dirty="0"/>
              <a:t>).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C75EF81-8445-3DEE-AD50-56056C9A7E0D}"/>
              </a:ext>
            </a:extLst>
          </p:cNvPr>
          <p:cNvSpPr/>
          <p:nvPr/>
        </p:nvSpPr>
        <p:spPr>
          <a:xfrm>
            <a:off x="80705" y="847315"/>
            <a:ext cx="11892087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C00000"/>
                </a:solidFill>
              </a:rPr>
              <a:t>Свойство объекта </a:t>
            </a:r>
            <a:r>
              <a:rPr lang="ru-RU" b="1" dirty="0"/>
              <a:t>можно понимать, как переменную, закрепленную за объектом.</a:t>
            </a:r>
          </a:p>
        </p:txBody>
      </p:sp>
    </p:spTree>
    <p:extLst>
      <p:ext uri="{BB962C8B-B14F-4D97-AF65-F5344CB8AC3E}">
        <p14:creationId xmlns:p14="http://schemas.microsoft.com/office/powerpoint/2010/main" val="148755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Ограничения на ключи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C75EF81-8445-3DEE-AD50-56056C9A7E0D}"/>
              </a:ext>
            </a:extLst>
          </p:cNvPr>
          <p:cNvSpPr/>
          <p:nvPr/>
        </p:nvSpPr>
        <p:spPr>
          <a:xfrm>
            <a:off x="119270" y="847315"/>
            <a:ext cx="11853522" cy="14773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/>
              <a:t>Мы можем писать без кавычек не все ключи объектов, а только те, которые удовлетворяют следующим ограничениям: они не могут начинаться с цифры и не могут содержать внутри себя дефис, пробел и тому подобные вещи.</a:t>
            </a:r>
          </a:p>
          <a:p>
            <a:pPr algn="just"/>
            <a:endParaRPr lang="ru-RU" b="1" dirty="0"/>
          </a:p>
          <a:p>
            <a:pPr algn="ctr"/>
            <a:r>
              <a:rPr lang="ru-RU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Если строка нарушает ограничение, то ее нужно брать в кавычки.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8A7CE-9766-6F59-1CEC-70EB9D2FFDC1}"/>
              </a:ext>
            </a:extLst>
          </p:cNvPr>
          <p:cNvSpPr txBox="1"/>
          <p:nvPr/>
        </p:nvSpPr>
        <p:spPr>
          <a:xfrm>
            <a:off x="119270" y="2881211"/>
            <a:ext cx="9430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 таким ключам можно обращаться только через квадратные скобки: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6E2ACAD-8317-C857-554A-686011221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027" y="2412400"/>
            <a:ext cx="5792008" cy="38105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4645FE3-17A8-96DB-84C1-A76671923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47" y="3250543"/>
            <a:ext cx="3105583" cy="6287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C874A7-C0AA-9374-3641-FEBA78A7C54C}"/>
              </a:ext>
            </a:extLst>
          </p:cNvPr>
          <p:cNvSpPr txBox="1"/>
          <p:nvPr/>
        </p:nvSpPr>
        <p:spPr>
          <a:xfrm>
            <a:off x="119270" y="4048843"/>
            <a:ext cx="9819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Также обращение к таким именем через свойство объекта приведет к ошибке: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3B8D003-50D4-9AFC-4C57-D43E22B59D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747" y="4428114"/>
            <a:ext cx="2724530" cy="64779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9415DB4-CCE1-3CB7-4E8B-92F3ED00C0B7}"/>
              </a:ext>
            </a:extLst>
          </p:cNvPr>
          <p:cNvSpPr txBox="1"/>
          <p:nvPr/>
        </p:nvSpPr>
        <p:spPr>
          <a:xfrm>
            <a:off x="119270" y="5216475"/>
            <a:ext cx="10082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А вот третий ключ - допустимый, и к нему мы можем обращаться обоими способами: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E20846C-DB81-3828-C423-CAEF8977B9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097" y="5607339"/>
            <a:ext cx="3019846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1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0D0FBF-6862-68E2-F67E-1101C211A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276" y="1503182"/>
            <a:ext cx="2076740" cy="1981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D862BD-2707-F7DC-4E6D-78C42528790B}"/>
              </a:ext>
            </a:extLst>
          </p:cNvPr>
          <p:cNvSpPr txBox="1"/>
          <p:nvPr/>
        </p:nvSpPr>
        <p:spPr>
          <a:xfrm>
            <a:off x="224625" y="710553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Для каких ключей данного объекта кавычки обязательны, а для каких нет?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771B221-D162-C70A-889D-B889FA1AF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639" y="2730605"/>
            <a:ext cx="2772162" cy="36390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A75362-D91A-EDAD-023F-2139F09439EC}"/>
              </a:ext>
            </a:extLst>
          </p:cNvPr>
          <p:cNvSpPr txBox="1"/>
          <p:nvPr/>
        </p:nvSpPr>
        <p:spPr>
          <a:xfrm>
            <a:off x="7969954" y="2253685"/>
            <a:ext cx="383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Исправьте ошибки в коде</a:t>
            </a:r>
          </a:p>
        </p:txBody>
      </p:sp>
    </p:spTree>
    <p:extLst>
      <p:ext uri="{BB962C8B-B14F-4D97-AF65-F5344CB8AC3E}">
        <p14:creationId xmlns:p14="http://schemas.microsoft.com/office/powerpoint/2010/main" val="164124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Добавление элементов в объекты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933C3-E01A-C073-9A10-50DFFF397C85}"/>
              </a:ext>
            </a:extLst>
          </p:cNvPr>
          <p:cNvSpPr txBox="1"/>
          <p:nvPr/>
        </p:nvSpPr>
        <p:spPr>
          <a:xfrm>
            <a:off x="232576" y="766163"/>
            <a:ext cx="5756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 объекты можно добавлять новые элементы, записывая их в нужные ключи. 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610A54C-DE45-EF1E-6ED2-E677E5E7A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59" y="1563262"/>
            <a:ext cx="3839111" cy="352474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4CB3270-99F7-537D-E919-2D414BA5A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913" y="2918172"/>
            <a:ext cx="3839111" cy="353426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398BAE-2009-5962-D101-C94BC4C39F7D}"/>
              </a:ext>
            </a:extLst>
          </p:cNvPr>
          <p:cNvSpPr txBox="1"/>
          <p:nvPr/>
        </p:nvSpPr>
        <p:spPr>
          <a:xfrm>
            <a:off x="5989320" y="765354"/>
            <a:ext cx="60946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C00000"/>
                </a:solidFill>
              </a:rPr>
              <a:t>В массивах элементы располагаются в строгом порядке</a:t>
            </a:r>
            <a:r>
              <a:rPr lang="ru-RU" b="1" dirty="0"/>
              <a:t>, ведь позиция каждого элемента определяет его ключ. </a:t>
            </a:r>
          </a:p>
          <a:p>
            <a:pPr algn="just"/>
            <a:endParaRPr lang="ru-RU" b="1" dirty="0"/>
          </a:p>
          <a:p>
            <a:pPr algn="just"/>
            <a:r>
              <a:rPr lang="ru-RU" b="1" dirty="0"/>
              <a:t>В объектах мы сами назначаем ключи, поэтому </a:t>
            </a:r>
            <a:r>
              <a:rPr lang="ru-RU" b="1" dirty="0">
                <a:solidFill>
                  <a:srgbClr val="C00000"/>
                </a:solidFill>
              </a:rPr>
              <a:t>порядок следования элементов не имеет значения</a:t>
            </a:r>
            <a:r>
              <a:rPr lang="ru-RU" b="1" dirty="0"/>
              <a:t>. To есть массивы являются упорядоченными списками, а объекты - нет.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79059CC-BDCA-4F0D-4B22-A039A46F86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8458" y="2918172"/>
            <a:ext cx="4615906" cy="381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98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Массив ключей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8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933C3-E01A-C073-9A10-50DFFF397C85}"/>
              </a:ext>
            </a:extLst>
          </p:cNvPr>
          <p:cNvSpPr txBox="1"/>
          <p:nvPr/>
        </p:nvSpPr>
        <p:spPr>
          <a:xfrm>
            <a:off x="247567" y="766163"/>
            <a:ext cx="4628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Можно получить массив ключей объекта. 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AB62CC-46DF-11EE-47E2-A3E1A1CC7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65" y="1220621"/>
            <a:ext cx="4182059" cy="35056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5AFEF6-22F3-8456-FC7B-9955149860B1}"/>
              </a:ext>
            </a:extLst>
          </p:cNvPr>
          <p:cNvSpPr txBox="1"/>
          <p:nvPr/>
        </p:nvSpPr>
        <p:spPr>
          <a:xfrm>
            <a:off x="5273703" y="766163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У объектов нет свойства length, позволяющего найти их длину. Но можно получить </a:t>
            </a:r>
            <a:r>
              <a:rPr lang="ru-RU" b="1" dirty="0">
                <a:solidFill>
                  <a:srgbClr val="C00000"/>
                </a:solidFill>
              </a:rPr>
              <a:t>длину массива ключей</a:t>
            </a:r>
            <a:r>
              <a:rPr lang="ru-RU" b="1" dirty="0"/>
              <a:t>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03A419E-B0C5-7F58-F573-9A992FA6F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38" y="1497620"/>
            <a:ext cx="4963218" cy="25054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ED5469-129D-B623-C769-16A952D15DD3}"/>
              </a:ext>
            </a:extLst>
          </p:cNvPr>
          <p:cNvSpPr txBox="1"/>
          <p:nvPr/>
        </p:nvSpPr>
        <p:spPr>
          <a:xfrm>
            <a:off x="4876138" y="4634962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Ключи объектов могут храниться в переменных.</a:t>
            </a:r>
          </a:p>
        </p:txBody>
      </p:sp>
    </p:spTree>
    <p:extLst>
      <p:ext uri="{BB962C8B-B14F-4D97-AF65-F5344CB8AC3E}">
        <p14:creationId xmlns:p14="http://schemas.microsoft.com/office/powerpoint/2010/main" val="77897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Свойства и методы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9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F6CDCAA-FEEC-74D5-7BE5-B5C34CF24CF4}"/>
              </a:ext>
            </a:extLst>
          </p:cNvPr>
          <p:cNvSpPr/>
          <p:nvPr/>
        </p:nvSpPr>
        <p:spPr>
          <a:xfrm>
            <a:off x="149956" y="807138"/>
            <a:ext cx="11892087" cy="34163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Специфичными атрибутами для свойств с данными являются следующие атрибуты: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C00000"/>
                </a:solidFill>
              </a:rPr>
              <a:t>value</a:t>
            </a:r>
            <a:r>
              <a:rPr lang="ru-RU" b="1" dirty="0"/>
              <a:t> — содержит непосредственно данные.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C00000"/>
                </a:solidFill>
              </a:rPr>
              <a:t>writable</a:t>
            </a:r>
            <a:r>
              <a:rPr lang="ru-RU" b="1" dirty="0"/>
              <a:t> — определяет, доступно ли данное свойство для записи (по умолчанию, true).</a:t>
            </a:r>
          </a:p>
          <a:p>
            <a:endParaRPr lang="ru-RU" b="1" dirty="0"/>
          </a:p>
          <a:p>
            <a:r>
              <a:rPr lang="ru-RU" b="1" dirty="0"/>
              <a:t>Специфичными атрибутами для свойств с методами доступа являются: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C00000"/>
                </a:solidFill>
              </a:rPr>
              <a:t>set</a:t>
            </a:r>
            <a:r>
              <a:rPr lang="ru-RU" b="1" dirty="0"/>
              <a:t> — содержит setter, функцию, которая вызывается при записи свойства.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C00000"/>
                </a:solidFill>
              </a:rPr>
              <a:t>get</a:t>
            </a:r>
            <a:r>
              <a:rPr lang="ru-RU" b="1" dirty="0"/>
              <a:t> — содержит getter, функцию, которая вызывается при чтении свойства.</a:t>
            </a:r>
          </a:p>
          <a:p>
            <a:endParaRPr lang="ru-RU" b="1" dirty="0"/>
          </a:p>
          <a:p>
            <a:r>
              <a:rPr lang="ru-RU" b="1" dirty="0"/>
              <a:t>Общие атрибуты свойств: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C00000"/>
                </a:solidFill>
              </a:rPr>
              <a:t>enumerable</a:t>
            </a:r>
            <a:r>
              <a:rPr lang="ru-RU" b="1" dirty="0"/>
              <a:t> — определяет доступность свойства для перечисления.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C00000"/>
                </a:solidFill>
              </a:rPr>
              <a:t>configurable</a:t>
            </a:r>
            <a:r>
              <a:rPr lang="ru-RU" b="1" dirty="0"/>
              <a:t> — определяет доступность свойства для изменения (например, может ли свойство быть удалено, может ли быть изменен какой-либо атрибут свойства).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20EBECC-85F7-EEE9-35C1-153558B1B1E5}"/>
              </a:ext>
            </a:extLst>
          </p:cNvPr>
          <p:cNvSpPr/>
          <p:nvPr/>
        </p:nvSpPr>
        <p:spPr>
          <a:xfrm>
            <a:off x="307732" y="4349559"/>
            <a:ext cx="308161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rgbClr val="C00000"/>
                </a:solidFill>
              </a:rPr>
              <a:t>Дескрипторы свойств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86AC7E-B6DA-7810-BD50-314CD37EA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267" y="4223458"/>
            <a:ext cx="8268854" cy="24768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843F31-AE0D-4591-788F-8A6C9FEABCCA}"/>
              </a:ext>
            </a:extLst>
          </p:cNvPr>
          <p:cNvSpPr txBox="1"/>
          <p:nvPr/>
        </p:nvSpPr>
        <p:spPr>
          <a:xfrm>
            <a:off x="251938" y="4937325"/>
            <a:ext cx="2949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Дескрипторы свойств объектов в JavaScript — это специальные объекты, которые описывают свойства объектов и их поведение.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70C6E-169A-D08A-CCBE-B055CA5356A6}"/>
              </a:ext>
            </a:extLst>
          </p:cNvPr>
          <p:cNvSpPr txBox="1"/>
          <p:nvPr/>
        </p:nvSpPr>
        <p:spPr>
          <a:xfrm>
            <a:off x="8364511" y="1798483"/>
            <a:ext cx="36775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D73A49"/>
                </a:solidFill>
                <a:effectLst/>
                <a:latin typeface="ui-monospace"/>
              </a:rPr>
              <a:t>const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 obj = {}; </a:t>
            </a:r>
            <a:endParaRPr lang="ru-RU" sz="16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600" b="1" i="0" dirty="0" err="1">
                <a:solidFill>
                  <a:srgbClr val="6841EA"/>
                </a:solidFill>
                <a:effectLst/>
                <a:latin typeface="ui-monospace"/>
              </a:rPr>
              <a:t>Object</a:t>
            </a:r>
            <a:r>
              <a:rPr lang="en-US" sz="1600" b="1" i="0" dirty="0" err="1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600" b="1" i="0" dirty="0" err="1">
                <a:solidFill>
                  <a:srgbClr val="6841EA"/>
                </a:solidFill>
                <a:effectLst/>
                <a:latin typeface="ui-monospace"/>
              </a:rPr>
              <a:t>defineProperty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(obj, </a:t>
            </a:r>
            <a:r>
              <a:rPr lang="en-US" sz="1600" b="1" i="0" dirty="0">
                <a:solidFill>
                  <a:srgbClr val="1D6BC5"/>
                </a:solidFill>
                <a:effectLst/>
                <a:latin typeface="ui-monospace"/>
              </a:rPr>
              <a:t>'property1'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, { </a:t>
            </a:r>
            <a:endParaRPr lang="ru-RU" sz="16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value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: </a:t>
            </a:r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42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, </a:t>
            </a:r>
            <a:endParaRPr lang="ru-RU" sz="16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writable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: </a:t>
            </a:r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true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, </a:t>
            </a:r>
            <a:endParaRPr lang="ru-RU" sz="16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enumerable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: </a:t>
            </a:r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true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, </a:t>
            </a:r>
            <a:endParaRPr lang="ru-RU" sz="16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configurable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: </a:t>
            </a:r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true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 });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1311786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Свойства и методы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10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3E55760-F88C-E325-B1C9-07FAAFAEECE3}"/>
              </a:ext>
            </a:extLst>
          </p:cNvPr>
          <p:cNvSpPr/>
          <p:nvPr/>
        </p:nvSpPr>
        <p:spPr>
          <a:xfrm>
            <a:off x="211508" y="904899"/>
            <a:ext cx="11892087" cy="20313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/>
              <a:t>- </a:t>
            </a:r>
            <a:r>
              <a:rPr lang="ru-RU" b="1" dirty="0">
                <a:solidFill>
                  <a:srgbClr val="C00000"/>
                </a:solidFill>
              </a:rPr>
              <a:t>Циклы for...in </a:t>
            </a:r>
            <a:r>
              <a:rPr lang="ru-RU" b="1" dirty="0"/>
              <a:t>– перебор всех перечисляемых свойств объекта (цепочки прототипов);</a:t>
            </a:r>
          </a:p>
          <a:p>
            <a:pPr algn="just"/>
            <a:endParaRPr lang="ru-RU" b="1" dirty="0"/>
          </a:p>
          <a:p>
            <a:pPr algn="just"/>
            <a:r>
              <a:rPr lang="ru-RU" b="1" dirty="0"/>
              <a:t>- </a:t>
            </a:r>
            <a:r>
              <a:rPr lang="ru-RU" b="1" dirty="0">
                <a:solidFill>
                  <a:srgbClr val="C00000"/>
                </a:solidFill>
              </a:rPr>
              <a:t>Object.keys(o</a:t>
            </a:r>
            <a:r>
              <a:rPr lang="en-US" b="1" dirty="0" err="1">
                <a:solidFill>
                  <a:srgbClr val="C00000"/>
                </a:solidFill>
              </a:rPr>
              <a:t>bj</a:t>
            </a:r>
            <a:r>
              <a:rPr lang="ru-RU" b="1" dirty="0">
                <a:solidFill>
                  <a:srgbClr val="C00000"/>
                </a:solidFill>
              </a:rPr>
              <a:t>)</a:t>
            </a:r>
            <a:r>
              <a:rPr lang="ru-RU" b="1" dirty="0"/>
              <a:t> – получение массива со всеми собственными (исключая цепочку прототипов) именами перечисляемых свойств объекта o</a:t>
            </a:r>
            <a:r>
              <a:rPr lang="en-US" b="1" dirty="0" err="1"/>
              <a:t>bj</a:t>
            </a:r>
            <a:r>
              <a:rPr lang="ru-RU" b="1" dirty="0"/>
              <a:t>.</a:t>
            </a:r>
          </a:p>
          <a:p>
            <a:pPr algn="just"/>
            <a:endParaRPr lang="ru-RU" b="1" dirty="0"/>
          </a:p>
          <a:p>
            <a:pPr algn="just"/>
            <a:r>
              <a:rPr lang="ru-RU" b="1" dirty="0"/>
              <a:t>- </a:t>
            </a:r>
            <a:r>
              <a:rPr lang="ru-RU" b="1" dirty="0">
                <a:solidFill>
                  <a:srgbClr val="C00000"/>
                </a:solidFill>
              </a:rPr>
              <a:t>Object.getOwnPropertyNames(o</a:t>
            </a:r>
            <a:r>
              <a:rPr lang="en-US" b="1" dirty="0" err="1">
                <a:solidFill>
                  <a:srgbClr val="C00000"/>
                </a:solidFill>
              </a:rPr>
              <a:t>bj</a:t>
            </a:r>
            <a:r>
              <a:rPr lang="ru-RU" b="1" dirty="0">
                <a:solidFill>
                  <a:srgbClr val="C00000"/>
                </a:solidFill>
              </a:rPr>
              <a:t>) </a:t>
            </a:r>
            <a:r>
              <a:rPr lang="ru-RU" b="1" dirty="0"/>
              <a:t>– получение массива, содержащего все имена своих свойств (перечисляемых и неперечисляемых) объекта o</a:t>
            </a:r>
            <a:r>
              <a:rPr lang="en-US" b="1" dirty="0"/>
              <a:t>bj</a:t>
            </a:r>
            <a:r>
              <a:rPr lang="ru-RU" b="1" dirty="0"/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7DCEEB8-DA97-6CC7-88FF-EC6A806B51B4}"/>
              </a:ext>
            </a:extLst>
          </p:cNvPr>
          <p:cNvSpPr/>
          <p:nvPr/>
        </p:nvSpPr>
        <p:spPr>
          <a:xfrm>
            <a:off x="686385" y="5663636"/>
            <a:ext cx="982172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Object.keys() </a:t>
            </a:r>
            <a:r>
              <a:rPr lang="ru-RU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возвращает перечислимые имена свойств объекта</a:t>
            </a:r>
          </a:p>
          <a:p>
            <a:r>
              <a:rPr lang="en-US" b="1" dirty="0">
                <a:solidFill>
                  <a:srgbClr val="C00000"/>
                </a:solidFill>
              </a:rPr>
              <a:t>Object.getOwnPropertyNames()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/>
              <a:t>– возвращает все имена собственных свойств объекта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059961A-F736-298E-3F84-829293587861}"/>
              </a:ext>
            </a:extLst>
          </p:cNvPr>
          <p:cNvSpPr/>
          <p:nvPr/>
        </p:nvSpPr>
        <p:spPr>
          <a:xfrm>
            <a:off x="81190" y="5399103"/>
            <a:ext cx="606256" cy="110799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rgbClr val="C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lang="ru-RU" sz="6600" dirty="0">
              <a:solidFill>
                <a:srgbClr val="C00000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F9B1B60-8C38-9405-1142-A7F203B31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383" y="2928779"/>
            <a:ext cx="5291529" cy="265247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82A734F-931B-5070-5A22-4DA17345E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908" y="2928779"/>
            <a:ext cx="5164690" cy="230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20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Вычисляемые свойства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11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6C2ECA-7CCC-4475-E4B0-33329F98576C}"/>
              </a:ext>
            </a:extLst>
          </p:cNvPr>
          <p:cNvSpPr txBox="1"/>
          <p:nvPr/>
        </p:nvSpPr>
        <p:spPr>
          <a:xfrm>
            <a:off x="312089" y="826446"/>
            <a:ext cx="11718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 объявлении объекта имена его свойств могут браться из переменных. </a:t>
            </a:r>
            <a:endParaRPr lang="en-US" b="1" dirty="0"/>
          </a:p>
          <a:p>
            <a:r>
              <a:rPr lang="ru-RU" b="1" dirty="0"/>
              <a:t>Такие свойства называются вычисляемыми.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AD03899-73F4-0FA4-4037-4C6195E5C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89" y="1618186"/>
            <a:ext cx="2095792" cy="204816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4457B6E-2F63-BE2E-2E03-178304494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072" y="1643276"/>
            <a:ext cx="2314898" cy="20100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CE885E-A571-6EB8-F8EB-4756FAD3CC87}"/>
              </a:ext>
            </a:extLst>
          </p:cNvPr>
          <p:cNvSpPr txBox="1"/>
          <p:nvPr/>
        </p:nvSpPr>
        <p:spPr>
          <a:xfrm>
            <a:off x="6670623" y="1262044"/>
            <a:ext cx="4837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Вычисляемые свойства заключаются в квадратные скобки [] внутри литералов объектов.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A8EC6C6-3263-34F5-EAFB-2B139881E4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7024" y="2308016"/>
            <a:ext cx="6082875" cy="264045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38CC6E2-A45C-81D6-FC75-4A8F5A0B80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394" y="3823831"/>
            <a:ext cx="5115002" cy="283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73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Оператор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12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B7282F7-EC42-61D6-4E8C-914A1053B771}"/>
              </a:ext>
            </a:extLst>
          </p:cNvPr>
          <p:cNvSpPr/>
          <p:nvPr/>
        </p:nvSpPr>
        <p:spPr>
          <a:xfrm>
            <a:off x="810318" y="889420"/>
            <a:ext cx="5131148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проверить принадлежность к множеству</a:t>
            </a:r>
            <a:r>
              <a:rPr lang="en-US" b="1" dirty="0"/>
              <a:t> </a:t>
            </a:r>
            <a:r>
              <a:rPr lang="ru-RU" b="1" dirty="0"/>
              <a:t>свойств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4C829F-F9BF-7814-E9D5-6820B8D2AF5C}"/>
              </a:ext>
            </a:extLst>
          </p:cNvPr>
          <p:cNvSpPr/>
          <p:nvPr/>
        </p:nvSpPr>
        <p:spPr>
          <a:xfrm>
            <a:off x="5002989" y="1281201"/>
            <a:ext cx="497252" cy="83099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800" b="1" dirty="0">
                <a:solidFill>
                  <a:srgbClr val="C00000"/>
                </a:solidFill>
              </a:rPr>
              <a:t>2</a:t>
            </a:r>
            <a:endParaRPr lang="ru-RU" sz="4800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7CFB285-B72E-05EB-BAAB-983F97DDCDF9}"/>
              </a:ext>
            </a:extLst>
          </p:cNvPr>
          <p:cNvSpPr/>
          <p:nvPr/>
        </p:nvSpPr>
        <p:spPr>
          <a:xfrm>
            <a:off x="5500241" y="1512034"/>
            <a:ext cx="5995616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проверить наличие в объекте свойства с данным именем</a:t>
            </a:r>
            <a:endParaRPr lang="ru-RU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4E71A12-A294-F00C-DE96-B6EE53C7DDAF}"/>
              </a:ext>
            </a:extLst>
          </p:cNvPr>
          <p:cNvSpPr/>
          <p:nvPr/>
        </p:nvSpPr>
        <p:spPr>
          <a:xfrm>
            <a:off x="2237618" y="1327368"/>
            <a:ext cx="1350563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C00000"/>
                </a:solidFill>
              </a:rPr>
              <a:t>оператор in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2A48777-A597-1E3F-6CF2-0A65D4D569CF}"/>
              </a:ext>
            </a:extLst>
          </p:cNvPr>
          <p:cNvSpPr/>
          <p:nvPr/>
        </p:nvSpPr>
        <p:spPr>
          <a:xfrm>
            <a:off x="5918969" y="1958288"/>
            <a:ext cx="5283434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методы hasOwnProperty() и propertyIsEnumerable()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8642514-F87B-46D3-FA8B-34FAF623E694}"/>
              </a:ext>
            </a:extLst>
          </p:cNvPr>
          <p:cNvSpPr/>
          <p:nvPr/>
        </p:nvSpPr>
        <p:spPr>
          <a:xfrm>
            <a:off x="193171" y="226102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i="1" dirty="0"/>
              <a:t>var obj = { x:1 }</a:t>
            </a:r>
          </a:p>
          <a:p>
            <a:r>
              <a:rPr lang="ru-RU" b="1" i="1" dirty="0"/>
              <a:t>"x" in obj;  // true: obj имеет собственное свойство "x"</a:t>
            </a:r>
          </a:p>
          <a:p>
            <a:r>
              <a:rPr lang="ru-RU" b="1" i="1" dirty="0"/>
              <a:t>"y" in obj;  // false: obj не имеет свойства "y"</a:t>
            </a:r>
          </a:p>
          <a:p>
            <a:r>
              <a:rPr lang="ru-RU" b="1" i="1" dirty="0"/>
              <a:t>"toString" in obj;   // true: obj наследует свойство toString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E57B11D-35EE-ADCE-C11A-98E38F9DE326}"/>
              </a:ext>
            </a:extLst>
          </p:cNvPr>
          <p:cNvSpPr/>
          <p:nvPr/>
        </p:nvSpPr>
        <p:spPr>
          <a:xfrm>
            <a:off x="6829227" y="2351439"/>
            <a:ext cx="5040672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solidFill>
                  <a:srgbClr val="C00000"/>
                </a:solidFill>
              </a:rPr>
              <a:t>Метод hasOwnProperty() </a:t>
            </a:r>
            <a:r>
              <a:rPr lang="ru-RU" b="1" dirty="0"/>
              <a:t>объекта проверяет, имеет ли объект собственное свойство с указанным именем.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8E7ED89-FBA5-B7F2-6715-E990243A20FE}"/>
              </a:ext>
            </a:extLst>
          </p:cNvPr>
          <p:cNvSpPr/>
          <p:nvPr/>
        </p:nvSpPr>
        <p:spPr>
          <a:xfrm>
            <a:off x="6816305" y="3273045"/>
            <a:ext cx="5053594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propertyIsEnumerable() </a:t>
            </a:r>
            <a:r>
              <a:rPr lang="ru-RU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 + свойство является собственным свойством объекта и атрибут 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enumerable = true</a:t>
            </a:r>
            <a:r>
              <a:rPr lang="ru-RU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994A0BD-94DF-AF09-0D6D-3519F07A4D55}"/>
              </a:ext>
            </a:extLst>
          </p:cNvPr>
          <p:cNvSpPr/>
          <p:nvPr/>
        </p:nvSpPr>
        <p:spPr>
          <a:xfrm>
            <a:off x="1698271" y="4275948"/>
            <a:ext cx="8977881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i="1" dirty="0"/>
              <a:t>var obj = { x:1 }</a:t>
            </a:r>
          </a:p>
          <a:p>
            <a:r>
              <a:rPr lang="ru-RU" b="1" i="1" dirty="0"/>
              <a:t>obj.hasOwnProperty('x');	// true: obj имеет собственное свойство "x"</a:t>
            </a:r>
          </a:p>
          <a:p>
            <a:r>
              <a:rPr lang="ru-RU" b="1" i="1" dirty="0"/>
              <a:t>obj.hasOwnProperty('y');	// false: obj не имеет свойства "y"</a:t>
            </a:r>
          </a:p>
          <a:p>
            <a:r>
              <a:rPr lang="ru-RU" b="1" i="1" dirty="0"/>
              <a:t>obj.hasOwnProperty('toString');	// false: toString - наследуемое свойство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840A7C5-3595-67E8-D8CA-B11B81665B65}"/>
              </a:ext>
            </a:extLst>
          </p:cNvPr>
          <p:cNvSpPr/>
          <p:nvPr/>
        </p:nvSpPr>
        <p:spPr>
          <a:xfrm>
            <a:off x="325558" y="681037"/>
            <a:ext cx="497252" cy="83099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800" b="1" dirty="0">
                <a:solidFill>
                  <a:srgbClr val="C00000"/>
                </a:solidFill>
              </a:rPr>
              <a:t>1</a:t>
            </a:r>
            <a:endParaRPr lang="ru-RU" sz="4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03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Оператор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delete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13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F4F02B5-E186-1933-3008-D3AEF8FF9141}"/>
              </a:ext>
            </a:extLst>
          </p:cNvPr>
          <p:cNvSpPr/>
          <p:nvPr/>
        </p:nvSpPr>
        <p:spPr>
          <a:xfrm>
            <a:off x="80705" y="769230"/>
            <a:ext cx="11892087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/>
              <a:t>Удалить свойство объекта можно с помощью </a:t>
            </a:r>
            <a:r>
              <a:rPr lang="ru-RU" b="1" dirty="0">
                <a:solidFill>
                  <a:srgbClr val="C00000"/>
                </a:solidFill>
              </a:rPr>
              <a:t>оператора delete</a:t>
            </a:r>
            <a:r>
              <a:rPr lang="ru-RU" b="1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932C2A-5AAE-7090-6771-102D33AF6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07" y="1836984"/>
            <a:ext cx="7582958" cy="1952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DBC74D-6EA2-335D-428D-962DF17675C5}"/>
              </a:ext>
            </a:extLst>
          </p:cNvPr>
          <p:cNvSpPr txBox="1"/>
          <p:nvPr/>
        </p:nvSpPr>
        <p:spPr>
          <a:xfrm>
            <a:off x="624394" y="1303107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D73A49"/>
                </a:solidFill>
                <a:effectLst/>
                <a:latin typeface="ui-monospace"/>
              </a:rPr>
              <a:t>delete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b="1" i="0" dirty="0" err="1">
                <a:solidFill>
                  <a:srgbClr val="262626"/>
                </a:solidFill>
                <a:effectLst/>
                <a:latin typeface="ui-monospace"/>
              </a:rPr>
              <a:t>object.property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;</a:t>
            </a:r>
            <a:endParaRPr lang="ru-RU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4EE63F-88B5-7BF8-10EE-2BE4263D5DE0}"/>
              </a:ext>
            </a:extLst>
          </p:cNvPr>
          <p:cNvSpPr txBox="1"/>
          <p:nvPr/>
        </p:nvSpPr>
        <p:spPr>
          <a:xfrm>
            <a:off x="3982386" y="1303107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D73A49"/>
                </a:solidFill>
                <a:effectLst/>
                <a:latin typeface="ui-monospace"/>
              </a:rPr>
              <a:t>delete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 object[</a:t>
            </a:r>
            <a:r>
              <a:rPr lang="en-US" b="1" i="0" dirty="0">
                <a:solidFill>
                  <a:srgbClr val="1D6BC5"/>
                </a:solidFill>
                <a:effectLst/>
                <a:latin typeface="ui-monospace"/>
              </a:rPr>
              <a:t>"property"</a:t>
            </a:r>
            <a:r>
              <a:rPr lang="en-US" b="1" i="0" dirty="0">
                <a:solidFill>
                  <a:srgbClr val="262626"/>
                </a:solidFill>
                <a:effectLst/>
                <a:latin typeface="ui-monospace"/>
              </a:rPr>
              <a:t>];</a:t>
            </a:r>
            <a:endParaRPr lang="ru-RU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BD70D3-2F30-7262-AABA-BADA635608D5}"/>
              </a:ext>
            </a:extLst>
          </p:cNvPr>
          <p:cNvSpPr txBox="1"/>
          <p:nvPr/>
        </p:nvSpPr>
        <p:spPr>
          <a:xfrm>
            <a:off x="440336" y="3995678"/>
            <a:ext cx="115324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Возвращаемое значение: оператор delete возвращает true, если свойство было успешно удалено, или свойство не существовало.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Не изменяет длину массива: если вы используете delete для удаления элемента массива, длина массива не изменится, и вместо значения будет установлено значение </a:t>
            </a:r>
            <a:r>
              <a:rPr lang="ru-RU" b="1" dirty="0">
                <a:solidFill>
                  <a:srgbClr val="C00000"/>
                </a:solidFill>
              </a:rPr>
              <a:t>undefined</a:t>
            </a:r>
            <a:r>
              <a:rPr lang="ru-RU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Не удаляет свойства, определенные с помощью const: если свойство объекта было создано с помощью </a:t>
            </a:r>
            <a:r>
              <a:rPr lang="ru-RU" b="1" dirty="0" err="1">
                <a:solidFill>
                  <a:srgbClr val="C00000"/>
                </a:solidFill>
              </a:rPr>
              <a:t>Object.defineProperty</a:t>
            </a:r>
            <a:r>
              <a:rPr lang="ru-RU" b="1" dirty="0">
                <a:solidFill>
                  <a:srgbClr val="C00000"/>
                </a:solidFill>
              </a:rPr>
              <a:t>(</a:t>
            </a:r>
            <a:r>
              <a:rPr lang="ru-RU" b="1" dirty="0"/>
              <a:t>) с флагом </a:t>
            </a:r>
            <a:r>
              <a:rPr lang="ru-RU" b="1" dirty="0" err="1">
                <a:solidFill>
                  <a:srgbClr val="C00000"/>
                </a:solidFill>
              </a:rPr>
              <a:t>configurable</a:t>
            </a:r>
            <a:r>
              <a:rPr lang="ru-RU" b="1" dirty="0">
                <a:solidFill>
                  <a:srgbClr val="C00000"/>
                </a:solidFill>
              </a:rPr>
              <a:t>: false</a:t>
            </a:r>
            <a:r>
              <a:rPr lang="ru-RU" b="1" dirty="0"/>
              <a:t>, его нельзя удалить.</a:t>
            </a:r>
          </a:p>
        </p:txBody>
      </p:sp>
    </p:spTree>
    <p:extLst>
      <p:ext uri="{BB962C8B-B14F-4D97-AF65-F5344CB8AC3E}">
        <p14:creationId xmlns:p14="http://schemas.microsoft.com/office/powerpoint/2010/main" val="777164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14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021A63D-4182-0FA9-63E2-DD679062B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01" y="834044"/>
            <a:ext cx="6077798" cy="360095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E3E202F-36BB-6805-26D0-AFAF7DD3B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914" y="3797816"/>
            <a:ext cx="6154009" cy="230537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06868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Свойства и методы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k-MK" sz="1000" b="1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8BCD365-F367-53C4-CE8A-D6AEF543A65D}"/>
              </a:ext>
            </a:extLst>
          </p:cNvPr>
          <p:cNvSpPr/>
          <p:nvPr/>
        </p:nvSpPr>
        <p:spPr>
          <a:xfrm>
            <a:off x="397239" y="912814"/>
            <a:ext cx="11514326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/>
              <a:t>Свойство, значением которого является функция, называется </a:t>
            </a:r>
            <a:r>
              <a:rPr lang="ru-RU" b="1" dirty="0">
                <a:solidFill>
                  <a:srgbClr val="C00000"/>
                </a:solidFill>
              </a:rPr>
              <a:t>методом</a:t>
            </a:r>
            <a:r>
              <a:rPr lang="ru-RU" b="1" dirty="0"/>
              <a:t>. Вызов метода осуществляется точно также, как и вызов обычной функции – с помощью оператора </a:t>
            </a:r>
            <a:r>
              <a:rPr lang="ru-RU" b="1" dirty="0">
                <a:solidFill>
                  <a:srgbClr val="C00000"/>
                </a:solidFill>
              </a:rPr>
              <a:t>()</a:t>
            </a:r>
            <a:r>
              <a:rPr lang="ru-RU" b="1" dirty="0"/>
              <a:t> (</a:t>
            </a:r>
            <a:r>
              <a:rPr lang="ru-RU" b="1" dirty="0">
                <a:solidFill>
                  <a:srgbClr val="C00000"/>
                </a:solidFill>
              </a:rPr>
              <a:t>оператор вызова</a:t>
            </a:r>
            <a:r>
              <a:rPr lang="ru-RU" b="1" dirty="0"/>
              <a:t>).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5B47B4C-ED92-E7CA-9CD3-5E5351DA3D1C}"/>
              </a:ext>
            </a:extLst>
          </p:cNvPr>
          <p:cNvSpPr/>
          <p:nvPr/>
        </p:nvSpPr>
        <p:spPr>
          <a:xfrm>
            <a:off x="4078156" y="2476815"/>
            <a:ext cx="7429791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Для доступа к свойствам объекта внутри метода используется </a:t>
            </a:r>
            <a:r>
              <a:rPr lang="ru-RU" b="1" dirty="0">
                <a:solidFill>
                  <a:srgbClr val="C00000"/>
                </a:solidFill>
              </a:rPr>
              <a:t>ключевое слово this</a:t>
            </a:r>
            <a:r>
              <a:rPr lang="ru-RU" b="1" dirty="0"/>
              <a:t>. Оно содержит ссылку на объект, с помощью которого был вызван метод</a:t>
            </a:r>
            <a:r>
              <a:rPr lang="en-US" b="1" dirty="0"/>
              <a:t>.</a:t>
            </a:r>
            <a:endParaRPr lang="ru-RU" b="1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F283F9D-6557-0F5C-92F8-E7D6AD56718B}"/>
              </a:ext>
            </a:extLst>
          </p:cNvPr>
          <p:cNvSpPr/>
          <p:nvPr/>
        </p:nvSpPr>
        <p:spPr>
          <a:xfrm>
            <a:off x="5065076" y="1838722"/>
            <a:ext cx="4656339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C00000"/>
                </a:solidFill>
              </a:rPr>
              <a:t>object.methodname(params);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4637CF-8C24-1BDD-5448-963427D22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11" y="1699177"/>
            <a:ext cx="3335519" cy="273403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D1FAEC-B744-6A40-3956-78177722A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628" y="3457855"/>
            <a:ext cx="3779221" cy="321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30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Свойства и методы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16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9A88BA5-2813-5373-17FC-97F2351AB1B5}"/>
              </a:ext>
            </a:extLst>
          </p:cNvPr>
          <p:cNvSpPr/>
          <p:nvPr/>
        </p:nvSpPr>
        <p:spPr>
          <a:xfrm>
            <a:off x="149956" y="950138"/>
            <a:ext cx="11892087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C00000"/>
                </a:solidFill>
              </a:rPr>
              <a:t>Ключевое слово this</a:t>
            </a:r>
            <a:r>
              <a:rPr lang="ru-RU" b="1" dirty="0"/>
              <a:t>, которое вы можете использовать внутри метода, ссылается на текущий объект.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E8FD15-8C0F-1B69-6BF7-B10F2317E2D5}"/>
              </a:ext>
            </a:extLst>
          </p:cNvPr>
          <p:cNvSpPr/>
          <p:nvPr/>
        </p:nvSpPr>
        <p:spPr>
          <a:xfrm>
            <a:off x="419993" y="149255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i="1" dirty="0"/>
              <a:t>function validate(obj, lowval, hival) {</a:t>
            </a:r>
          </a:p>
          <a:p>
            <a:r>
              <a:rPr lang="ru-RU" b="1" i="1" dirty="0"/>
              <a:t>	if ((obj.value &lt; lowval) || (obj.value &gt; hival))</a:t>
            </a:r>
          </a:p>
          <a:p>
            <a:r>
              <a:rPr lang="ru-RU" b="1" i="1" dirty="0"/>
              <a:t>		alert("Invalid Value!");</a:t>
            </a:r>
          </a:p>
          <a:p>
            <a:r>
              <a:rPr lang="ru-RU" b="1" i="1" dirty="0"/>
              <a:t>}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F21BA36-A482-F8B0-8101-A10B98F4963B}"/>
              </a:ext>
            </a:extLst>
          </p:cNvPr>
          <p:cNvSpPr/>
          <p:nvPr/>
        </p:nvSpPr>
        <p:spPr>
          <a:xfrm>
            <a:off x="382747" y="289463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i="1" dirty="0"/>
              <a:t>&lt;input type="text" name="age" size="3"</a:t>
            </a:r>
          </a:p>
          <a:p>
            <a:r>
              <a:rPr lang="ru-RU" b="1" i="1" dirty="0"/>
              <a:t>	onChange="validate(this, 18, 99)"&gt;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34BF0A-2B46-3370-8C0F-454949A78149}"/>
              </a:ext>
            </a:extLst>
          </p:cNvPr>
          <p:cNvSpPr/>
          <p:nvPr/>
        </p:nvSpPr>
        <p:spPr>
          <a:xfrm>
            <a:off x="5685863" y="2599038"/>
            <a:ext cx="6029471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rgbClr val="C00000"/>
                </a:solidFill>
              </a:rPr>
              <a:t>this ссылается на объект, вызвавший метод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1C9F49-4E2B-8445-E096-DF9562588213}"/>
              </a:ext>
            </a:extLst>
          </p:cNvPr>
          <p:cNvSpPr/>
          <p:nvPr/>
        </p:nvSpPr>
        <p:spPr>
          <a:xfrm>
            <a:off x="4110486" y="3766791"/>
            <a:ext cx="7931558" cy="15696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/>
              <a:t>&lt;</a:t>
            </a:r>
            <a:r>
              <a:rPr lang="ru-RU" sz="1600" b="1" dirty="0" err="1"/>
              <a:t>form</a:t>
            </a:r>
            <a:r>
              <a:rPr lang="ru-RU" sz="1600" b="1" dirty="0"/>
              <a:t> name="myForm"&gt;</a:t>
            </a:r>
          </a:p>
          <a:p>
            <a:r>
              <a:rPr lang="en-US" sz="1600" b="1" dirty="0"/>
              <a:t>        </a:t>
            </a:r>
            <a:r>
              <a:rPr lang="ru-RU" sz="1600" b="1" dirty="0"/>
              <a:t>&lt;p&gt;&lt;</a:t>
            </a:r>
            <a:r>
              <a:rPr lang="ru-RU" sz="1600" b="1" dirty="0" err="1"/>
              <a:t>label</a:t>
            </a:r>
            <a:r>
              <a:rPr lang="ru-RU" sz="1600" b="1" dirty="0"/>
              <a:t>&gt;</a:t>
            </a:r>
            <a:r>
              <a:rPr lang="ru-RU" sz="1600" b="1" dirty="0" err="1"/>
              <a:t>Form</a:t>
            </a:r>
            <a:r>
              <a:rPr lang="ru-RU" sz="1600" b="1" dirty="0"/>
              <a:t> name:&lt;input type="text" name="text1" value=«</a:t>
            </a:r>
            <a:r>
              <a:rPr lang="en-US" sz="1600" b="1" dirty="0"/>
              <a:t>Default</a:t>
            </a:r>
            <a:r>
              <a:rPr lang="ru-RU" sz="1600" b="1" dirty="0"/>
              <a:t>"&gt;&lt;/</a:t>
            </a:r>
            <a:r>
              <a:rPr lang="ru-RU" sz="1600" b="1" dirty="0" err="1"/>
              <a:t>label</a:t>
            </a:r>
            <a:r>
              <a:rPr lang="ru-RU" sz="1600" b="1" dirty="0"/>
              <a:t>&gt;</a:t>
            </a:r>
            <a:r>
              <a:rPr lang="en-US" sz="1600" b="1" dirty="0"/>
              <a:t>&lt;/p&gt;</a:t>
            </a:r>
            <a:endParaRPr lang="ru-RU" sz="1600" b="1" dirty="0"/>
          </a:p>
          <a:p>
            <a:r>
              <a:rPr lang="en-US" sz="1600" b="1" dirty="0"/>
              <a:t>        </a:t>
            </a:r>
            <a:r>
              <a:rPr lang="ru-RU" sz="1600" b="1" dirty="0"/>
              <a:t>&lt;p&gt;&lt;input name="button1" type="</a:t>
            </a:r>
            <a:r>
              <a:rPr lang="ru-RU" sz="1600" b="1" dirty="0" err="1"/>
              <a:t>button</a:t>
            </a:r>
            <a:r>
              <a:rPr lang="ru-RU" sz="1600" b="1" dirty="0"/>
              <a:t>" value="Show </a:t>
            </a:r>
            <a:r>
              <a:rPr lang="ru-RU" sz="1600" b="1" dirty="0" err="1"/>
              <a:t>Form</a:t>
            </a:r>
            <a:r>
              <a:rPr lang="ru-RU" sz="1600" b="1" dirty="0"/>
              <a:t> Name"</a:t>
            </a:r>
          </a:p>
          <a:p>
            <a:r>
              <a:rPr lang="ru-RU" sz="1600" b="1" dirty="0"/>
              <a:t>		onclick="this.form.text1.value = this.form.name"&gt;</a:t>
            </a:r>
          </a:p>
          <a:p>
            <a:r>
              <a:rPr lang="en-US" sz="1600" b="1" dirty="0"/>
              <a:t>        </a:t>
            </a:r>
            <a:r>
              <a:rPr lang="ru-RU" sz="1600" b="1" dirty="0"/>
              <a:t>&lt;/p&gt;</a:t>
            </a:r>
          </a:p>
          <a:p>
            <a:r>
              <a:rPr lang="ru-RU" sz="1600" b="1" dirty="0"/>
              <a:t>&lt;/</a:t>
            </a:r>
            <a:r>
              <a:rPr lang="ru-RU" sz="1600" b="1" dirty="0" err="1"/>
              <a:t>form</a:t>
            </a:r>
            <a:r>
              <a:rPr lang="ru-RU" sz="1600" b="1" dirty="0"/>
              <a:t>&gt;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EC4BC17-8101-4E16-D502-B682E69FEB47}"/>
              </a:ext>
            </a:extLst>
          </p:cNvPr>
          <p:cNvSpPr/>
          <p:nvPr/>
        </p:nvSpPr>
        <p:spPr>
          <a:xfrm>
            <a:off x="149956" y="3926294"/>
            <a:ext cx="4140553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rgbClr val="C00000"/>
                </a:solidFill>
              </a:rPr>
              <a:t>Через this можно обратиться и к родительской форме элемента</a:t>
            </a:r>
          </a:p>
        </p:txBody>
      </p:sp>
    </p:spTree>
    <p:extLst>
      <p:ext uri="{BB962C8B-B14F-4D97-AF65-F5344CB8AC3E}">
        <p14:creationId xmlns:p14="http://schemas.microsoft.com/office/powerpoint/2010/main" val="1277656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Геттеры и сеттеры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17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D3E4A3-57FB-A321-D729-613F0A3A01F9}"/>
              </a:ext>
            </a:extLst>
          </p:cNvPr>
          <p:cNvSpPr/>
          <p:nvPr/>
        </p:nvSpPr>
        <p:spPr>
          <a:xfrm>
            <a:off x="149956" y="912814"/>
            <a:ext cx="11892087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rgbClr val="C00000"/>
                </a:solidFill>
              </a:rPr>
              <a:t>Геттер (от англ. get - получить) </a:t>
            </a:r>
            <a:r>
              <a:rPr lang="ru-RU" b="1" dirty="0"/>
              <a:t>- это метод, который получает значение определенного свойства. </a:t>
            </a:r>
          </a:p>
          <a:p>
            <a:r>
              <a:rPr lang="ru-RU" b="1" dirty="0">
                <a:solidFill>
                  <a:srgbClr val="C00000"/>
                </a:solidFill>
              </a:rPr>
              <a:t>Сеттер (от англ. set — присвоить) </a:t>
            </a:r>
            <a:r>
              <a:rPr lang="ru-RU" b="1" dirty="0"/>
              <a:t>- это метод, который присваивает значение определенному свойству объекта.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9987CA3-79BB-246B-A6BD-74106BFC52E0}"/>
              </a:ext>
            </a:extLst>
          </p:cNvPr>
          <p:cNvSpPr/>
          <p:nvPr/>
        </p:nvSpPr>
        <p:spPr>
          <a:xfrm>
            <a:off x="5066675" y="3937888"/>
            <a:ext cx="6906117" cy="12003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/>
              <a:t>Геттеры и сеттеры могут быть либо: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определены при использовании инициализаторов объекта;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добавлены существующему объекту в любой момент, при использовании методов добавления геттеров и сеттеров.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1CC186-DD9C-C2CE-A7A7-0E73F0959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68" y="1656412"/>
            <a:ext cx="4600855" cy="421952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257CD8-029C-D1E8-893C-5B01FAC43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9539" y="2256625"/>
            <a:ext cx="6030167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34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Сериализация объектов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18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70A969-3388-340D-6B60-D7832C74AF57}"/>
              </a:ext>
            </a:extLst>
          </p:cNvPr>
          <p:cNvSpPr/>
          <p:nvPr/>
        </p:nvSpPr>
        <p:spPr>
          <a:xfrm>
            <a:off x="143178" y="881902"/>
            <a:ext cx="11829614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solidFill>
                  <a:srgbClr val="C00000"/>
                </a:solidFill>
              </a:rPr>
              <a:t>Сериализация объектов </a:t>
            </a:r>
            <a:r>
              <a:rPr lang="ru-RU" b="1" dirty="0"/>
              <a:t>- это процесс преобразования объектов в строковую форму представления, которая позднее может использоваться для их восстановления.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62ED564-6FB4-626D-3445-3F08488C62CE}"/>
              </a:ext>
            </a:extLst>
          </p:cNvPr>
          <p:cNvSpPr/>
          <p:nvPr/>
        </p:nvSpPr>
        <p:spPr>
          <a:xfrm>
            <a:off x="2782493" y="1743476"/>
            <a:ext cx="2229713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rgbClr val="C00000"/>
                </a:solidFill>
              </a:rPr>
              <a:t>JSON.stringify()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ACB8F1F-1611-F901-9E1D-2D6BC8654ADE}"/>
              </a:ext>
            </a:extLst>
          </p:cNvPr>
          <p:cNvSpPr/>
          <p:nvPr/>
        </p:nvSpPr>
        <p:spPr>
          <a:xfrm>
            <a:off x="6868161" y="1756177"/>
            <a:ext cx="1819152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>
                <a:solidFill>
                  <a:srgbClr val="C00000"/>
                </a:solidFill>
              </a:rPr>
              <a:t>JSON.parse()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EE9335D-A51E-D6C8-51EE-9B9581302EDA}"/>
              </a:ext>
            </a:extLst>
          </p:cNvPr>
          <p:cNvSpPr/>
          <p:nvPr/>
        </p:nvSpPr>
        <p:spPr>
          <a:xfrm>
            <a:off x="309277" y="2433085"/>
            <a:ext cx="10403347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JSON - «JavaScript Object Notation» (форма записи объектов JavaScript)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2778855-95FC-438C-72D2-0A834A88D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730" y="3084213"/>
            <a:ext cx="8878539" cy="9526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F1EF00-89AC-CE63-4A45-ECCEC8FD5DC7}"/>
              </a:ext>
            </a:extLst>
          </p:cNvPr>
          <p:cNvSpPr txBox="1"/>
          <p:nvPr/>
        </p:nvSpPr>
        <p:spPr>
          <a:xfrm>
            <a:off x="181755" y="4213937"/>
            <a:ext cx="3104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262626"/>
                </a:solidFill>
                <a:effectLst/>
                <a:latin typeface="-apple-system"/>
              </a:rPr>
              <a:t>Не </a:t>
            </a:r>
            <a:r>
              <a:rPr lang="ru-RU" b="1" i="0" dirty="0" err="1">
                <a:solidFill>
                  <a:srgbClr val="262626"/>
                </a:solidFill>
                <a:effectLst/>
                <a:latin typeface="-apple-system"/>
              </a:rPr>
              <a:t>сериализуются</a:t>
            </a:r>
            <a:r>
              <a:rPr lang="ru-RU" b="1" i="0" dirty="0">
                <a:solidFill>
                  <a:srgbClr val="262626"/>
                </a:solidFill>
                <a:effectLst/>
                <a:latin typeface="-apple-system"/>
              </a:rPr>
              <a:t> функции</a:t>
            </a:r>
            <a:r>
              <a:rPr lang="ru-RU" b="0" i="0" dirty="0">
                <a:solidFill>
                  <a:srgbClr val="262626"/>
                </a:solidFill>
                <a:effectLst/>
                <a:latin typeface="-apple-system"/>
              </a:rPr>
              <a:t>: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988BE7-B788-F8C1-4D94-4F3525915D88}"/>
              </a:ext>
            </a:extLst>
          </p:cNvPr>
          <p:cNvSpPr txBox="1"/>
          <p:nvPr/>
        </p:nvSpPr>
        <p:spPr>
          <a:xfrm>
            <a:off x="4167693" y="4318642"/>
            <a:ext cx="3327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Не </a:t>
            </a:r>
            <a:r>
              <a:rPr lang="ru-RU" b="1" dirty="0" err="1"/>
              <a:t>сериализуются</a:t>
            </a:r>
            <a:r>
              <a:rPr lang="ru-RU" b="1" dirty="0"/>
              <a:t> свойства со значением undefined: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4C198B-78F6-EE94-4D1E-EF483E4AE0AA}"/>
              </a:ext>
            </a:extLst>
          </p:cNvPr>
          <p:cNvSpPr txBox="1"/>
          <p:nvPr/>
        </p:nvSpPr>
        <p:spPr>
          <a:xfrm>
            <a:off x="7799753" y="4364808"/>
            <a:ext cx="4070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Объекты с циклическими ссылками не могут быть </a:t>
            </a:r>
            <a:r>
              <a:rPr lang="ru-RU" b="1" dirty="0" err="1"/>
              <a:t>сериализованы</a:t>
            </a:r>
            <a:r>
              <a:rPr lang="ru-RU" b="1" dirty="0"/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5576AF-5995-D5E5-DC9C-B7AE59D1C9B1}"/>
              </a:ext>
            </a:extLst>
          </p:cNvPr>
          <p:cNvSpPr txBox="1"/>
          <p:nvPr/>
        </p:nvSpPr>
        <p:spPr>
          <a:xfrm>
            <a:off x="181755" y="4648147"/>
            <a:ext cx="609724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D73A49"/>
                </a:solidFill>
                <a:effectLst/>
                <a:latin typeface="ui-monospace"/>
              </a:rPr>
              <a:t>const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 obj = {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ru-RU" sz="1400" b="1" dirty="0">
                <a:solidFill>
                  <a:srgbClr val="262626"/>
                </a:solidFill>
                <a:latin typeface="ui-monospace"/>
              </a:rPr>
              <a:t>	</a:t>
            </a:r>
            <a:r>
              <a:rPr lang="en-US" sz="1400" b="1" i="0" dirty="0">
                <a:solidFill>
                  <a:srgbClr val="005CC5"/>
                </a:solidFill>
                <a:effectLst/>
                <a:latin typeface="ui-monospace"/>
              </a:rPr>
              <a:t>name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: </a:t>
            </a:r>
            <a:r>
              <a:rPr lang="en-US" sz="1400" b="1" i="0" dirty="0">
                <a:solidFill>
                  <a:srgbClr val="1D6BC5"/>
                </a:solidFill>
                <a:effectLst/>
                <a:latin typeface="ui-monospace"/>
              </a:rPr>
              <a:t>'Alice’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,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ru-RU" sz="1400" b="1" dirty="0">
                <a:solidFill>
                  <a:srgbClr val="262626"/>
                </a:solidFill>
                <a:latin typeface="ui-monospace"/>
              </a:rPr>
              <a:t>	</a:t>
            </a:r>
            <a:r>
              <a:rPr lang="en-US" sz="1400" b="1" i="0" dirty="0">
                <a:solidFill>
                  <a:srgbClr val="005CC5"/>
                </a:solidFill>
                <a:effectLst/>
                <a:latin typeface="ui-monospace"/>
              </a:rPr>
              <a:t>greet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: </a:t>
            </a:r>
            <a:r>
              <a:rPr lang="en-US" sz="1400" b="1" i="0" dirty="0">
                <a:solidFill>
                  <a:srgbClr val="D73A49"/>
                </a:solidFill>
                <a:effectLst/>
                <a:latin typeface="ui-monospace"/>
              </a:rPr>
              <a:t>function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() { </a:t>
            </a:r>
            <a:r>
              <a:rPr lang="en-US" sz="1400" b="1" i="0" dirty="0">
                <a:solidFill>
                  <a:srgbClr val="D73A49"/>
                </a:solidFill>
                <a:effectLst/>
                <a:latin typeface="ui-monospace"/>
              </a:rPr>
              <a:t>console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400" b="1" i="0" dirty="0">
                <a:solidFill>
                  <a:srgbClr val="6841EA"/>
                </a:solidFill>
                <a:effectLst/>
                <a:latin typeface="ui-monospace"/>
              </a:rPr>
              <a:t>log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400" b="1" i="0" dirty="0">
                <a:solidFill>
                  <a:srgbClr val="1D6BC5"/>
                </a:solidFill>
                <a:effectLst/>
                <a:latin typeface="ui-monospace"/>
              </a:rPr>
              <a:t>'Hello!'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); }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};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400" b="1" i="0" dirty="0">
                <a:solidFill>
                  <a:srgbClr val="D73A49"/>
                </a:solidFill>
                <a:effectLst/>
                <a:latin typeface="ui-monospace"/>
              </a:rPr>
              <a:t>const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sz="1400" b="1" i="0" dirty="0" err="1">
                <a:solidFill>
                  <a:srgbClr val="262626"/>
                </a:solidFill>
                <a:effectLst/>
                <a:latin typeface="ui-monospace"/>
              </a:rPr>
              <a:t>jsonString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 = </a:t>
            </a:r>
            <a:r>
              <a:rPr lang="en-US" sz="1400" b="1" i="0" dirty="0" err="1">
                <a:solidFill>
                  <a:srgbClr val="6841EA"/>
                </a:solidFill>
                <a:effectLst/>
                <a:latin typeface="ui-monospace"/>
              </a:rPr>
              <a:t>JSON</a:t>
            </a:r>
            <a:r>
              <a:rPr lang="en-US" sz="1400" b="1" i="0" dirty="0" err="1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400" b="1" i="0" dirty="0" err="1">
                <a:solidFill>
                  <a:srgbClr val="6841EA"/>
                </a:solidFill>
                <a:effectLst/>
                <a:latin typeface="ui-monospace"/>
              </a:rPr>
              <a:t>stringify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(obj);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400" b="1" i="0" dirty="0">
                <a:solidFill>
                  <a:srgbClr val="D73A49"/>
                </a:solidFill>
                <a:effectLst/>
                <a:latin typeface="ui-monospace"/>
              </a:rPr>
              <a:t>console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400" b="1" i="0" dirty="0">
                <a:solidFill>
                  <a:srgbClr val="6841EA"/>
                </a:solidFill>
                <a:effectLst/>
                <a:latin typeface="ui-monospace"/>
              </a:rPr>
              <a:t>log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400" b="1" i="0" dirty="0" err="1">
                <a:solidFill>
                  <a:srgbClr val="262626"/>
                </a:solidFill>
                <a:effectLst/>
                <a:latin typeface="ui-monospace"/>
              </a:rPr>
              <a:t>jsonString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);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ru-RU" sz="1400" b="1" i="0" dirty="0">
                <a:solidFill>
                  <a:srgbClr val="8C8C8C"/>
                </a:solidFill>
                <a:effectLst/>
                <a:latin typeface="ui-monospace"/>
              </a:rPr>
              <a:t>// Вывод: {"</a:t>
            </a:r>
            <a:r>
              <a:rPr lang="ru-RU" sz="1400" b="1" i="0" dirty="0" err="1">
                <a:solidFill>
                  <a:srgbClr val="8C8C8C"/>
                </a:solidFill>
                <a:effectLst/>
                <a:latin typeface="ui-monospace"/>
              </a:rPr>
              <a:t>name</a:t>
            </a:r>
            <a:r>
              <a:rPr lang="ru-RU" sz="1400" b="1" i="0" dirty="0">
                <a:solidFill>
                  <a:srgbClr val="8C8C8C"/>
                </a:solidFill>
                <a:effectLst/>
                <a:latin typeface="ui-monospace"/>
              </a:rPr>
              <a:t>":"</a:t>
            </a:r>
            <a:r>
              <a:rPr lang="ru-RU" sz="1400" b="1" i="0" dirty="0" err="1">
                <a:solidFill>
                  <a:srgbClr val="8C8C8C"/>
                </a:solidFill>
                <a:effectLst/>
                <a:latin typeface="ui-monospace"/>
              </a:rPr>
              <a:t>Alice</a:t>
            </a:r>
            <a:r>
              <a:rPr lang="ru-RU" sz="1400" b="1" i="0" dirty="0">
                <a:solidFill>
                  <a:srgbClr val="8C8C8C"/>
                </a:solidFill>
                <a:effectLst/>
                <a:latin typeface="ui-monospace"/>
              </a:rPr>
              <a:t>"} (функция '</a:t>
            </a:r>
            <a:r>
              <a:rPr lang="ru-RU" sz="1400" b="1" i="0" dirty="0" err="1">
                <a:solidFill>
                  <a:srgbClr val="8C8C8C"/>
                </a:solidFill>
                <a:effectLst/>
                <a:latin typeface="ui-monospace"/>
              </a:rPr>
              <a:t>greet</a:t>
            </a:r>
            <a:r>
              <a:rPr lang="ru-RU" sz="1400" b="1" i="0" dirty="0">
                <a:solidFill>
                  <a:srgbClr val="8C8C8C"/>
                </a:solidFill>
                <a:effectLst/>
                <a:latin typeface="ui-monospace"/>
              </a:rPr>
              <a:t>' не включена)</a:t>
            </a:r>
            <a:endParaRPr lang="ru-RU" sz="1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3CB370-A9C6-D687-B68D-6493D0730899}"/>
              </a:ext>
            </a:extLst>
          </p:cNvPr>
          <p:cNvSpPr txBox="1"/>
          <p:nvPr/>
        </p:nvSpPr>
        <p:spPr>
          <a:xfrm>
            <a:off x="4882913" y="5011139"/>
            <a:ext cx="455339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D73A49"/>
                </a:solidFill>
                <a:effectLst/>
                <a:latin typeface="ui-monospace"/>
              </a:rPr>
              <a:t>const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 obj = {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ru-RU" sz="1400" b="1" i="0" dirty="0">
                <a:solidFill>
                  <a:srgbClr val="005CC5"/>
                </a:solidFill>
                <a:effectLst/>
                <a:latin typeface="ui-monospace"/>
              </a:rPr>
              <a:t>	</a:t>
            </a:r>
            <a:r>
              <a:rPr lang="en-US" sz="1400" b="1" i="0" dirty="0">
                <a:solidFill>
                  <a:srgbClr val="005CC5"/>
                </a:solidFill>
                <a:effectLst/>
                <a:latin typeface="ui-monospace"/>
              </a:rPr>
              <a:t>name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: </a:t>
            </a:r>
            <a:r>
              <a:rPr lang="en-US" sz="1400" b="1" i="0" dirty="0">
                <a:solidFill>
                  <a:srgbClr val="1D6BC5"/>
                </a:solidFill>
                <a:effectLst/>
                <a:latin typeface="ui-monospace"/>
              </a:rPr>
              <a:t>'Alice’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,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ru-RU" sz="1400" b="1" i="0" dirty="0">
                <a:solidFill>
                  <a:srgbClr val="005CC5"/>
                </a:solidFill>
                <a:effectLst/>
                <a:latin typeface="ui-monospace"/>
              </a:rPr>
              <a:t>	</a:t>
            </a:r>
            <a:r>
              <a:rPr lang="en-US" sz="1400" b="1" i="0" dirty="0">
                <a:solidFill>
                  <a:srgbClr val="005CC5"/>
                </a:solidFill>
                <a:effectLst/>
                <a:latin typeface="ui-monospace"/>
              </a:rPr>
              <a:t>age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: </a:t>
            </a:r>
            <a:r>
              <a:rPr lang="en-US" sz="1400" b="1" i="0" dirty="0">
                <a:solidFill>
                  <a:srgbClr val="005CC5"/>
                </a:solidFill>
                <a:effectLst/>
                <a:latin typeface="ui-monospace"/>
              </a:rPr>
              <a:t>undefined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};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400" b="1" i="0" dirty="0">
                <a:solidFill>
                  <a:srgbClr val="D73A49"/>
                </a:solidFill>
                <a:effectLst/>
                <a:latin typeface="ui-monospace"/>
              </a:rPr>
              <a:t>const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sz="1400" b="1" i="0" dirty="0" err="1">
                <a:solidFill>
                  <a:srgbClr val="262626"/>
                </a:solidFill>
                <a:effectLst/>
                <a:latin typeface="ui-monospace"/>
              </a:rPr>
              <a:t>jsonString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 = </a:t>
            </a:r>
            <a:r>
              <a:rPr lang="en-US" sz="1400" b="1" i="0" dirty="0" err="1">
                <a:solidFill>
                  <a:srgbClr val="6841EA"/>
                </a:solidFill>
                <a:effectLst/>
                <a:latin typeface="ui-monospace"/>
              </a:rPr>
              <a:t>JSON</a:t>
            </a:r>
            <a:r>
              <a:rPr lang="en-US" sz="1400" b="1" i="0" dirty="0" err="1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400" b="1" i="0" dirty="0" err="1">
                <a:solidFill>
                  <a:srgbClr val="6841EA"/>
                </a:solidFill>
                <a:effectLst/>
                <a:latin typeface="ui-monospace"/>
              </a:rPr>
              <a:t>stringify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(obj);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400" b="1" i="0" dirty="0">
                <a:solidFill>
                  <a:srgbClr val="D73A49"/>
                </a:solidFill>
                <a:effectLst/>
                <a:latin typeface="ui-monospace"/>
              </a:rPr>
              <a:t>console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400" b="1" i="0" dirty="0">
                <a:solidFill>
                  <a:srgbClr val="6841EA"/>
                </a:solidFill>
                <a:effectLst/>
                <a:latin typeface="ui-monospace"/>
              </a:rPr>
              <a:t>log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400" b="1" i="0" dirty="0" err="1">
                <a:solidFill>
                  <a:srgbClr val="262626"/>
                </a:solidFill>
                <a:effectLst/>
                <a:latin typeface="ui-monospace"/>
              </a:rPr>
              <a:t>jsonString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);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400" b="1" i="0" dirty="0">
                <a:solidFill>
                  <a:srgbClr val="8C8C8C"/>
                </a:solidFill>
                <a:effectLst/>
                <a:latin typeface="ui-monospace"/>
              </a:rPr>
              <a:t>// </a:t>
            </a:r>
            <a:r>
              <a:rPr lang="ru-RU" sz="1400" b="1" i="0" dirty="0">
                <a:solidFill>
                  <a:srgbClr val="8C8C8C"/>
                </a:solidFill>
                <a:effectLst/>
                <a:latin typeface="ui-monospace"/>
              </a:rPr>
              <a:t>Вывод: {"</a:t>
            </a:r>
            <a:r>
              <a:rPr lang="en-US" sz="1400" b="1" i="0" dirty="0" err="1">
                <a:solidFill>
                  <a:srgbClr val="8C8C8C"/>
                </a:solidFill>
                <a:effectLst/>
                <a:latin typeface="ui-monospace"/>
              </a:rPr>
              <a:t>name":"Alice</a:t>
            </a:r>
            <a:r>
              <a:rPr lang="en-US" sz="1400" b="1" i="0" dirty="0">
                <a:solidFill>
                  <a:srgbClr val="8C8C8C"/>
                </a:solidFill>
                <a:effectLst/>
                <a:latin typeface="ui-monospace"/>
              </a:rPr>
              <a:t>"} (</a:t>
            </a:r>
            <a:r>
              <a:rPr lang="ru-RU" sz="1400" b="1" i="0" dirty="0">
                <a:solidFill>
                  <a:srgbClr val="8C8C8C"/>
                </a:solidFill>
                <a:effectLst/>
                <a:latin typeface="ui-monospace"/>
              </a:rPr>
              <a:t>свойство '</a:t>
            </a:r>
            <a:r>
              <a:rPr lang="en-US" sz="1400" b="1" i="0" dirty="0">
                <a:solidFill>
                  <a:srgbClr val="8C8C8C"/>
                </a:solidFill>
                <a:effectLst/>
                <a:latin typeface="ui-monospace"/>
              </a:rPr>
              <a:t>age' </a:t>
            </a:r>
            <a:r>
              <a:rPr lang="ru-RU" sz="1400" b="1" i="0" dirty="0">
                <a:solidFill>
                  <a:srgbClr val="8C8C8C"/>
                </a:solidFill>
                <a:effectLst/>
                <a:latin typeface="ui-monospace"/>
              </a:rPr>
              <a:t>не включено)</a:t>
            </a:r>
            <a:endParaRPr lang="ru-RU" sz="1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6659B4-6F52-F55A-145F-54E0FB759C60}"/>
              </a:ext>
            </a:extLst>
          </p:cNvPr>
          <p:cNvSpPr txBox="1"/>
          <p:nvPr/>
        </p:nvSpPr>
        <p:spPr>
          <a:xfrm>
            <a:off x="8952815" y="5125200"/>
            <a:ext cx="2027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D73A49"/>
                </a:solidFill>
                <a:effectLst/>
                <a:latin typeface="ui-monospace"/>
              </a:rPr>
              <a:t>const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 obj = {}; </a:t>
            </a:r>
            <a:endParaRPr lang="ru-RU" sz="14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400" b="1" i="0" dirty="0" err="1">
                <a:solidFill>
                  <a:srgbClr val="262626"/>
                </a:solidFill>
                <a:effectLst/>
                <a:latin typeface="ui-monospace"/>
              </a:rPr>
              <a:t>obj.self</a:t>
            </a:r>
            <a:r>
              <a:rPr lang="en-US" sz="1400" b="1" i="0" dirty="0">
                <a:solidFill>
                  <a:srgbClr val="262626"/>
                </a:solidFill>
                <a:effectLst/>
                <a:latin typeface="ui-monospace"/>
              </a:rPr>
              <a:t> = obj;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4256747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определения объектов в 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19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1F87764-7B85-7BFA-E020-10B5114CDDD8}"/>
              </a:ext>
            </a:extLst>
          </p:cNvPr>
          <p:cNvSpPr/>
          <p:nvPr/>
        </p:nvSpPr>
        <p:spPr>
          <a:xfrm>
            <a:off x="4534906" y="779161"/>
            <a:ext cx="71686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Объект - это коллекция свойств. Каждое свойство представляет собой пару </a:t>
            </a:r>
            <a:r>
              <a:rPr lang="ru-RU" b="1" dirty="0">
                <a:solidFill>
                  <a:srgbClr val="C00000"/>
                </a:solidFill>
              </a:rPr>
              <a:t>имя-значение</a:t>
            </a:r>
            <a:r>
              <a:rPr lang="ru-RU" b="1" dirty="0"/>
              <a:t>. Имя свойства - это строка, а значение свойства - строка, число, булево значение, или объект (включая массив и функцию).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DA1924E-E72C-52B5-4B4D-91ADD8AEF7C2}"/>
              </a:ext>
            </a:extLst>
          </p:cNvPr>
          <p:cNvSpPr/>
          <p:nvPr/>
        </p:nvSpPr>
        <p:spPr>
          <a:xfrm>
            <a:off x="3737893" y="963828"/>
            <a:ext cx="79701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&gt;&gt;</a:t>
            </a:r>
            <a:endParaRPr lang="ru-RU" sz="48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C34978C-B8E7-7231-F773-4B051A87FC07}"/>
              </a:ext>
            </a:extLst>
          </p:cNvPr>
          <p:cNvSpPr/>
          <p:nvPr/>
        </p:nvSpPr>
        <p:spPr>
          <a:xfrm>
            <a:off x="214038" y="2575993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b="1" dirty="0"/>
              <a:t>&lt;!DOCTYPE HTML&gt;</a:t>
            </a:r>
          </a:p>
          <a:p>
            <a:r>
              <a:rPr lang="ru-RU" sz="1600" b="1" dirty="0"/>
              <a:t>&lt;html&gt;</a:t>
            </a:r>
          </a:p>
          <a:p>
            <a:r>
              <a:rPr lang="ru-RU" sz="1600" b="1" dirty="0"/>
              <a:t>&lt;</a:t>
            </a:r>
            <a:r>
              <a:rPr lang="ru-RU" sz="1600" b="1" dirty="0" err="1"/>
              <a:t>head</a:t>
            </a:r>
            <a:r>
              <a:rPr lang="ru-RU" sz="1600" b="1" dirty="0"/>
              <a:t>&gt;</a:t>
            </a:r>
          </a:p>
          <a:p>
            <a:r>
              <a:rPr lang="ru-RU" sz="1600" b="1" dirty="0"/>
              <a:t>&lt;script&gt;</a:t>
            </a:r>
          </a:p>
          <a:p>
            <a:r>
              <a:rPr lang="ru-RU" sz="1600" b="1" dirty="0"/>
              <a:t>      </a:t>
            </a:r>
            <a:r>
              <a:rPr lang="ru-RU" sz="1600" b="1" dirty="0" err="1"/>
              <a:t>var</a:t>
            </a:r>
            <a:r>
              <a:rPr lang="ru-RU" sz="1600" b="1" dirty="0"/>
              <a:t> s = '</a:t>
            </a:r>
            <a:r>
              <a:rPr lang="ru-RU" sz="1600" b="1" dirty="0" err="1"/>
              <a:t>hello</a:t>
            </a:r>
            <a:r>
              <a:rPr lang="ru-RU" sz="1600" b="1" dirty="0"/>
              <a:t> world';</a:t>
            </a:r>
          </a:p>
          <a:p>
            <a:r>
              <a:rPr lang="en-US" sz="1600" b="1" dirty="0"/>
              <a:t>      console.log</a:t>
            </a:r>
            <a:r>
              <a:rPr lang="ru-RU" sz="1600" b="1" dirty="0"/>
              <a:t>(typeof s); // выводит string</a:t>
            </a:r>
          </a:p>
          <a:p>
            <a:r>
              <a:rPr lang="ru-RU" sz="1600" b="1" dirty="0"/>
              <a:t>&lt;/</a:t>
            </a:r>
            <a:r>
              <a:rPr lang="ru-RU" sz="1600" b="1" dirty="0" err="1"/>
              <a:t>script</a:t>
            </a:r>
            <a:r>
              <a:rPr lang="ru-RU" sz="1600" b="1" dirty="0"/>
              <a:t>&gt;</a:t>
            </a:r>
            <a:r>
              <a:rPr lang="en-US" sz="1600" b="1" dirty="0"/>
              <a:t> </a:t>
            </a:r>
            <a:endParaRPr lang="ru-RU" sz="1600" b="1" dirty="0"/>
          </a:p>
          <a:p>
            <a:r>
              <a:rPr lang="ru-RU" sz="1600" b="1" dirty="0"/>
              <a:t>&lt;/head&gt;</a:t>
            </a:r>
          </a:p>
          <a:p>
            <a:r>
              <a:rPr lang="ru-RU" sz="1600" b="1" dirty="0"/>
              <a:t>&lt;body /&gt;</a:t>
            </a:r>
          </a:p>
          <a:p>
            <a:r>
              <a:rPr lang="ru-RU" sz="1600" b="1" dirty="0"/>
              <a:t>&lt;html&gt;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F2D79EB-CA82-2158-3DE9-FAEC224D44A4}"/>
              </a:ext>
            </a:extLst>
          </p:cNvPr>
          <p:cNvSpPr/>
          <p:nvPr/>
        </p:nvSpPr>
        <p:spPr>
          <a:xfrm>
            <a:off x="7324671" y="4705931"/>
            <a:ext cx="47830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console.log</a:t>
            </a:r>
            <a:r>
              <a:rPr lang="ru-RU" b="1" dirty="0"/>
              <a:t>(s == window.s); // выводит true</a:t>
            </a:r>
          </a:p>
          <a:p>
            <a:r>
              <a:rPr lang="en-US" b="1" dirty="0"/>
              <a:t>console.log</a:t>
            </a:r>
            <a:r>
              <a:rPr lang="ru-RU" b="1" dirty="0"/>
              <a:t>(typeof window); // выводит object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B99FEB-C040-B1F3-B233-6200A4C630EA}"/>
              </a:ext>
            </a:extLst>
          </p:cNvPr>
          <p:cNvSpPr/>
          <p:nvPr/>
        </p:nvSpPr>
        <p:spPr>
          <a:xfrm>
            <a:off x="6410567" y="2507326"/>
            <a:ext cx="5470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свойство глобального объекта </a:t>
            </a:r>
            <a:r>
              <a:rPr lang="en-US" sz="2400" b="1" dirty="0">
                <a:solidFill>
                  <a:srgbClr val="C00000"/>
                </a:solidFill>
              </a:rPr>
              <a:t>window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7EF937C-CFDE-DFD1-7249-FE18FB09ABD1}"/>
              </a:ext>
            </a:extLst>
          </p:cNvPr>
          <p:cNvSpPr/>
          <p:nvPr/>
        </p:nvSpPr>
        <p:spPr>
          <a:xfrm>
            <a:off x="5132277" y="3123988"/>
            <a:ext cx="5722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C00000"/>
                </a:solidFill>
              </a:rPr>
              <a:t>window.s</a:t>
            </a:r>
            <a:r>
              <a:rPr lang="en-US" sz="2400" b="1" dirty="0">
                <a:solidFill>
                  <a:srgbClr val="C00000"/>
                </a:solidFill>
              </a:rPr>
              <a:t> – </a:t>
            </a:r>
            <a:r>
              <a:rPr lang="ru-RU" sz="2400" b="1" dirty="0">
                <a:solidFill>
                  <a:srgbClr val="C00000"/>
                </a:solidFill>
              </a:rPr>
              <a:t>объект</a:t>
            </a:r>
            <a:r>
              <a:rPr lang="en-US" sz="2400" b="1" dirty="0">
                <a:solidFill>
                  <a:srgbClr val="C00000"/>
                </a:solidFill>
              </a:rPr>
              <a:t> c </a:t>
            </a:r>
            <a:r>
              <a:rPr lang="ru-RU" sz="2400" b="1" dirty="0">
                <a:solidFill>
                  <a:srgbClr val="C00000"/>
                </a:solidFill>
              </a:rPr>
              <a:t>коллекцией свойств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2883DC2-8624-17E1-3288-E87F7E505584}"/>
              </a:ext>
            </a:extLst>
          </p:cNvPr>
          <p:cNvSpPr/>
          <p:nvPr/>
        </p:nvSpPr>
        <p:spPr>
          <a:xfrm>
            <a:off x="5712824" y="2508791"/>
            <a:ext cx="6190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&amp;</a:t>
            </a:r>
            <a:endParaRPr lang="ru-RU" sz="4800" dirty="0"/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2DF17189-E6FD-14B5-AE13-4FC37F4D4E6A}"/>
              </a:ext>
            </a:extLst>
          </p:cNvPr>
          <p:cNvCxnSpPr/>
          <p:nvPr/>
        </p:nvCxnSpPr>
        <p:spPr>
          <a:xfrm>
            <a:off x="11477630" y="2924290"/>
            <a:ext cx="0" cy="178164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F10A35A-5957-8FA1-B8A2-8F50B9514E83}"/>
              </a:ext>
            </a:extLst>
          </p:cNvPr>
          <p:cNvSpPr/>
          <p:nvPr/>
        </p:nvSpPr>
        <p:spPr>
          <a:xfrm>
            <a:off x="4918166" y="4149001"/>
            <a:ext cx="6402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console.log</a:t>
            </a:r>
            <a:r>
              <a:rPr lang="ru-RU" b="1" dirty="0"/>
              <a:t>(s.length); // выводит 11 (число символов в строке)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4B70C21-5984-20E6-CC45-97EB80E9AE59}"/>
              </a:ext>
            </a:extLst>
          </p:cNvPr>
          <p:cNvCxnSpPr/>
          <p:nvPr/>
        </p:nvCxnSpPr>
        <p:spPr>
          <a:xfrm flipH="1">
            <a:off x="9034898" y="3612638"/>
            <a:ext cx="1" cy="5363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00FB50D-1D61-7F98-C7DE-326B2C226797}"/>
              </a:ext>
            </a:extLst>
          </p:cNvPr>
          <p:cNvSpPr/>
          <p:nvPr/>
        </p:nvSpPr>
        <p:spPr>
          <a:xfrm>
            <a:off x="949768" y="2036602"/>
            <a:ext cx="9743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Создание переменной – неявное задание свойства объекта !</a:t>
            </a:r>
            <a:endParaRPr lang="ru-RU" sz="2800" dirty="0">
              <a:solidFill>
                <a:srgbClr val="C00000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02550DE-0842-1D9B-442E-F4CF0AD35AD9}"/>
              </a:ext>
            </a:extLst>
          </p:cNvPr>
          <p:cNvSpPr/>
          <p:nvPr/>
        </p:nvSpPr>
        <p:spPr>
          <a:xfrm>
            <a:off x="2021040" y="4603978"/>
            <a:ext cx="53254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Свойство объекта - объект !</a:t>
            </a:r>
            <a:endParaRPr lang="ru-RU" sz="3200" dirty="0">
              <a:solidFill>
                <a:srgbClr val="C00000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6C5DDDA-FDA3-D706-5F3F-33DA0F202006}"/>
              </a:ext>
            </a:extLst>
          </p:cNvPr>
          <p:cNvSpPr/>
          <p:nvPr/>
        </p:nvSpPr>
        <p:spPr>
          <a:xfrm>
            <a:off x="553658" y="718809"/>
            <a:ext cx="400245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Массив</a:t>
            </a:r>
            <a:r>
              <a:rPr lang="ru-RU" sz="2000" b="1" dirty="0"/>
              <a:t> </a:t>
            </a:r>
            <a:r>
              <a:rPr lang="en-US" sz="2000" b="1" dirty="0"/>
              <a:t>-</a:t>
            </a:r>
            <a:r>
              <a:rPr lang="ru-RU" sz="2000" b="1" dirty="0"/>
              <a:t> это объект. </a:t>
            </a:r>
            <a:endParaRPr lang="en-US" sz="2000" b="1" dirty="0"/>
          </a:p>
          <a:p>
            <a:r>
              <a:rPr lang="ru-RU" sz="2800" b="1" dirty="0">
                <a:solidFill>
                  <a:srgbClr val="C00000"/>
                </a:solidFill>
              </a:rPr>
              <a:t>Функция</a:t>
            </a:r>
            <a:r>
              <a:rPr lang="ru-RU" sz="2000" b="1" dirty="0"/>
              <a:t> </a:t>
            </a:r>
            <a:r>
              <a:rPr lang="en-US" sz="2000" b="1" dirty="0"/>
              <a:t>-</a:t>
            </a:r>
            <a:r>
              <a:rPr lang="ru-RU" sz="2000" b="1" dirty="0"/>
              <a:t> это объект. </a:t>
            </a:r>
            <a:endParaRPr lang="en-US" sz="2000" b="1" dirty="0"/>
          </a:p>
          <a:p>
            <a:r>
              <a:rPr lang="ru-RU" sz="2800" b="1" dirty="0">
                <a:solidFill>
                  <a:srgbClr val="C00000"/>
                </a:solidFill>
              </a:rPr>
              <a:t>Объект</a:t>
            </a:r>
            <a:r>
              <a:rPr lang="ru-RU" sz="2000" b="1" dirty="0"/>
              <a:t> - тоже объект.</a:t>
            </a:r>
          </a:p>
        </p:txBody>
      </p:sp>
    </p:spTree>
    <p:extLst>
      <p:ext uri="{BB962C8B-B14F-4D97-AF65-F5344CB8AC3E}">
        <p14:creationId xmlns:p14="http://schemas.microsoft.com/office/powerpoint/2010/main" val="3249699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определения объектов в 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20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CBE21CA-B4AF-2877-75F9-31B56DF11B7B}"/>
              </a:ext>
            </a:extLst>
          </p:cNvPr>
          <p:cNvSpPr/>
          <p:nvPr/>
        </p:nvSpPr>
        <p:spPr>
          <a:xfrm>
            <a:off x="215688" y="868244"/>
            <a:ext cx="95335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Если значение свойства - функция, мы можем назвать это свойство </a:t>
            </a:r>
            <a:r>
              <a:rPr lang="ru-RU" sz="2400" b="1" dirty="0">
                <a:solidFill>
                  <a:srgbClr val="C00000"/>
                </a:solidFill>
              </a:rPr>
              <a:t>методом объекта</a:t>
            </a:r>
            <a:r>
              <a:rPr lang="ru-RU" b="1" dirty="0"/>
              <a:t>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E10359-4C9B-697B-2377-3E61BC5AF8D9}"/>
              </a:ext>
            </a:extLst>
          </p:cNvPr>
          <p:cNvSpPr/>
          <p:nvPr/>
        </p:nvSpPr>
        <p:spPr>
          <a:xfrm>
            <a:off x="207996" y="1371600"/>
            <a:ext cx="119840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С помощью ключевого слова </a:t>
            </a:r>
            <a:r>
              <a:rPr lang="ru-RU" sz="2400" b="1" dirty="0">
                <a:solidFill>
                  <a:srgbClr val="C00000"/>
                </a:solidFill>
              </a:rPr>
              <a:t>this</a:t>
            </a:r>
            <a:r>
              <a:rPr lang="ru-RU" b="1" dirty="0"/>
              <a:t> метод объекта получает доступ ко всем остальным свойствам и методам объекта.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77D571-A5AB-4577-0608-128483AC2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89" y="2020472"/>
            <a:ext cx="5814314" cy="296686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F1930D8-60EE-ED32-86FE-799A0FCD0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283" y="3363441"/>
            <a:ext cx="6422509" cy="311075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941447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определения объектов в 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21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9EFEB42-544C-8A85-DEAD-B0CC9A0C5DC6}"/>
              </a:ext>
            </a:extLst>
          </p:cNvPr>
          <p:cNvSpPr/>
          <p:nvPr/>
        </p:nvSpPr>
        <p:spPr>
          <a:xfrm>
            <a:off x="2752592" y="718809"/>
            <a:ext cx="70605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Функция-конструктор  - аналог класса.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38CE80-EBF7-6027-104C-B50BCF7B0527}"/>
              </a:ext>
            </a:extLst>
          </p:cNvPr>
          <p:cNvSpPr/>
          <p:nvPr/>
        </p:nvSpPr>
        <p:spPr>
          <a:xfrm>
            <a:off x="358782" y="1303584"/>
            <a:ext cx="9592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Шаблон </a:t>
            </a:r>
            <a:r>
              <a:rPr lang="en-US" sz="2400" b="1" dirty="0"/>
              <a:t>&gt;&gt; </a:t>
            </a:r>
            <a:r>
              <a:rPr lang="ru-RU" sz="2400" b="1" dirty="0"/>
              <a:t>перечисление свойств и методов </a:t>
            </a:r>
            <a:r>
              <a:rPr lang="en-US" sz="2400" b="1" dirty="0"/>
              <a:t>&gt;&gt; </a:t>
            </a:r>
            <a:r>
              <a:rPr lang="ru-RU" sz="2400" b="1" dirty="0"/>
              <a:t>для встроенных типов</a:t>
            </a:r>
            <a:endParaRPr lang="ru-RU" sz="2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24A3984-6638-C9D8-EA7D-2056998DA619}"/>
              </a:ext>
            </a:extLst>
          </p:cNvPr>
          <p:cNvSpPr/>
          <p:nvPr/>
        </p:nvSpPr>
        <p:spPr>
          <a:xfrm>
            <a:off x="358782" y="1937171"/>
            <a:ext cx="36685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var str='karamazov';</a:t>
            </a:r>
          </a:p>
          <a:p>
            <a:r>
              <a:rPr lang="ru-RU" b="1" dirty="0"/>
              <a:t>var str = new String('</a:t>
            </a:r>
            <a:r>
              <a:rPr lang="ru-RU" b="1" dirty="0" err="1"/>
              <a:t>karamazov</a:t>
            </a:r>
            <a:r>
              <a:rPr lang="ru-RU" b="1" dirty="0"/>
              <a:t>');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6E9E7AF-E5E1-6274-6F0E-3618B6975F0C}"/>
              </a:ext>
            </a:extLst>
          </p:cNvPr>
          <p:cNvSpPr/>
          <p:nvPr/>
        </p:nvSpPr>
        <p:spPr>
          <a:xfrm>
            <a:off x="4891447" y="1934187"/>
            <a:ext cx="70813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// число</a:t>
            </a:r>
          </a:p>
          <a:p>
            <a:r>
              <a:rPr lang="ru-RU" b="1" dirty="0"/>
              <a:t>var num = 12345.6789; // var num = new Number(12345.6789);</a:t>
            </a:r>
          </a:p>
          <a:p>
            <a:r>
              <a:rPr lang="ru-RU" b="1" dirty="0"/>
              <a:t>// булево значение</a:t>
            </a:r>
          </a:p>
          <a:p>
            <a:r>
              <a:rPr lang="ru-RU" b="1" dirty="0"/>
              <a:t>var bul = true; // var c = new Boolean(true);</a:t>
            </a:r>
          </a:p>
          <a:p>
            <a:r>
              <a:rPr lang="ru-RU" b="1" dirty="0"/>
              <a:t>// функция</a:t>
            </a:r>
          </a:p>
          <a:p>
            <a:r>
              <a:rPr lang="ru-RU" b="1" dirty="0"/>
              <a:t>var fun = function(x){var p = x}; // var fun = new Function('x', 'var p = x');</a:t>
            </a:r>
          </a:p>
          <a:p>
            <a:r>
              <a:rPr lang="ru-RU" b="1" dirty="0"/>
              <a:t>// массив</a:t>
            </a:r>
          </a:p>
          <a:p>
            <a:r>
              <a:rPr lang="ru-RU" b="1" dirty="0"/>
              <a:t>var arr = ['a', 'b', 'c']; // var arr = new Array('a', 'b', 'c');</a:t>
            </a:r>
          </a:p>
          <a:p>
            <a:r>
              <a:rPr lang="ru-RU" b="1" dirty="0"/>
              <a:t>// объект</a:t>
            </a:r>
          </a:p>
          <a:p>
            <a:r>
              <a:rPr lang="ru-RU" b="1" dirty="0"/>
              <a:t>var obj = {}; // var obj = new Object();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A369433-5040-740D-D319-E9C5778115EC}"/>
              </a:ext>
            </a:extLst>
          </p:cNvPr>
          <p:cNvSpPr/>
          <p:nvPr/>
        </p:nvSpPr>
        <p:spPr>
          <a:xfrm>
            <a:off x="834518" y="3602427"/>
            <a:ext cx="43205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console.log(num.toFixed(1)); </a:t>
            </a:r>
          </a:p>
          <a:p>
            <a:r>
              <a:rPr lang="ru-RU" b="1" dirty="0"/>
              <a:t>// выводит 12345.6</a:t>
            </a:r>
          </a:p>
          <a:p>
            <a:r>
              <a:rPr lang="ru-RU" b="1" dirty="0"/>
              <a:t>console.log(arr.length); </a:t>
            </a:r>
          </a:p>
          <a:p>
            <a:r>
              <a:rPr lang="ru-RU" b="1" dirty="0"/>
              <a:t>// выводит 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96C18B6-B55B-DB4D-CF05-FE621F900B23}"/>
              </a:ext>
            </a:extLst>
          </p:cNvPr>
          <p:cNvSpPr/>
          <p:nvPr/>
        </p:nvSpPr>
        <p:spPr>
          <a:xfrm>
            <a:off x="358782" y="3180682"/>
            <a:ext cx="3756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Уже существуют свойства и методы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7575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определения объектов в 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6B2ECB-CACC-CB0B-C0C1-2B5131737BFF}"/>
              </a:ext>
            </a:extLst>
          </p:cNvPr>
          <p:cNvSpPr/>
          <p:nvPr/>
        </p:nvSpPr>
        <p:spPr>
          <a:xfrm>
            <a:off x="3208643" y="8382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var str1 = '</a:t>
            </a:r>
            <a:r>
              <a:rPr lang="ru-RU" b="1" dirty="0" err="1"/>
              <a:t>karamazov</a:t>
            </a:r>
            <a:r>
              <a:rPr lang="ru-RU" b="1" dirty="0"/>
              <a:t>';</a:t>
            </a:r>
          </a:p>
          <a:p>
            <a:r>
              <a:rPr lang="ru-RU" b="1" dirty="0"/>
              <a:t>var str2 = new String('</a:t>
            </a:r>
            <a:r>
              <a:rPr lang="ru-RU" b="1" dirty="0" err="1"/>
              <a:t>karamazov</a:t>
            </a:r>
            <a:r>
              <a:rPr lang="ru-RU" b="1" dirty="0"/>
              <a:t>');</a:t>
            </a:r>
          </a:p>
          <a:p>
            <a:r>
              <a:rPr lang="ru-RU" b="1" dirty="0"/>
              <a:t>console.log(str1 == str2); // выводит true</a:t>
            </a:r>
          </a:p>
          <a:p>
            <a:endParaRPr lang="ru-RU" b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EB9B814-E812-CD14-5FF6-98A156DE4077}"/>
              </a:ext>
            </a:extLst>
          </p:cNvPr>
          <p:cNvSpPr/>
          <p:nvPr/>
        </p:nvSpPr>
        <p:spPr>
          <a:xfrm>
            <a:off x="304375" y="2873139"/>
            <a:ext cx="5808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str1.tell = function(){</a:t>
            </a:r>
          </a:p>
          <a:p>
            <a:r>
              <a:rPr lang="ru-RU" b="1" dirty="0"/>
              <a:t>	console.log(this);</a:t>
            </a:r>
          </a:p>
          <a:p>
            <a:r>
              <a:rPr lang="ru-RU" b="1" dirty="0"/>
              <a:t>}</a:t>
            </a:r>
          </a:p>
          <a:p>
            <a:r>
              <a:rPr lang="ru-RU" b="1" dirty="0"/>
              <a:t>str1.tell(); // выводит ошибку 'str1.tell is not a function'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15C001-AC56-8374-50C1-572A89E467F7}"/>
              </a:ext>
            </a:extLst>
          </p:cNvPr>
          <p:cNvSpPr/>
          <p:nvPr/>
        </p:nvSpPr>
        <p:spPr>
          <a:xfrm>
            <a:off x="6833007" y="2855119"/>
            <a:ext cx="53212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str2.tell = function(){</a:t>
            </a:r>
          </a:p>
          <a:p>
            <a:r>
              <a:rPr lang="ru-RU" b="1" dirty="0"/>
              <a:t>	console.log(this);</a:t>
            </a:r>
          </a:p>
          <a:p>
            <a:r>
              <a:rPr lang="ru-RU" b="1" dirty="0"/>
              <a:t>}</a:t>
            </a:r>
          </a:p>
          <a:p>
            <a:r>
              <a:rPr lang="ru-RU" b="1" dirty="0"/>
              <a:t>str2.tell(); // выводит '</a:t>
            </a:r>
            <a:r>
              <a:rPr lang="ru-RU" b="1" dirty="0" err="1"/>
              <a:t>karamazov</a:t>
            </a:r>
            <a:r>
              <a:rPr lang="ru-RU" b="1" dirty="0"/>
              <a:t>'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38F1B3-F701-9F02-FC81-7EA4E017AFD5}"/>
              </a:ext>
            </a:extLst>
          </p:cNvPr>
          <p:cNvSpPr/>
          <p:nvPr/>
        </p:nvSpPr>
        <p:spPr>
          <a:xfrm>
            <a:off x="6999262" y="2221893"/>
            <a:ext cx="21774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РАБОТАЕТ !</a:t>
            </a:r>
            <a:endParaRPr lang="ru-RU" sz="32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5C93945-20A3-1B09-9813-28744CC8E207}"/>
              </a:ext>
            </a:extLst>
          </p:cNvPr>
          <p:cNvSpPr/>
          <p:nvPr/>
        </p:nvSpPr>
        <p:spPr>
          <a:xfrm>
            <a:off x="680283" y="2212121"/>
            <a:ext cx="27881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НЕ РАБОТАЕТ </a:t>
            </a:r>
            <a:r>
              <a:rPr lang="en-US" sz="3200" b="1" dirty="0">
                <a:solidFill>
                  <a:srgbClr val="C00000"/>
                </a:solidFill>
              </a:rPr>
              <a:t>?</a:t>
            </a:r>
            <a:endParaRPr lang="ru-RU" sz="32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95CC884-FE00-D8F7-B40E-0E24F6309A22}"/>
              </a:ext>
            </a:extLst>
          </p:cNvPr>
          <p:cNvSpPr/>
          <p:nvPr/>
        </p:nvSpPr>
        <p:spPr>
          <a:xfrm>
            <a:off x="435788" y="4615690"/>
            <a:ext cx="11537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Ограничение для примитивных типов, не распространяется на объекты.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21170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Атрибуты объекта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PROTOTYPE, CLASS, EXTENSIBLE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BC7054-4BA9-0AD2-F6EA-7835601901D9}"/>
              </a:ext>
            </a:extLst>
          </p:cNvPr>
          <p:cNvSpPr/>
          <p:nvPr/>
        </p:nvSpPr>
        <p:spPr>
          <a:xfrm>
            <a:off x="355341" y="1607318"/>
            <a:ext cx="82811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var p = {x:1};			// Определить объект-прототип.</a:t>
            </a:r>
          </a:p>
          <a:p>
            <a:r>
              <a:rPr lang="ru-RU" b="1" dirty="0"/>
              <a:t>var obj = Object.create(p);		// Создать объект с этим прототипом.</a:t>
            </a:r>
          </a:p>
          <a:p>
            <a:r>
              <a:rPr lang="ru-RU" b="1" dirty="0"/>
              <a:t>p.isPrototypeOf(obj); 		// =&gt; true: obj наследует p</a:t>
            </a:r>
          </a:p>
          <a:p>
            <a:r>
              <a:rPr lang="ru-RU" b="1" dirty="0"/>
              <a:t>Object.prototype.isPrototypeOf(p); 	// =&gt; true: p наследует Object.prototype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4467CEE-599E-9306-2528-086CF433A028}"/>
              </a:ext>
            </a:extLst>
          </p:cNvPr>
          <p:cNvSpPr/>
          <p:nvPr/>
        </p:nvSpPr>
        <p:spPr>
          <a:xfrm>
            <a:off x="4023443" y="785556"/>
            <a:ext cx="33902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Атрибут </a:t>
            </a:r>
            <a:r>
              <a:rPr lang="en-US" sz="3200" b="1" dirty="0">
                <a:solidFill>
                  <a:srgbClr val="C00000"/>
                </a:solidFill>
              </a:rPr>
              <a:t>p</a:t>
            </a:r>
            <a:r>
              <a:rPr lang="ru-RU" sz="3200" b="1" dirty="0" err="1">
                <a:solidFill>
                  <a:srgbClr val="C00000"/>
                </a:solidFill>
              </a:rPr>
              <a:t>rototype</a:t>
            </a:r>
            <a:endParaRPr lang="ru-RU" sz="3200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2537D0A-E14B-0078-78A7-F4322683BC09}"/>
              </a:ext>
            </a:extLst>
          </p:cNvPr>
          <p:cNvSpPr/>
          <p:nvPr/>
        </p:nvSpPr>
        <p:spPr>
          <a:xfrm>
            <a:off x="1349271" y="3281620"/>
            <a:ext cx="97665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Атрибут prototype устанавливается в момент создания объекта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919DF-E0E0-25DF-A452-35FAC68372BA}"/>
              </a:ext>
            </a:extLst>
          </p:cNvPr>
          <p:cNvSpPr txBox="1"/>
          <p:nvPr/>
        </p:nvSpPr>
        <p:spPr>
          <a:xfrm>
            <a:off x="410355" y="3911716"/>
            <a:ext cx="11097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Атрибут </a:t>
            </a:r>
            <a:r>
              <a:rPr lang="ru-RU" b="1" dirty="0" err="1"/>
              <a:t>prototype</a:t>
            </a:r>
            <a:r>
              <a:rPr lang="ru-RU" b="1" dirty="0"/>
              <a:t> — это важный механизм, который позволяет реализовать наследование и делиться свойствами и методами между объектами.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99CDB-876B-57B9-3DFC-DA970947C7E2}"/>
              </a:ext>
            </a:extLst>
          </p:cNvPr>
          <p:cNvSpPr txBox="1"/>
          <p:nvPr/>
        </p:nvSpPr>
        <p:spPr>
          <a:xfrm>
            <a:off x="410354" y="4743989"/>
            <a:ext cx="11281973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</a:rPr>
              <a:t>Прототип:</a:t>
            </a:r>
            <a:r>
              <a:rPr lang="ru-RU" b="1" dirty="0"/>
              <a:t> объект, от которого наследуются свойства и методы.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</a:rPr>
              <a:t>Прототипное наследование: </a:t>
            </a:r>
            <a:r>
              <a:rPr lang="ru-RU" b="1" dirty="0"/>
              <a:t>механизм, позволяющий объектам наследовать свойства и методы от других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3432645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Атрибуты объекта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PROTOTYPE, CLASS, EXTENSIBLE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BC1BAB-1C78-060F-1F48-6E53B5AC8F5A}"/>
              </a:ext>
            </a:extLst>
          </p:cNvPr>
          <p:cNvSpPr/>
          <p:nvPr/>
        </p:nvSpPr>
        <p:spPr>
          <a:xfrm>
            <a:off x="4434551" y="822960"/>
            <a:ext cx="24871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Атрибут </a:t>
            </a:r>
            <a:r>
              <a:rPr lang="en-US" sz="3200" b="1" dirty="0">
                <a:solidFill>
                  <a:srgbClr val="C00000"/>
                </a:solidFill>
              </a:rPr>
              <a:t>class</a:t>
            </a:r>
            <a:endParaRPr lang="ru-RU" sz="3200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3D48D9-D6D6-1223-BD87-20F5F68A1AA6}"/>
              </a:ext>
            </a:extLst>
          </p:cNvPr>
          <p:cNvSpPr/>
          <p:nvPr/>
        </p:nvSpPr>
        <p:spPr>
          <a:xfrm>
            <a:off x="384011" y="2753685"/>
            <a:ext cx="722318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// Название класса объекта</a:t>
            </a:r>
          </a:p>
          <a:p>
            <a:r>
              <a:rPr lang="ru-RU" b="1" dirty="0"/>
              <a:t>function classof(obj) {</a:t>
            </a:r>
          </a:p>
          <a:p>
            <a:r>
              <a:rPr lang="ru-RU" b="1" dirty="0"/>
              <a:t>	if (obj === null) return "Null";</a:t>
            </a:r>
          </a:p>
          <a:p>
            <a:r>
              <a:rPr lang="ru-RU" b="1" dirty="0"/>
              <a:t>	if (obj === undefined) return "Undefined";</a:t>
            </a:r>
          </a:p>
          <a:p>
            <a:r>
              <a:rPr lang="ru-RU" b="1" dirty="0"/>
              <a:t>	</a:t>
            </a:r>
          </a:p>
          <a:p>
            <a:r>
              <a:rPr lang="ru-RU" b="1" dirty="0"/>
              <a:t>	return Object.prototype.toString.call(obj).slice(8,-1);</a:t>
            </a:r>
          </a:p>
          <a:p>
            <a:r>
              <a:rPr lang="ru-RU" b="1" dirty="0"/>
              <a:t>}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FC5F05C-D170-EFE5-B106-B2239FAE2B5E}"/>
              </a:ext>
            </a:extLst>
          </p:cNvPr>
          <p:cNvSpPr/>
          <p:nvPr/>
        </p:nvSpPr>
        <p:spPr>
          <a:xfrm>
            <a:off x="662240" y="1590809"/>
            <a:ext cx="100317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Атрибут class</a:t>
            </a:r>
            <a:r>
              <a:rPr lang="ru-RU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это строка, содержащая информацию о типе объекта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возвращает строку вида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[object class]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66B32-9BC4-4749-4DA4-5425A792E4C1}"/>
              </a:ext>
            </a:extLst>
          </p:cNvPr>
          <p:cNvSpPr txBox="1"/>
          <p:nvPr/>
        </p:nvSpPr>
        <p:spPr>
          <a:xfrm>
            <a:off x="7345180" y="2182259"/>
            <a:ext cx="46276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Calibri" panose="020F0502020204030204" pitchFamily="34" charset="0"/>
                <a:cs typeface="Times New Roman" panose="02020603050405020304" pitchFamily="18" charset="0"/>
              </a:rPr>
              <a:t>Атрибут class в JavaScript используется для определения классов, что является частью синтаксиса ES6 (ECMAScript 2015). </a:t>
            </a:r>
          </a:p>
          <a:p>
            <a:pPr algn="just"/>
            <a:endParaRPr lang="ru-RU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latin typeface="Calibri" panose="020F0502020204030204" pitchFamily="34" charset="0"/>
                <a:cs typeface="Times New Roman" panose="02020603050405020304" pitchFamily="18" charset="0"/>
              </a:rPr>
              <a:t>Классы позволяют создавать объекты и управлять их поведением с помощью методов и свойств.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0CB61-3AE3-28FF-0332-EDC0AFFC35B7}"/>
              </a:ext>
            </a:extLst>
          </p:cNvPr>
          <p:cNvSpPr txBox="1"/>
          <p:nvPr/>
        </p:nvSpPr>
        <p:spPr>
          <a:xfrm>
            <a:off x="6160956" y="4785010"/>
            <a:ext cx="58118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Calibri" panose="020F0502020204030204" pitchFamily="34" charset="0"/>
                <a:cs typeface="Times New Roman" panose="02020603050405020304" pitchFamily="18" charset="0"/>
              </a:rPr>
              <a:t>Хотя классы в JavaScript являются синтаксическим сахаром над функциями-конструкторами и прототипами, функция </a:t>
            </a:r>
            <a:r>
              <a:rPr lang="ru-RU" b="1" dirty="0" err="1">
                <a:latin typeface="Calibri" panose="020F0502020204030204" pitchFamily="34" charset="0"/>
                <a:cs typeface="Times New Roman" panose="02020603050405020304" pitchFamily="18" charset="0"/>
              </a:rPr>
              <a:t>classof</a:t>
            </a:r>
            <a:r>
              <a:rPr lang="ru-RU" b="1" dirty="0">
                <a:latin typeface="Calibri" panose="020F0502020204030204" pitchFamily="34" charset="0"/>
                <a:cs typeface="Times New Roman" panose="02020603050405020304" pitchFamily="18" charset="0"/>
              </a:rPr>
              <a:t> помогает определить, к какому классу принадлежит объект.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83558-76F9-BC6E-6620-49612D2DA9DF}"/>
              </a:ext>
            </a:extLst>
          </p:cNvPr>
          <p:cNvSpPr txBox="1"/>
          <p:nvPr/>
        </p:nvSpPr>
        <p:spPr>
          <a:xfrm>
            <a:off x="384011" y="4912788"/>
            <a:ext cx="50274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D73A49"/>
                </a:solidFill>
                <a:effectLst/>
                <a:latin typeface="ui-monospace"/>
              </a:rPr>
              <a:t>console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600" b="1" i="0" dirty="0">
                <a:solidFill>
                  <a:srgbClr val="6841EA"/>
                </a:solidFill>
                <a:effectLst/>
                <a:latin typeface="ui-monospace"/>
              </a:rPr>
              <a:t>log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 err="1">
                <a:solidFill>
                  <a:srgbClr val="6841EA"/>
                </a:solidFill>
                <a:effectLst/>
                <a:latin typeface="ui-monospace"/>
              </a:rPr>
              <a:t>classof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null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)); 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// </a:t>
            </a:r>
            <a:r>
              <a:rPr lang="ru-RU" sz="1600" b="1" i="0" dirty="0">
                <a:solidFill>
                  <a:srgbClr val="8C8C8C"/>
                </a:solidFill>
                <a:effectLst/>
                <a:latin typeface="ui-monospace"/>
              </a:rPr>
              <a:t>Вывод: "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Null"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sz="1600" b="1" i="0" dirty="0">
                <a:solidFill>
                  <a:srgbClr val="D73A49"/>
                </a:solidFill>
                <a:effectLst/>
                <a:latin typeface="ui-monospace"/>
              </a:rPr>
              <a:t>console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600" b="1" i="0" dirty="0">
                <a:solidFill>
                  <a:srgbClr val="6841EA"/>
                </a:solidFill>
                <a:effectLst/>
                <a:latin typeface="ui-monospace"/>
              </a:rPr>
              <a:t>log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 err="1">
                <a:solidFill>
                  <a:srgbClr val="6841EA"/>
                </a:solidFill>
                <a:effectLst/>
                <a:latin typeface="ui-monospace"/>
              </a:rPr>
              <a:t>classof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>
                <a:solidFill>
                  <a:srgbClr val="005CC5"/>
                </a:solidFill>
                <a:effectLst/>
                <a:latin typeface="ui-monospace"/>
              </a:rPr>
              <a:t>undefined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)); 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// </a:t>
            </a:r>
            <a:r>
              <a:rPr lang="ru-RU" sz="1600" b="1" i="0" dirty="0">
                <a:solidFill>
                  <a:srgbClr val="8C8C8C"/>
                </a:solidFill>
                <a:effectLst/>
                <a:latin typeface="ui-monospace"/>
              </a:rPr>
              <a:t>Вывод: "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Undefined"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sz="1600" b="1" i="0" dirty="0">
                <a:solidFill>
                  <a:srgbClr val="D73A49"/>
                </a:solidFill>
                <a:effectLst/>
                <a:latin typeface="ui-monospace"/>
              </a:rPr>
              <a:t>console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600" b="1" i="0" dirty="0">
                <a:solidFill>
                  <a:srgbClr val="6841EA"/>
                </a:solidFill>
                <a:effectLst/>
                <a:latin typeface="ui-monospace"/>
              </a:rPr>
              <a:t>log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 err="1">
                <a:solidFill>
                  <a:srgbClr val="6841EA"/>
                </a:solidFill>
                <a:effectLst/>
                <a:latin typeface="ui-monospace"/>
              </a:rPr>
              <a:t>classof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([])); 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// </a:t>
            </a:r>
            <a:r>
              <a:rPr lang="ru-RU" sz="1600" b="1" i="0" dirty="0">
                <a:solidFill>
                  <a:srgbClr val="8C8C8C"/>
                </a:solidFill>
                <a:effectLst/>
                <a:latin typeface="ui-monospace"/>
              </a:rPr>
              <a:t>Вывод: "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Array"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endParaRPr lang="ru-RU" sz="1600" b="1" i="0" dirty="0">
              <a:solidFill>
                <a:srgbClr val="262626"/>
              </a:solidFill>
              <a:effectLst/>
              <a:latin typeface="ui-monospace"/>
            </a:endParaRPr>
          </a:p>
          <a:p>
            <a:r>
              <a:rPr lang="en-US" sz="1600" b="1" i="0" dirty="0">
                <a:solidFill>
                  <a:srgbClr val="D73A49"/>
                </a:solidFill>
                <a:effectLst/>
                <a:latin typeface="ui-monospace"/>
              </a:rPr>
              <a:t>console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600" b="1" i="0" dirty="0">
                <a:solidFill>
                  <a:srgbClr val="6841EA"/>
                </a:solidFill>
                <a:effectLst/>
                <a:latin typeface="ui-monospace"/>
              </a:rPr>
              <a:t>log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 err="1">
                <a:solidFill>
                  <a:srgbClr val="6841EA"/>
                </a:solidFill>
                <a:effectLst/>
                <a:latin typeface="ui-monospace"/>
              </a:rPr>
              <a:t>classof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({})); 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// </a:t>
            </a:r>
            <a:r>
              <a:rPr lang="ru-RU" sz="1600" b="1" i="0" dirty="0">
                <a:solidFill>
                  <a:srgbClr val="8C8C8C"/>
                </a:solidFill>
                <a:effectLst/>
                <a:latin typeface="ui-monospace"/>
              </a:rPr>
              <a:t>Вывод: "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Object"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sz="1600" b="1" i="0" dirty="0">
                <a:solidFill>
                  <a:srgbClr val="D73A49"/>
                </a:solidFill>
                <a:effectLst/>
                <a:latin typeface="ui-monospace"/>
              </a:rPr>
              <a:t>console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600" b="1" i="0" dirty="0">
                <a:solidFill>
                  <a:srgbClr val="6841EA"/>
                </a:solidFill>
                <a:effectLst/>
                <a:latin typeface="ui-monospace"/>
              </a:rPr>
              <a:t>log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 err="1">
                <a:solidFill>
                  <a:srgbClr val="6841EA"/>
                </a:solidFill>
                <a:effectLst/>
                <a:latin typeface="ui-monospace"/>
              </a:rPr>
              <a:t>classof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>
                <a:solidFill>
                  <a:srgbClr val="D73A49"/>
                </a:solidFill>
                <a:effectLst/>
                <a:latin typeface="ui-monospace"/>
              </a:rPr>
              <a:t>function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() {})); 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// </a:t>
            </a:r>
            <a:r>
              <a:rPr lang="ru-RU" sz="1600" b="1" i="0" dirty="0">
                <a:solidFill>
                  <a:srgbClr val="8C8C8C"/>
                </a:solidFill>
                <a:effectLst/>
                <a:latin typeface="ui-monospace"/>
              </a:rPr>
              <a:t>Вывод: "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Function"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sz="1600" b="1" i="0" dirty="0">
                <a:solidFill>
                  <a:srgbClr val="D73A49"/>
                </a:solidFill>
                <a:effectLst/>
                <a:latin typeface="ui-monospace"/>
              </a:rPr>
              <a:t>console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.</a:t>
            </a:r>
            <a:r>
              <a:rPr lang="en-US" sz="1600" b="1" i="0" dirty="0">
                <a:solidFill>
                  <a:srgbClr val="6841EA"/>
                </a:solidFill>
                <a:effectLst/>
                <a:latin typeface="ui-monospace"/>
              </a:rPr>
              <a:t>log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 err="1">
                <a:solidFill>
                  <a:srgbClr val="6841EA"/>
                </a:solidFill>
                <a:effectLst/>
                <a:latin typeface="ui-monospace"/>
              </a:rPr>
              <a:t>classof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</a:t>
            </a:r>
            <a:r>
              <a:rPr lang="en-US" sz="1600" b="1" i="0" dirty="0">
                <a:solidFill>
                  <a:srgbClr val="D73A49"/>
                </a:solidFill>
                <a:effectLst/>
                <a:latin typeface="ui-monospace"/>
              </a:rPr>
              <a:t>new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 </a:t>
            </a:r>
            <a:r>
              <a:rPr lang="en-US" sz="1600" b="1" i="0" dirty="0">
                <a:solidFill>
                  <a:srgbClr val="6841EA"/>
                </a:solidFill>
                <a:effectLst/>
                <a:latin typeface="ui-monospace"/>
              </a:rPr>
              <a:t>Date</a:t>
            </a:r>
            <a:r>
              <a:rPr lang="en-US" sz="1600" b="1" i="0" dirty="0">
                <a:solidFill>
                  <a:srgbClr val="262626"/>
                </a:solidFill>
                <a:effectLst/>
                <a:latin typeface="ui-monospace"/>
              </a:rPr>
              <a:t>())); 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// </a:t>
            </a:r>
            <a:r>
              <a:rPr lang="ru-RU" sz="1600" b="1" i="0" dirty="0">
                <a:solidFill>
                  <a:srgbClr val="8C8C8C"/>
                </a:solidFill>
                <a:effectLst/>
                <a:latin typeface="ui-monospace"/>
              </a:rPr>
              <a:t>Вывод: "</a:t>
            </a:r>
            <a:r>
              <a:rPr lang="en-US" sz="1600" b="1" i="0" dirty="0">
                <a:solidFill>
                  <a:srgbClr val="8C8C8C"/>
                </a:solidFill>
                <a:effectLst/>
                <a:latin typeface="ui-monospace"/>
              </a:rPr>
              <a:t>Date"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1741936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Атрибуты объекта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PROTOTYPE, CLASS, EXTENSIBLE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5C5B3A4-DD24-D497-4099-8C3C2A01605E}"/>
              </a:ext>
            </a:extLst>
          </p:cNvPr>
          <p:cNvSpPr/>
          <p:nvPr/>
        </p:nvSpPr>
        <p:spPr>
          <a:xfrm>
            <a:off x="4114800" y="838200"/>
            <a:ext cx="2620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Атрибут </a:t>
            </a:r>
            <a:r>
              <a:rPr lang="en-US" sz="2400" b="1" dirty="0">
                <a:solidFill>
                  <a:srgbClr val="C00000"/>
                </a:solidFill>
              </a:rPr>
              <a:t>extensible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79EFF6B-A2BE-789B-07DD-D58A6796E37C}"/>
              </a:ext>
            </a:extLst>
          </p:cNvPr>
          <p:cNvSpPr/>
          <p:nvPr/>
        </p:nvSpPr>
        <p:spPr>
          <a:xfrm>
            <a:off x="201881" y="2007912"/>
            <a:ext cx="64440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Метод Object.isExtensible() </a:t>
            </a:r>
            <a:r>
              <a:rPr lang="ru-RU" sz="1600" b="1" dirty="0"/>
              <a:t>– проверка расширяемости объекта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1B0F84-54A0-034B-DB36-9228CD73D27D}"/>
              </a:ext>
            </a:extLst>
          </p:cNvPr>
          <p:cNvSpPr/>
          <p:nvPr/>
        </p:nvSpPr>
        <p:spPr>
          <a:xfrm>
            <a:off x="201881" y="2579899"/>
            <a:ext cx="71366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Методу Object.preventExtensions() </a:t>
            </a:r>
            <a:r>
              <a:rPr lang="ru-RU" sz="1600" b="1" dirty="0"/>
              <a:t>– сделать объект нерасширяемым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A2F075B-3766-7C8C-A4E1-CE42B9327C92}"/>
              </a:ext>
            </a:extLst>
          </p:cNvPr>
          <p:cNvSpPr/>
          <p:nvPr/>
        </p:nvSpPr>
        <p:spPr>
          <a:xfrm>
            <a:off x="201881" y="3320448"/>
            <a:ext cx="66561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Метод Object.seal() </a:t>
            </a:r>
            <a:r>
              <a:rPr lang="ru-RU" sz="1600" b="1" dirty="0"/>
              <a:t>– сделать объект нерасширяемым и сделать свойства недоступными для настройки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0226184-1797-D5AE-0CAA-CF0FAD08819D}"/>
              </a:ext>
            </a:extLst>
          </p:cNvPr>
          <p:cNvSpPr/>
          <p:nvPr/>
        </p:nvSpPr>
        <p:spPr>
          <a:xfrm>
            <a:off x="201882" y="4357552"/>
            <a:ext cx="63038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Метод Object.freeze() </a:t>
            </a:r>
            <a:r>
              <a:rPr lang="ru-RU" sz="1600" b="1" dirty="0"/>
              <a:t>– сделать нерасширяемым, недоступным для настройки и со свойствами только для чтения. 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AB6FF4-B68C-1593-A6DC-AFA95DE565BE}"/>
              </a:ext>
            </a:extLst>
          </p:cNvPr>
          <p:cNvSpPr/>
          <p:nvPr/>
        </p:nvSpPr>
        <p:spPr>
          <a:xfrm>
            <a:off x="165245" y="1359647"/>
            <a:ext cx="108845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Атрибут </a:t>
            </a:r>
            <a:r>
              <a:rPr lang="ru-RU" sz="2000" b="1" dirty="0">
                <a:solidFill>
                  <a:srgbClr val="C00000"/>
                </a:solidFill>
              </a:rPr>
              <a:t>extensible </a:t>
            </a:r>
            <a:r>
              <a:rPr lang="ru-RU" sz="1600" b="1" dirty="0"/>
              <a:t>объекта определяет, допускается ли добавлять в объект новые свойства.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BAE0523-89DD-FA1B-40B7-6845564B3F49}"/>
              </a:ext>
            </a:extLst>
          </p:cNvPr>
          <p:cNvSpPr/>
          <p:nvPr/>
        </p:nvSpPr>
        <p:spPr>
          <a:xfrm>
            <a:off x="7500754" y="1759757"/>
            <a:ext cx="448936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В ECMAScript все встроенные и определяемые пользователем объекты являются </a:t>
            </a:r>
            <a:r>
              <a:rPr lang="ru-RU" b="1" dirty="0">
                <a:solidFill>
                  <a:srgbClr val="C00000"/>
                </a:solidFill>
              </a:rPr>
              <a:t>расширяемыми</a:t>
            </a:r>
            <a:r>
              <a:rPr lang="ru-RU" b="1" dirty="0"/>
              <a:t>, если они не были преобразованы в нерасширяемые объекты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7503630-279C-4CE5-04F6-454D4814E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754" y="3429000"/>
            <a:ext cx="4305901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7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класса в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9AD009-CC04-1BF8-7E94-EEF8D36B2ED0}"/>
              </a:ext>
            </a:extLst>
          </p:cNvPr>
          <p:cNvSpPr/>
          <p:nvPr/>
        </p:nvSpPr>
        <p:spPr>
          <a:xfrm>
            <a:off x="171270" y="838200"/>
            <a:ext cx="118494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C00000"/>
                </a:solidFill>
              </a:rPr>
              <a:t>Класс</a:t>
            </a:r>
            <a:r>
              <a:rPr lang="ru-RU" b="1" dirty="0"/>
              <a:t> - это шаблон, описывающий свойства и методы, которыми будет обладать любой объект, созданный на основе этого класса.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8F87D1E-0209-3C73-2953-5358D970D856}"/>
              </a:ext>
            </a:extLst>
          </p:cNvPr>
          <p:cNvSpPr/>
          <p:nvPr/>
        </p:nvSpPr>
        <p:spPr>
          <a:xfrm>
            <a:off x="3264835" y="1322449"/>
            <a:ext cx="53303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Нужна функция-конструктор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28AC690-D97E-3CE8-B39D-2CF54D07B7AD}"/>
              </a:ext>
            </a:extLst>
          </p:cNvPr>
          <p:cNvSpPr/>
          <p:nvPr/>
        </p:nvSpPr>
        <p:spPr>
          <a:xfrm>
            <a:off x="3581073" y="194898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// Функция-конструктор - это обычная функция</a:t>
            </a:r>
          </a:p>
          <a:p>
            <a:r>
              <a:rPr lang="ru-RU" b="1" dirty="0"/>
              <a:t>var Class = function(p){</a:t>
            </a:r>
          </a:p>
          <a:p>
            <a:r>
              <a:rPr lang="ru-RU" b="1" dirty="0"/>
              <a:t>	console.log('My name is constructor');</a:t>
            </a:r>
          </a:p>
          <a:p>
            <a:r>
              <a:rPr lang="ru-RU" b="1" dirty="0"/>
              <a:t>	this.p = p; </a:t>
            </a:r>
          </a:p>
          <a:p>
            <a:r>
              <a:rPr lang="ru-RU" b="1" dirty="0"/>
              <a:t>}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ED7F9A4-C0FB-230C-EA65-B59F309218ED}"/>
              </a:ext>
            </a:extLst>
          </p:cNvPr>
          <p:cNvSpPr/>
          <p:nvPr/>
        </p:nvSpPr>
        <p:spPr>
          <a:xfrm>
            <a:off x="1928883" y="3199301"/>
            <a:ext cx="53572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400" b="1" dirty="0">
                <a:solidFill>
                  <a:srgbClr val="C00000"/>
                </a:solidFill>
              </a:rPr>
              <a:t>1</a:t>
            </a:r>
            <a:endParaRPr lang="ru-RU" sz="5400" b="1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17C7528-E5CF-18C1-3ADB-176B7F92CCC9}"/>
              </a:ext>
            </a:extLst>
          </p:cNvPr>
          <p:cNvSpPr/>
          <p:nvPr/>
        </p:nvSpPr>
        <p:spPr>
          <a:xfrm>
            <a:off x="8796355" y="3080580"/>
            <a:ext cx="53572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400" b="1" dirty="0">
                <a:solidFill>
                  <a:srgbClr val="C00000"/>
                </a:solidFill>
              </a:rPr>
              <a:t>2</a:t>
            </a:r>
            <a:endParaRPr lang="ru-RU" sz="5400" b="1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89F0A49-6222-B559-2215-F83B458E711D}"/>
              </a:ext>
            </a:extLst>
          </p:cNvPr>
          <p:cNvSpPr/>
          <p:nvPr/>
        </p:nvSpPr>
        <p:spPr>
          <a:xfrm>
            <a:off x="216835" y="3959400"/>
            <a:ext cx="55464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var o = new Class('</a:t>
            </a:r>
            <a:r>
              <a:rPr lang="ru-RU" b="1" dirty="0" err="1"/>
              <a:t>karamazov</a:t>
            </a:r>
            <a:r>
              <a:rPr lang="ru-RU" b="1" dirty="0"/>
              <a:t>');</a:t>
            </a:r>
          </a:p>
          <a:p>
            <a:r>
              <a:rPr lang="ru-RU" b="1" dirty="0"/>
              <a:t>console.log(o); // выводит [Object object]</a:t>
            </a:r>
          </a:p>
          <a:p>
            <a:r>
              <a:rPr lang="ru-RU" b="1" dirty="0"/>
              <a:t>console.log(</a:t>
            </a:r>
            <a:r>
              <a:rPr lang="ru-RU" b="1" dirty="0" err="1"/>
              <a:t>o.p</a:t>
            </a:r>
            <a:r>
              <a:rPr lang="ru-RU" b="1" dirty="0"/>
              <a:t>); // выводит '</a:t>
            </a:r>
            <a:r>
              <a:rPr lang="ru-RU" b="1" dirty="0" err="1"/>
              <a:t>karamazov</a:t>
            </a:r>
            <a:r>
              <a:rPr lang="ru-RU" b="1" dirty="0"/>
              <a:t>' - теперь это свойство объекта o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D92FBF5-3B98-8B7D-23F7-0ED7604DCD07}"/>
              </a:ext>
            </a:extLst>
          </p:cNvPr>
          <p:cNvSpPr/>
          <p:nvPr/>
        </p:nvSpPr>
        <p:spPr>
          <a:xfrm>
            <a:off x="5763274" y="3959504"/>
            <a:ext cx="640216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var o = Class('</a:t>
            </a:r>
            <a:r>
              <a:rPr lang="ru-RU" b="1" dirty="0" err="1"/>
              <a:t>karamazov</a:t>
            </a:r>
            <a:r>
              <a:rPr lang="ru-RU" b="1" dirty="0"/>
              <a:t>'); // эквивалентно вызову </a:t>
            </a:r>
            <a:r>
              <a:rPr lang="ru-RU" b="1" dirty="0" err="1"/>
              <a:t>window.Class</a:t>
            </a:r>
            <a:r>
              <a:rPr lang="ru-RU" b="1" dirty="0"/>
              <a:t>()</a:t>
            </a:r>
          </a:p>
          <a:p>
            <a:r>
              <a:rPr lang="en-US" b="1" dirty="0"/>
              <a:t>console.log</a:t>
            </a:r>
            <a:r>
              <a:rPr lang="ru-RU" b="1" dirty="0"/>
              <a:t>(o); // выводит undefined, а именно то, что вернула функция Class()</a:t>
            </a:r>
          </a:p>
          <a:p>
            <a:r>
              <a:rPr lang="en-US" b="1" dirty="0"/>
              <a:t>console.log</a:t>
            </a:r>
            <a:r>
              <a:rPr lang="ru-RU" b="1" dirty="0"/>
              <a:t>(window.p); // выводит 'karamazov' - теперь это свойство глобального объекта window</a:t>
            </a:r>
          </a:p>
        </p:txBody>
      </p:sp>
    </p:spTree>
    <p:extLst>
      <p:ext uri="{BB962C8B-B14F-4D97-AF65-F5344CB8AC3E}">
        <p14:creationId xmlns:p14="http://schemas.microsoft.com/office/powerpoint/2010/main" val="597848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класса в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30AF46B-774A-A4B2-9677-1E64EE7F54E8}"/>
              </a:ext>
            </a:extLst>
          </p:cNvPr>
          <p:cNvSpPr/>
          <p:nvPr/>
        </p:nvSpPr>
        <p:spPr>
          <a:xfrm>
            <a:off x="149956" y="698212"/>
            <a:ext cx="1189208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При создании функции</a:t>
            </a:r>
            <a:r>
              <a:rPr lang="en-US" b="1" dirty="0"/>
              <a:t>-</a:t>
            </a:r>
            <a:r>
              <a:rPr lang="ru-RU" b="1" dirty="0"/>
              <a:t>конструктора, JavaScript автоматически создает для нее пустое свойство </a:t>
            </a:r>
            <a:r>
              <a:rPr lang="ru-RU" sz="3200" b="1" dirty="0">
                <a:solidFill>
                  <a:srgbClr val="C00000"/>
                </a:solidFill>
              </a:rPr>
              <a:t>.prototype</a:t>
            </a:r>
            <a:r>
              <a:rPr lang="ru-RU" b="1" dirty="0"/>
              <a:t>.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D519394-AFE4-70E1-A81C-F685292C3A28}"/>
              </a:ext>
            </a:extLst>
          </p:cNvPr>
          <p:cNvSpPr/>
          <p:nvPr/>
        </p:nvSpPr>
        <p:spPr>
          <a:xfrm>
            <a:off x="1628320" y="1212464"/>
            <a:ext cx="86216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Свойства и методы, записанные в </a:t>
            </a:r>
            <a:r>
              <a:rPr lang="en-US" b="1" dirty="0"/>
              <a:t>.prototype </a:t>
            </a:r>
            <a:r>
              <a:rPr lang="en-US" sz="3200" b="1" dirty="0">
                <a:solidFill>
                  <a:srgbClr val="C00000"/>
                </a:solidFill>
              </a:rPr>
              <a:t>&gt;&gt;</a:t>
            </a:r>
            <a:r>
              <a:rPr lang="en-US" b="1" dirty="0"/>
              <a:t> </a:t>
            </a:r>
            <a:r>
              <a:rPr lang="ru-RU" b="1" dirty="0"/>
              <a:t>свойства и методы нового объекта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3F3931-C81A-C635-BE5D-DA71F58275E3}"/>
              </a:ext>
            </a:extLst>
          </p:cNvPr>
          <p:cNvSpPr/>
          <p:nvPr/>
        </p:nvSpPr>
        <p:spPr>
          <a:xfrm>
            <a:off x="329981" y="1932475"/>
            <a:ext cx="44219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Class.prototype.method = function(){</a:t>
            </a:r>
          </a:p>
          <a:p>
            <a:r>
              <a:rPr lang="en-US" b="1" dirty="0"/>
              <a:t>     console.log</a:t>
            </a:r>
            <a:r>
              <a:rPr lang="ru-RU" b="1" dirty="0"/>
              <a:t>('my name is .method');</a:t>
            </a:r>
          </a:p>
          <a:p>
            <a:r>
              <a:rPr lang="ru-RU" b="1" dirty="0"/>
              <a:t>}</a:t>
            </a:r>
          </a:p>
          <a:p>
            <a:r>
              <a:rPr lang="ru-RU" b="1" dirty="0"/>
              <a:t>o.method(); // работает!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EFCE2E6-EF86-E733-CF47-DBF3643F8F6D}"/>
              </a:ext>
            </a:extLst>
          </p:cNvPr>
          <p:cNvSpPr/>
          <p:nvPr/>
        </p:nvSpPr>
        <p:spPr>
          <a:xfrm>
            <a:off x="7080881" y="1942159"/>
            <a:ext cx="2739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Порядок поиска свойства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5C0855-9C79-F3AE-2F38-B1021974C843}"/>
              </a:ext>
            </a:extLst>
          </p:cNvPr>
          <p:cNvSpPr/>
          <p:nvPr/>
        </p:nvSpPr>
        <p:spPr>
          <a:xfrm>
            <a:off x="5458876" y="2266007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1</a:t>
            </a:r>
            <a:endParaRPr lang="ru-RU" sz="32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209AC1E-57C1-0302-2C15-666814EA8A86}"/>
              </a:ext>
            </a:extLst>
          </p:cNvPr>
          <p:cNvSpPr/>
          <p:nvPr/>
        </p:nvSpPr>
        <p:spPr>
          <a:xfrm>
            <a:off x="5959610" y="2373728"/>
            <a:ext cx="1891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В самом объекте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C495A59-2DB5-32EF-2C44-3A5C6AA1FF9E}"/>
              </a:ext>
            </a:extLst>
          </p:cNvPr>
          <p:cNvSpPr/>
          <p:nvPr/>
        </p:nvSpPr>
        <p:spPr>
          <a:xfrm>
            <a:off x="5458876" y="2850782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C00000"/>
                </a:solidFill>
              </a:rPr>
              <a:t>2</a:t>
            </a:r>
            <a:endParaRPr lang="ru-RU" sz="32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FF2EC44-7125-3444-C134-AE7126492B18}"/>
              </a:ext>
            </a:extLst>
          </p:cNvPr>
          <p:cNvSpPr/>
          <p:nvPr/>
        </p:nvSpPr>
        <p:spPr>
          <a:xfrm>
            <a:off x="5959610" y="2958503"/>
            <a:ext cx="56915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В </a:t>
            </a:r>
            <a:r>
              <a:rPr lang="en-US" b="1" dirty="0"/>
              <a:t>.prototype </a:t>
            </a:r>
            <a:r>
              <a:rPr lang="ru-RU" b="1" dirty="0"/>
              <a:t>функции-конструктора, создавшей объект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DE626E3-A6B7-51DC-7166-41E3F44635A4}"/>
              </a:ext>
            </a:extLst>
          </p:cNvPr>
          <p:cNvSpPr/>
          <p:nvPr/>
        </p:nvSpPr>
        <p:spPr>
          <a:xfrm>
            <a:off x="184412" y="3725197"/>
            <a:ext cx="4981492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console.log</a:t>
            </a:r>
            <a:r>
              <a:rPr lang="ru-RU" b="1" dirty="0"/>
              <a:t>(o.constructor == Class); </a:t>
            </a:r>
            <a:endParaRPr lang="en-US" b="1" dirty="0"/>
          </a:p>
          <a:p>
            <a:r>
              <a:rPr lang="ru-RU" b="1" dirty="0"/>
              <a:t>// выводит true</a:t>
            </a:r>
          </a:p>
          <a:p>
            <a:r>
              <a:rPr lang="en-US" b="1" dirty="0"/>
              <a:t>console.log</a:t>
            </a:r>
            <a:r>
              <a:rPr lang="ru-RU" b="1" dirty="0"/>
              <a:t>(Class.prototype.constructor == Class); </a:t>
            </a:r>
            <a:endParaRPr lang="en-US" b="1" dirty="0"/>
          </a:p>
          <a:p>
            <a:r>
              <a:rPr lang="ru-RU" b="1" dirty="0"/>
              <a:t>// выводит true</a:t>
            </a:r>
          </a:p>
          <a:p>
            <a:endParaRPr lang="ru-RU" b="1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AC4F1DB-4496-4665-BF48-7A949211BCB8}"/>
              </a:ext>
            </a:extLst>
          </p:cNvPr>
          <p:cNvSpPr/>
          <p:nvPr/>
        </p:nvSpPr>
        <p:spPr>
          <a:xfrm>
            <a:off x="5880152" y="36149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.prototype существует только для функции-конструктора, но не для самого объекта, созданного на его основе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A0E148-5486-BFD3-10BA-F2C038CA3205}"/>
              </a:ext>
            </a:extLst>
          </p:cNvPr>
          <p:cNvSpPr/>
          <p:nvPr/>
        </p:nvSpPr>
        <p:spPr>
          <a:xfrm>
            <a:off x="5640689" y="4489378"/>
            <a:ext cx="65969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console.log</a:t>
            </a:r>
            <a:r>
              <a:rPr lang="ru-RU" b="1" dirty="0"/>
              <a:t>(</a:t>
            </a:r>
            <a:r>
              <a:rPr lang="ru-RU" b="1" dirty="0" err="1"/>
              <a:t>o.prototype</a:t>
            </a:r>
            <a:r>
              <a:rPr lang="ru-RU" b="1" dirty="0"/>
              <a:t>); // выводит undefined</a:t>
            </a:r>
          </a:p>
          <a:p>
            <a:r>
              <a:rPr lang="en-US" b="1" dirty="0"/>
              <a:t>console.log</a:t>
            </a:r>
            <a:r>
              <a:rPr lang="ru-RU" b="1" dirty="0"/>
              <a:t>(</a:t>
            </a:r>
            <a:r>
              <a:rPr lang="ru-RU" b="1" dirty="0" err="1"/>
              <a:t>o.constructor.prototype</a:t>
            </a:r>
            <a:r>
              <a:rPr lang="ru-RU" b="1" dirty="0"/>
              <a:t>); // выводит 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588330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класса в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28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1F46A5-018C-C1AF-AF0C-B242084F865B}"/>
              </a:ext>
            </a:extLst>
          </p:cNvPr>
          <p:cNvSpPr/>
          <p:nvPr/>
        </p:nvSpPr>
        <p:spPr>
          <a:xfrm>
            <a:off x="146854" y="914400"/>
            <a:ext cx="11898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Свойства и методы класса (члены класса) могут быть </a:t>
            </a:r>
            <a:r>
              <a:rPr lang="ru-RU" b="1" dirty="0">
                <a:solidFill>
                  <a:srgbClr val="C00000"/>
                </a:solidFill>
              </a:rPr>
              <a:t>открытыми (public)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закрытыми (private)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привилегированными (privileged)</a:t>
            </a:r>
            <a:r>
              <a:rPr lang="ru-RU" b="1" dirty="0"/>
              <a:t> и </a:t>
            </a:r>
            <a:r>
              <a:rPr lang="ru-RU" b="1" dirty="0">
                <a:solidFill>
                  <a:srgbClr val="C00000"/>
                </a:solidFill>
              </a:rPr>
              <a:t>статическими (static)</a:t>
            </a:r>
            <a:r>
              <a:rPr lang="ru-RU" b="1" dirty="0"/>
              <a:t>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C43D97C-36EC-B756-D3DD-197AD7836793}"/>
              </a:ext>
            </a:extLst>
          </p:cNvPr>
          <p:cNvSpPr/>
          <p:nvPr/>
        </p:nvSpPr>
        <p:spPr>
          <a:xfrm>
            <a:off x="146854" y="1659971"/>
            <a:ext cx="5569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P</a:t>
            </a:r>
            <a:r>
              <a:rPr lang="ru-RU" sz="2800" b="1" dirty="0" err="1">
                <a:solidFill>
                  <a:srgbClr val="C00000"/>
                </a:solidFill>
              </a:rPr>
              <a:t>ublic</a:t>
            </a:r>
            <a:r>
              <a:rPr lang="ru-RU" b="1" dirty="0"/>
              <a:t> – читаются, удаляются, добавляются извне. 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4BC6470-D98D-727D-9FDF-BC5098A9A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45" y="2282431"/>
            <a:ext cx="5229955" cy="415348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286E799-DF1B-C3D9-CDC9-D73ABC870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825" y="2282432"/>
            <a:ext cx="6446319" cy="234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46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класса в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29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E0BA627-FE7B-6C86-582A-76AD2109450A}"/>
              </a:ext>
            </a:extLst>
          </p:cNvPr>
          <p:cNvSpPr/>
          <p:nvPr/>
        </p:nvSpPr>
        <p:spPr>
          <a:xfrm>
            <a:off x="146854" y="914400"/>
            <a:ext cx="11898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Свойства и методы класса (члены класса) могут быть </a:t>
            </a:r>
            <a:r>
              <a:rPr lang="ru-RU" b="1" dirty="0">
                <a:solidFill>
                  <a:srgbClr val="C00000"/>
                </a:solidFill>
              </a:rPr>
              <a:t>открытыми (public)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закрытыми (private)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привилегированными (privileged)</a:t>
            </a:r>
            <a:r>
              <a:rPr lang="ru-RU" b="1" dirty="0"/>
              <a:t> и </a:t>
            </a:r>
            <a:r>
              <a:rPr lang="ru-RU" b="1" dirty="0">
                <a:solidFill>
                  <a:srgbClr val="C00000"/>
                </a:solidFill>
              </a:rPr>
              <a:t>статическими (static)</a:t>
            </a:r>
            <a:r>
              <a:rPr lang="ru-RU" b="1" dirty="0"/>
              <a:t>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44AA87-2CC1-02B4-0A0C-AA9326BA2D21}"/>
              </a:ext>
            </a:extLst>
          </p:cNvPr>
          <p:cNvSpPr/>
          <p:nvPr/>
        </p:nvSpPr>
        <p:spPr>
          <a:xfrm>
            <a:off x="146854" y="1659971"/>
            <a:ext cx="114087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Private</a:t>
            </a:r>
            <a:r>
              <a:rPr lang="ru-RU" b="1" dirty="0"/>
              <a:t> – недоступны извне. Описываются в функции-конструкторе класса и создаются при инициализации. 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7E4F2E-6FD1-2927-EC34-66CBD800B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17" y="2282431"/>
            <a:ext cx="3896269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60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класса в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30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972A73A-2A68-299E-369E-48EC15F57FA9}"/>
              </a:ext>
            </a:extLst>
          </p:cNvPr>
          <p:cNvSpPr/>
          <p:nvPr/>
        </p:nvSpPr>
        <p:spPr>
          <a:xfrm>
            <a:off x="146854" y="914400"/>
            <a:ext cx="11898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Свойства и методы класса (члены класса) могут быть </a:t>
            </a:r>
            <a:r>
              <a:rPr lang="ru-RU" b="1" dirty="0">
                <a:solidFill>
                  <a:srgbClr val="C00000"/>
                </a:solidFill>
              </a:rPr>
              <a:t>открытыми (public)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закрытыми (private)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привилегированными (privileged)</a:t>
            </a:r>
            <a:r>
              <a:rPr lang="ru-RU" b="1" dirty="0"/>
              <a:t> и </a:t>
            </a:r>
            <a:r>
              <a:rPr lang="ru-RU" b="1" dirty="0">
                <a:solidFill>
                  <a:srgbClr val="C00000"/>
                </a:solidFill>
              </a:rPr>
              <a:t>статическими (static)</a:t>
            </a:r>
            <a:r>
              <a:rPr lang="ru-RU" b="1" dirty="0"/>
              <a:t>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AFE637-6690-C8A7-2C06-70338539E3EA}"/>
              </a:ext>
            </a:extLst>
          </p:cNvPr>
          <p:cNvSpPr/>
          <p:nvPr/>
        </p:nvSpPr>
        <p:spPr>
          <a:xfrm>
            <a:off x="146854" y="1659971"/>
            <a:ext cx="105616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Privileged</a:t>
            </a:r>
            <a:r>
              <a:rPr lang="ru-RU" b="1" dirty="0"/>
              <a:t> – доступ к закрытым свойствам и методам, доступ к открытым методам, доступ извне. 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144FB1-AFC1-3498-2112-E68F7D2F094D}"/>
              </a:ext>
            </a:extLst>
          </p:cNvPr>
          <p:cNvSpPr/>
          <p:nvPr/>
        </p:nvSpPr>
        <p:spPr>
          <a:xfrm>
            <a:off x="7375161" y="2572749"/>
            <a:ext cx="2722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var o = new Class('12345');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61AD29C-4D24-0B85-2AC1-472DC9B7D663}"/>
              </a:ext>
            </a:extLst>
          </p:cNvPr>
          <p:cNvSpPr/>
          <p:nvPr/>
        </p:nvSpPr>
        <p:spPr>
          <a:xfrm>
            <a:off x="7375161" y="3096189"/>
            <a:ext cx="47117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console.log</a:t>
            </a:r>
            <a:r>
              <a:rPr lang="ru-RU" b="1" dirty="0"/>
              <a:t>(</a:t>
            </a:r>
            <a:r>
              <a:rPr lang="ru-RU" b="1" dirty="0" err="1"/>
              <a:t>o.tellSecret</a:t>
            </a:r>
            <a:r>
              <a:rPr lang="ru-RU" b="1" dirty="0"/>
              <a:t>()); // выводит '12345'</a:t>
            </a:r>
          </a:p>
          <a:p>
            <a:r>
              <a:rPr lang="en-US" b="1" dirty="0"/>
              <a:t>console.log</a:t>
            </a:r>
            <a:r>
              <a:rPr lang="ru-RU" b="1" dirty="0"/>
              <a:t>(</a:t>
            </a:r>
            <a:r>
              <a:rPr lang="ru-RU" b="1" dirty="0" err="1"/>
              <a:t>o.tellSecret</a:t>
            </a:r>
            <a:r>
              <a:rPr lang="ru-RU" b="1" dirty="0"/>
              <a:t>()); // выводит '12345'</a:t>
            </a:r>
          </a:p>
          <a:p>
            <a:r>
              <a:rPr lang="en-US" b="1" dirty="0"/>
              <a:t>console.log</a:t>
            </a:r>
            <a:r>
              <a:rPr lang="ru-RU" b="1" dirty="0"/>
              <a:t>(</a:t>
            </a:r>
            <a:r>
              <a:rPr lang="ru-RU" b="1" dirty="0" err="1"/>
              <a:t>o.tellSecret</a:t>
            </a:r>
            <a:r>
              <a:rPr lang="ru-RU" b="1" dirty="0"/>
              <a:t>()); // выводит '12345'</a:t>
            </a:r>
          </a:p>
          <a:p>
            <a:r>
              <a:rPr lang="en-US" b="1" dirty="0"/>
              <a:t>console.log</a:t>
            </a:r>
            <a:r>
              <a:rPr lang="ru-RU" b="1" dirty="0"/>
              <a:t>(</a:t>
            </a:r>
            <a:r>
              <a:rPr lang="ru-RU" b="1" dirty="0" err="1"/>
              <a:t>o.tellSecret</a:t>
            </a:r>
            <a:r>
              <a:rPr lang="ru-RU" b="1" dirty="0"/>
              <a:t>()); // выводит null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AF9A549-D0CA-4F31-B382-631B60704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61" y="2282431"/>
            <a:ext cx="6953024" cy="266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166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класса в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31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DB0758F-6E4E-4B0D-B83B-ED9F5F2048D1}"/>
              </a:ext>
            </a:extLst>
          </p:cNvPr>
          <p:cNvSpPr/>
          <p:nvPr/>
        </p:nvSpPr>
        <p:spPr>
          <a:xfrm>
            <a:off x="146854" y="838200"/>
            <a:ext cx="11898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Свойства и методы класса (члены класса) могут быть </a:t>
            </a:r>
            <a:r>
              <a:rPr lang="ru-RU" b="1" dirty="0">
                <a:solidFill>
                  <a:srgbClr val="C00000"/>
                </a:solidFill>
              </a:rPr>
              <a:t>открытыми (public)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закрытыми (private)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привилегированными (privileged)</a:t>
            </a:r>
            <a:r>
              <a:rPr lang="ru-RU" b="1" dirty="0"/>
              <a:t> и </a:t>
            </a:r>
            <a:r>
              <a:rPr lang="ru-RU" b="1" dirty="0">
                <a:solidFill>
                  <a:srgbClr val="C00000"/>
                </a:solidFill>
              </a:rPr>
              <a:t>статическими (static)</a:t>
            </a:r>
            <a:r>
              <a:rPr lang="ru-RU" b="1" dirty="0"/>
              <a:t>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832D51-E673-9306-38D6-05621CC162DE}"/>
              </a:ext>
            </a:extLst>
          </p:cNvPr>
          <p:cNvSpPr/>
          <p:nvPr/>
        </p:nvSpPr>
        <p:spPr>
          <a:xfrm>
            <a:off x="146854" y="1583771"/>
            <a:ext cx="6951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Static</a:t>
            </a:r>
            <a:r>
              <a:rPr lang="ru-RU" b="1" dirty="0"/>
              <a:t> – методы, привязанные к функции-конструктору (классу). 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C2590D1-D2BE-DC48-9051-31109E0BD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32" y="2106991"/>
            <a:ext cx="7864848" cy="465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526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Замыкание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32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88F3D7E-FED7-7DC9-FE50-A80AF918B350}"/>
              </a:ext>
            </a:extLst>
          </p:cNvPr>
          <p:cNvSpPr/>
          <p:nvPr/>
        </p:nvSpPr>
        <p:spPr>
          <a:xfrm>
            <a:off x="296759" y="914400"/>
            <a:ext cx="11532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Закрытые и привилегированные методы возможны благодаря замыканию (</a:t>
            </a:r>
            <a:r>
              <a:rPr lang="ru-RU" sz="2400" b="1" dirty="0" err="1">
                <a:solidFill>
                  <a:srgbClr val="C00000"/>
                </a:solidFill>
              </a:rPr>
              <a:t>closure</a:t>
            </a:r>
            <a:r>
              <a:rPr lang="ru-RU" sz="24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4ADC758-BFDF-EE13-CE07-61FE73D606B8}"/>
              </a:ext>
            </a:extLst>
          </p:cNvPr>
          <p:cNvSpPr/>
          <p:nvPr/>
        </p:nvSpPr>
        <p:spPr>
          <a:xfrm>
            <a:off x="1105312" y="1551012"/>
            <a:ext cx="97212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Замыкание — это функция, плюс все те лексические переменные из охватывающего контекста, которые она использует.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B9D71B7-8B01-0507-0539-A388DE4B5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57" y="2460966"/>
            <a:ext cx="6963747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75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Инкапсуляция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33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8B9F8C-03AC-8003-94AC-3DFC431B4123}"/>
              </a:ext>
            </a:extLst>
          </p:cNvPr>
          <p:cNvSpPr/>
          <p:nvPr/>
        </p:nvSpPr>
        <p:spPr>
          <a:xfrm>
            <a:off x="143973" y="838200"/>
            <a:ext cx="119229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C00000"/>
                </a:solidFill>
              </a:rPr>
              <a:t>Инкапсуляция</a:t>
            </a:r>
            <a:r>
              <a:rPr lang="ru-RU" b="1" dirty="0"/>
              <a:t> является одним из ключевых понятий объектно-ориентированного программирования и представляет сокрытие состояния объекта от прямого доступа извне.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696E5B-598B-5BB9-0A46-7C18E45A194D}"/>
              </a:ext>
            </a:extLst>
          </p:cNvPr>
          <p:cNvSpPr/>
          <p:nvPr/>
        </p:nvSpPr>
        <p:spPr>
          <a:xfrm>
            <a:off x="1795302" y="1390018"/>
            <a:ext cx="91348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В </a:t>
            </a:r>
            <a:r>
              <a:rPr lang="en-US" sz="2800" b="1" dirty="0">
                <a:solidFill>
                  <a:srgbClr val="C00000"/>
                </a:solidFill>
              </a:rPr>
              <a:t>JavaScript </a:t>
            </a:r>
            <a:r>
              <a:rPr lang="ru-RU" sz="2800" b="1" dirty="0">
                <a:solidFill>
                  <a:srgbClr val="C00000"/>
                </a:solidFill>
              </a:rPr>
              <a:t>инкапсуляция – это реализация приватности.</a:t>
            </a:r>
            <a:endParaRPr lang="ru-RU" sz="2800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60C6292-D07A-1743-78F2-87832E8D3FDD}"/>
              </a:ext>
            </a:extLst>
          </p:cNvPr>
          <p:cNvSpPr/>
          <p:nvPr/>
        </p:nvSpPr>
        <p:spPr>
          <a:xfrm>
            <a:off x="4842718" y="1994288"/>
            <a:ext cx="722424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function User (name, age) {</a:t>
            </a:r>
          </a:p>
          <a:p>
            <a:r>
              <a:rPr lang="ru-RU" b="1" dirty="0"/>
              <a:t>    this.name = name;</a:t>
            </a:r>
          </a:p>
          <a:p>
            <a:r>
              <a:rPr lang="ru-RU" b="1" dirty="0"/>
              <a:t>    var _age = age;</a:t>
            </a:r>
          </a:p>
          <a:p>
            <a:r>
              <a:rPr lang="ru-RU" b="1" dirty="0"/>
              <a:t>    this.displayInfo = function(){</a:t>
            </a:r>
            <a:r>
              <a:rPr lang="en-US" b="1" dirty="0"/>
              <a:t> console.log(</a:t>
            </a:r>
            <a:r>
              <a:rPr lang="ru-RU" b="1" dirty="0"/>
              <a:t>this.name + : " + _age);</a:t>
            </a:r>
          </a:p>
          <a:p>
            <a:r>
              <a:rPr lang="ru-RU" b="1" dirty="0"/>
              <a:t>    };</a:t>
            </a:r>
          </a:p>
          <a:p>
            <a:r>
              <a:rPr lang="ru-RU" b="1" dirty="0"/>
              <a:t>    </a:t>
            </a:r>
            <a:r>
              <a:rPr lang="ru-RU" b="1" dirty="0" err="1"/>
              <a:t>this.getAge</a:t>
            </a:r>
            <a:r>
              <a:rPr lang="ru-RU" b="1" dirty="0"/>
              <a:t> = function() {</a:t>
            </a:r>
            <a:r>
              <a:rPr lang="en-US" b="1" dirty="0"/>
              <a:t> </a:t>
            </a:r>
            <a:r>
              <a:rPr lang="ru-RU" b="1" dirty="0"/>
              <a:t>return _age;</a:t>
            </a:r>
            <a:r>
              <a:rPr lang="en-US" b="1" dirty="0"/>
              <a:t> </a:t>
            </a:r>
            <a:r>
              <a:rPr lang="ru-RU" b="1" dirty="0"/>
              <a:t>}</a:t>
            </a:r>
          </a:p>
          <a:p>
            <a:r>
              <a:rPr lang="ru-RU" b="1" dirty="0"/>
              <a:t>    </a:t>
            </a:r>
            <a:r>
              <a:rPr lang="ru-RU" b="1" dirty="0" err="1"/>
              <a:t>this.setAge</a:t>
            </a:r>
            <a:r>
              <a:rPr lang="ru-RU" b="1" dirty="0"/>
              <a:t> = function(age) {</a:t>
            </a:r>
          </a:p>
          <a:p>
            <a:r>
              <a:rPr lang="ru-RU" b="1" dirty="0"/>
              <a:t>        if(typeof age === "number" &amp;&amp; age &gt;0 &amp;&amp; age&lt;110){</a:t>
            </a:r>
            <a:r>
              <a:rPr lang="en-US" b="1" dirty="0"/>
              <a:t> </a:t>
            </a:r>
            <a:r>
              <a:rPr lang="ru-RU" b="1" dirty="0"/>
              <a:t>_age = age;</a:t>
            </a:r>
          </a:p>
          <a:p>
            <a:r>
              <a:rPr lang="ru-RU" b="1" dirty="0"/>
              <a:t>        } else {</a:t>
            </a:r>
            <a:r>
              <a:rPr lang="en-US" b="1" dirty="0"/>
              <a:t> </a:t>
            </a:r>
            <a:r>
              <a:rPr lang="ru-RU" b="1" dirty="0"/>
              <a:t>console.log("Недопустимое значение");</a:t>
            </a:r>
            <a:r>
              <a:rPr lang="en-US" b="1" dirty="0"/>
              <a:t> </a:t>
            </a:r>
            <a:r>
              <a:rPr lang="ru-RU" b="1" dirty="0"/>
              <a:t>}</a:t>
            </a:r>
          </a:p>
          <a:p>
            <a:r>
              <a:rPr lang="ru-RU" b="1" dirty="0"/>
              <a:t>    }</a:t>
            </a:r>
          </a:p>
          <a:p>
            <a:r>
              <a:rPr lang="ru-RU" b="1" dirty="0"/>
              <a:t>}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EEE114-9307-6ECC-8BB8-12FD82E38113}"/>
              </a:ext>
            </a:extLst>
          </p:cNvPr>
          <p:cNvSpPr/>
          <p:nvPr/>
        </p:nvSpPr>
        <p:spPr>
          <a:xfrm>
            <a:off x="4834110" y="5068673"/>
            <a:ext cx="7377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var tom = new User("Том", 26);</a:t>
            </a:r>
          </a:p>
          <a:p>
            <a:r>
              <a:rPr lang="ru-RU" b="1" dirty="0"/>
              <a:t>console.log(</a:t>
            </a:r>
            <a:r>
              <a:rPr lang="ru-RU" b="1" dirty="0" err="1"/>
              <a:t>tom</a:t>
            </a:r>
            <a:r>
              <a:rPr lang="ru-RU" b="1" dirty="0"/>
              <a:t>._age); // undefined - _age - локальная переменная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4CBE59-5CE3-F576-EDDD-3A29558AC277}"/>
              </a:ext>
            </a:extLst>
          </p:cNvPr>
          <p:cNvSpPr/>
          <p:nvPr/>
        </p:nvSpPr>
        <p:spPr>
          <a:xfrm>
            <a:off x="125039" y="5150335"/>
            <a:ext cx="40187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Реализация добавлением локальных переменных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164CFA1-ED1E-A0E2-B665-30AC3D9D4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9" y="1972273"/>
            <a:ext cx="4705235" cy="29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85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Инкапсуляция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34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E5645AF-B835-37F0-614B-7ED3B1A973C4}"/>
              </a:ext>
            </a:extLst>
          </p:cNvPr>
          <p:cNvSpPr/>
          <p:nvPr/>
        </p:nvSpPr>
        <p:spPr>
          <a:xfrm>
            <a:off x="304800" y="914400"/>
            <a:ext cx="73809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Реализация на основе замыкания.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F2B4FB-6119-6E77-4F1E-1FB8165F0848}"/>
              </a:ext>
            </a:extLst>
          </p:cNvPr>
          <p:cNvSpPr/>
          <p:nvPr/>
        </p:nvSpPr>
        <p:spPr>
          <a:xfrm>
            <a:off x="2642215" y="5037991"/>
            <a:ext cx="31062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обёртка над кодом в виде самовызывающейся анонимной функции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178643D-12B4-F249-9BBA-F4EC09DFF21D}"/>
              </a:ext>
            </a:extLst>
          </p:cNvPr>
          <p:cNvSpPr/>
          <p:nvPr/>
        </p:nvSpPr>
        <p:spPr>
          <a:xfrm>
            <a:off x="5426936" y="5096329"/>
            <a:ext cx="6431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&gt;&gt;</a:t>
            </a:r>
            <a:endParaRPr lang="ru-RU" sz="36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77725E5-544A-341B-167C-CC3FF3574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65" y="1435720"/>
            <a:ext cx="4782217" cy="360095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5E5BF48-7996-E43C-5D99-9C43067C4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020" y="1435720"/>
            <a:ext cx="5724288" cy="418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93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Наследование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35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EA82973-0470-661E-E6D7-01B6D7A68380}"/>
              </a:ext>
            </a:extLst>
          </p:cNvPr>
          <p:cNvSpPr/>
          <p:nvPr/>
        </p:nvSpPr>
        <p:spPr>
          <a:xfrm>
            <a:off x="158278" y="762000"/>
            <a:ext cx="11875443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Для </a:t>
            </a:r>
            <a:r>
              <a:rPr lang="ru-RU" b="1" dirty="0">
                <a:solidFill>
                  <a:srgbClr val="C00000"/>
                </a:solidFill>
              </a:rPr>
              <a:t>наследования</a:t>
            </a:r>
            <a:r>
              <a:rPr lang="ru-RU" b="1" dirty="0"/>
              <a:t> класса от другого класса используется оператор </a:t>
            </a:r>
            <a:r>
              <a:rPr lang="ru-RU" sz="2800" b="1" dirty="0">
                <a:solidFill>
                  <a:srgbClr val="C00000"/>
                </a:solidFill>
              </a:rPr>
              <a:t>prototype</a:t>
            </a:r>
            <a:r>
              <a:rPr lang="ru-RU" b="1" dirty="0"/>
              <a:t>, чтобы клонировать конструктор родительского класса и при этом унаследовать его методы и свойства.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2E5A4C5-2B95-B2E4-473E-88B020966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53" y="1596984"/>
            <a:ext cx="6432360" cy="24471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2CA04B7-E5D1-0462-389A-54F1EBF3D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374" y="4128530"/>
            <a:ext cx="8113791" cy="264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97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Наследование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</a:rPr>
              <a:t>36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FFD382-7C7C-D4D1-E2CD-D80ADF025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08" y="940799"/>
            <a:ext cx="4591691" cy="219105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E824E8B-EB2C-E6CB-6EF1-7538FB250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08" y="4675499"/>
            <a:ext cx="5896798" cy="19719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229D771-BA17-6066-1FDB-648B68FAA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151" y="940799"/>
            <a:ext cx="6744641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68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Полиморфизм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37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C8AA5AF-D577-700F-E6E7-3071B6B69CC3}"/>
              </a:ext>
            </a:extLst>
          </p:cNvPr>
          <p:cNvSpPr/>
          <p:nvPr/>
        </p:nvSpPr>
        <p:spPr>
          <a:xfrm>
            <a:off x="2960962" y="746649"/>
            <a:ext cx="67397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полиморфизм отвечает за то, чей метод вызвать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D49F3D-7107-1DC2-7221-03DDB83C6F36}"/>
              </a:ext>
            </a:extLst>
          </p:cNvPr>
          <p:cNvSpPr/>
          <p:nvPr/>
        </p:nvSpPr>
        <p:spPr>
          <a:xfrm>
            <a:off x="304800" y="1251419"/>
            <a:ext cx="6096000" cy="32624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// Наш собственный конструктор</a:t>
            </a:r>
          </a:p>
          <a:p>
            <a:r>
              <a:rPr lang="ru-RU" b="1" dirty="0"/>
              <a:t>var Person = function(name) {</a:t>
            </a:r>
          </a:p>
          <a:p>
            <a:r>
              <a:rPr lang="ru-RU" b="1" dirty="0"/>
              <a:t>  this.name = name;</a:t>
            </a:r>
          </a:p>
          <a:p>
            <a:r>
              <a:rPr lang="ru-RU" b="1" dirty="0"/>
              <a:t>};</a:t>
            </a:r>
          </a:p>
          <a:p>
            <a:endParaRPr lang="ru-RU" b="1" dirty="0"/>
          </a:p>
          <a:p>
            <a:r>
              <a:rPr lang="ru-RU" b="1" dirty="0"/>
              <a:t>// Переназначение метода toString для всех объектов,</a:t>
            </a:r>
          </a:p>
          <a:p>
            <a:r>
              <a:rPr lang="ru-RU" b="1" dirty="0"/>
              <a:t>// созданных с помощью данного конструктора</a:t>
            </a:r>
          </a:p>
          <a:p>
            <a:r>
              <a:rPr lang="ru-RU" b="1" dirty="0"/>
              <a:t>Person.prototype.toString = function() {</a:t>
            </a:r>
          </a:p>
          <a:p>
            <a:r>
              <a:rPr lang="ru-RU" b="1" dirty="0"/>
              <a:t>  return 'Person ' + this.name;</a:t>
            </a:r>
          </a:p>
          <a:p>
            <a:r>
              <a:rPr lang="ru-RU" b="1" dirty="0"/>
              <a:t>};</a:t>
            </a:r>
          </a:p>
          <a:p>
            <a:endParaRPr lang="ru-RU" sz="800" b="1" dirty="0"/>
          </a:p>
          <a:p>
            <a:r>
              <a:rPr lang="ru-RU" b="1" dirty="0"/>
              <a:t>var </a:t>
            </a:r>
            <a:r>
              <a:rPr lang="ru-RU" b="1" dirty="0" err="1"/>
              <a:t>john</a:t>
            </a:r>
            <a:r>
              <a:rPr lang="ru-RU" b="1" dirty="0"/>
              <a:t> = new Person('</a:t>
            </a:r>
            <a:r>
              <a:rPr lang="ru-RU" b="1" dirty="0" err="1"/>
              <a:t>John</a:t>
            </a:r>
            <a:r>
              <a:rPr lang="ru-RU" b="1" dirty="0"/>
              <a:t>');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5A159FF-646B-FBDC-F102-4EA3AC809D25}"/>
              </a:ext>
            </a:extLst>
          </p:cNvPr>
          <p:cNvSpPr/>
          <p:nvPr/>
        </p:nvSpPr>
        <p:spPr>
          <a:xfrm>
            <a:off x="6229207" y="127444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// Два массива, второй абсолютно обычный, </a:t>
            </a:r>
          </a:p>
          <a:p>
            <a:r>
              <a:rPr lang="ru-RU" b="1" dirty="0"/>
              <a:t>// для первого переназначен метод toString</a:t>
            </a:r>
          </a:p>
          <a:p>
            <a:r>
              <a:rPr lang="ru-RU" b="1" dirty="0"/>
              <a:t>var arr1 = [4, 2];</a:t>
            </a:r>
          </a:p>
          <a:p>
            <a:r>
              <a:rPr lang="ru-RU" b="1" dirty="0"/>
              <a:t>var arr2 = [5, 3];</a:t>
            </a:r>
          </a:p>
          <a:p>
            <a:r>
              <a:rPr lang="ru-RU" b="1" dirty="0"/>
              <a:t>arr1.toString = function() {</a:t>
            </a:r>
          </a:p>
          <a:p>
            <a:r>
              <a:rPr lang="ru-RU" b="1" dirty="0"/>
              <a:t>  return 'Array ' + this.reduce(function(result, item) {</a:t>
            </a:r>
          </a:p>
          <a:p>
            <a:r>
              <a:rPr lang="ru-RU" b="1" dirty="0"/>
              <a:t>    return result + '' + item;</a:t>
            </a:r>
          </a:p>
          <a:p>
            <a:r>
              <a:rPr lang="ru-RU" b="1" dirty="0"/>
              <a:t>  });</a:t>
            </a:r>
          </a:p>
          <a:p>
            <a:r>
              <a:rPr lang="ru-RU" b="1" dirty="0"/>
              <a:t>};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EFDDFA2-66AA-29EF-A285-10729F70A94C}"/>
              </a:ext>
            </a:extLst>
          </p:cNvPr>
          <p:cNvSpPr/>
          <p:nvPr/>
        </p:nvSpPr>
        <p:spPr>
          <a:xfrm>
            <a:off x="6208464" y="4012407"/>
            <a:ext cx="54731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console.log(john.toString()); // Person </a:t>
            </a:r>
            <a:r>
              <a:rPr lang="ru-RU" b="1" dirty="0" err="1"/>
              <a:t>John</a:t>
            </a:r>
            <a:endParaRPr lang="ru-RU" b="1" dirty="0"/>
          </a:p>
          <a:p>
            <a:r>
              <a:rPr lang="ru-RU" b="1" dirty="0"/>
              <a:t>console.log(arr1.toString()); // Array 42</a:t>
            </a:r>
          </a:p>
          <a:p>
            <a:r>
              <a:rPr lang="ru-RU" b="1" dirty="0"/>
              <a:t>console.log(arr2.toString()); // 5,3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5E5D3A-464F-FB43-AF93-50B28FA82F37}"/>
              </a:ext>
            </a:extLst>
          </p:cNvPr>
          <p:cNvSpPr/>
          <p:nvPr/>
        </p:nvSpPr>
        <p:spPr>
          <a:xfrm>
            <a:off x="219004" y="460117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Метод reduce() выполняет функцию callback один раз для каждого элемента, присутствующего в массиве</a:t>
            </a:r>
            <a:r>
              <a:rPr lang="en-US" b="1" dirty="0">
                <a:solidFill>
                  <a:srgbClr val="C00000"/>
                </a:solidFill>
              </a:rPr>
              <a:t>.</a:t>
            </a:r>
            <a:endParaRPr lang="ru-RU" b="1" dirty="0">
              <a:solidFill>
                <a:srgbClr val="C00000"/>
              </a:solidFill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E69C482-72E6-2140-E9CE-E091A1DDDD8F}"/>
              </a:ext>
            </a:extLst>
          </p:cNvPr>
          <p:cNvCxnSpPr>
            <a:cxnSpLocks/>
          </p:cNvCxnSpPr>
          <p:nvPr/>
        </p:nvCxnSpPr>
        <p:spPr>
          <a:xfrm flipV="1">
            <a:off x="5029200" y="2959580"/>
            <a:ext cx="3332482" cy="1630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7844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Литература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34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7A2305B-E507-4860-360B-960BCBE978E5}"/>
              </a:ext>
            </a:extLst>
          </p:cNvPr>
          <p:cNvSpPr/>
          <p:nvPr/>
        </p:nvSpPr>
        <p:spPr>
          <a:xfrm>
            <a:off x="239968" y="718809"/>
            <a:ext cx="11712063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Интернет-ресурсы: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Современный учебник по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 Script</a:t>
            </a:r>
            <a:r>
              <a:rPr lang="ru-RU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u="sng" dirty="0">
                <a:solidFill>
                  <a:srgbClr val="C00000"/>
                </a:solidFill>
                <a:hlinkClick r:id="rId4"/>
              </a:rPr>
              <a:t>https://learn.javascript.ru/books</a:t>
            </a:r>
            <a:endParaRPr lang="ru-RU" u="sng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Выразительный </a:t>
            </a:r>
            <a:r>
              <a:rPr lang="en-US" dirty="0"/>
              <a:t>JavaScript</a:t>
            </a:r>
            <a:r>
              <a:rPr lang="ru-RU" dirty="0"/>
              <a:t> - </a:t>
            </a:r>
            <a:r>
              <a:rPr lang="ru-RU" u="sng" dirty="0">
                <a:hlinkClick r:id="rId5"/>
              </a:rPr>
              <a:t>https://www.gitbook.com/book/karmazzin/eloquentjavascript_ru/details</a:t>
            </a:r>
            <a:endParaRPr lang="ru-RU" u="sng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Ресурс с кратким изложением основ - </a:t>
            </a:r>
            <a:r>
              <a:rPr lang="ru-RU" u="sng" dirty="0">
                <a:hlinkClick r:id="rId6"/>
              </a:rPr>
              <a:t>http://bonsaiden.github.io/JavaScript-Garden/ru/</a:t>
            </a:r>
            <a:endParaRPr lang="ru-RU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sz="800" dirty="0"/>
          </a:p>
          <a:p>
            <a:pPr>
              <a:lnSpc>
                <a:spcPct val="150000"/>
              </a:lnSpc>
            </a:pPr>
            <a:r>
              <a:rPr lang="ru-RU" b="1" dirty="0"/>
              <a:t>Печатные издания: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/>
              <a:t>Закас Н. </a:t>
            </a:r>
            <a:r>
              <a:rPr lang="en-US" dirty="0"/>
              <a:t>JavaScript </a:t>
            </a:r>
            <a:r>
              <a:rPr lang="ru-RU" dirty="0"/>
              <a:t>для профессиональных веб-разработчиков / (Пер. с англ. А. Лютича). – СПб.: Питер, 2015. – 960с.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/>
              <a:t>Флэнаган Д. </a:t>
            </a:r>
            <a:r>
              <a:rPr lang="en-US" dirty="0"/>
              <a:t>JavaScript</a:t>
            </a:r>
            <a:r>
              <a:rPr lang="ru-RU" dirty="0"/>
              <a:t>. Подробное руководство, 6-е издание. – Пер. с англ. – СПб: Символ-Плюс, 2012. – 1080 с., ил.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/>
              <a:t>Васильев А.Н. </a:t>
            </a:r>
            <a:r>
              <a:rPr lang="en-US" dirty="0"/>
              <a:t>JavaScript </a:t>
            </a:r>
            <a:r>
              <a:rPr lang="ru-RU" dirty="0"/>
              <a:t>в примерах и задачах. / Алексей Васильев. – М.: Издательство «Э», 2017. – 720 с.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/>
              <a:t>Дакетт, Джон. </a:t>
            </a:r>
            <a:r>
              <a:rPr lang="en-US" dirty="0"/>
              <a:t>JavaScript </a:t>
            </a:r>
            <a:r>
              <a:rPr lang="ru-RU" dirty="0"/>
              <a:t>и </a:t>
            </a:r>
            <a:r>
              <a:rPr lang="en-US" dirty="0"/>
              <a:t>jQuery</a:t>
            </a:r>
            <a:r>
              <a:rPr lang="ru-RU" dirty="0"/>
              <a:t>. Интерактивная веб-разработка / Джон Дакетт ; (пер. с англ. М.А. Райтмана). – М.: Издательство «Э»217. – 640 с.</a:t>
            </a:r>
          </a:p>
        </p:txBody>
      </p:sp>
    </p:spTree>
    <p:extLst>
      <p:ext uri="{BB962C8B-B14F-4D97-AF65-F5344CB8AC3E}">
        <p14:creationId xmlns:p14="http://schemas.microsoft.com/office/powerpoint/2010/main" val="3322630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3382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ИНФ_ТИХН" id="{2EBA96BF-A8A3-43A8-9614-A6A41BE6A38F}" vid="{90ED81AE-57FA-4E68-9BAD-13C5A182DEE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Шаблон_инф._технологии</Template>
  <TotalTime>2421</TotalTime>
  <Words>3912</Words>
  <Application>Microsoft Office PowerPoint</Application>
  <PresentationFormat>Широкоэкранный</PresentationFormat>
  <Paragraphs>519</Paragraphs>
  <Slides>39</Slides>
  <Notes>39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-apple-system</vt:lpstr>
      <vt:lpstr>Arial</vt:lpstr>
      <vt:lpstr>Calibri</vt:lpstr>
      <vt:lpstr>Calibri Light</vt:lpstr>
      <vt:lpstr>Sansation</vt:lpstr>
      <vt:lpstr>ui-monospace</vt:lpstr>
      <vt:lpstr>Тема Office</vt:lpstr>
      <vt:lpstr>Презентация PowerPoint</vt:lpstr>
      <vt:lpstr>Понятие объекта</vt:lpstr>
      <vt:lpstr>Создание объектов</vt:lpstr>
      <vt:lpstr>Свойства и методы объектов</vt:lpstr>
      <vt:lpstr>Ограничения на ключи объектов</vt:lpstr>
      <vt:lpstr>Пример</vt:lpstr>
      <vt:lpstr>Добавление элементов в объекты</vt:lpstr>
      <vt:lpstr>Массив ключей</vt:lpstr>
      <vt:lpstr>Свойства и методы объектов</vt:lpstr>
      <vt:lpstr>Свойства и методы объектов</vt:lpstr>
      <vt:lpstr>Вычисляемые свойства</vt:lpstr>
      <vt:lpstr>Оператор in</vt:lpstr>
      <vt:lpstr>Оператор delete</vt:lpstr>
      <vt:lpstr>Пример</vt:lpstr>
      <vt:lpstr>Свойства и методы объектов</vt:lpstr>
      <vt:lpstr>Свойства и методы объектов</vt:lpstr>
      <vt:lpstr>Геттеры и сеттеры</vt:lpstr>
      <vt:lpstr>Сериализация объектов</vt:lpstr>
      <vt:lpstr>Особенности определения объектов в JavaScript</vt:lpstr>
      <vt:lpstr>Особенности определения объектов в JavaScript</vt:lpstr>
      <vt:lpstr>Особенности определения объектов в JavaScript</vt:lpstr>
      <vt:lpstr>Особенности определения объектов в JavaScript</vt:lpstr>
      <vt:lpstr>Атрибуты объекта PROTOTYPE, CLASS, EXTENSIBLE</vt:lpstr>
      <vt:lpstr>Атрибуты объекта PROTOTYPE, CLASS, EXTENSIBLE</vt:lpstr>
      <vt:lpstr>Атрибуты объекта PROTOTYPE, CLASS, EXTENSIBLE</vt:lpstr>
      <vt:lpstr>Понятие класса в JavaScript</vt:lpstr>
      <vt:lpstr>Понятие класса в JavaScript</vt:lpstr>
      <vt:lpstr>Понятие класса в JavaScript</vt:lpstr>
      <vt:lpstr>Понятие класса в JavaScript</vt:lpstr>
      <vt:lpstr>Понятие класса в JavaScript</vt:lpstr>
      <vt:lpstr>Понятие класса в JavaScript</vt:lpstr>
      <vt:lpstr>Замыкание</vt:lpstr>
      <vt:lpstr>Инкапсуляция</vt:lpstr>
      <vt:lpstr>Инкапсуляция</vt:lpstr>
      <vt:lpstr>Наследование</vt:lpstr>
      <vt:lpstr>Наследование</vt:lpstr>
      <vt:lpstr>Полиморфизм</vt:lpstr>
      <vt:lpstr>Литература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ЗАНЯТИЯ</dc:title>
  <dc:creator>Сергей Чесноков</dc:creator>
  <cp:lastModifiedBy>Сергей Чесноков</cp:lastModifiedBy>
  <cp:revision>120</cp:revision>
  <dcterms:created xsi:type="dcterms:W3CDTF">2020-11-24T10:07:48Z</dcterms:created>
  <dcterms:modified xsi:type="dcterms:W3CDTF">2025-11-14T10:29:28Z</dcterms:modified>
</cp:coreProperties>
</file>