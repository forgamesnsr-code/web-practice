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309" r:id="rId3"/>
    <p:sldId id="311" r:id="rId4"/>
    <p:sldId id="310" r:id="rId5"/>
    <p:sldId id="312" r:id="rId6"/>
    <p:sldId id="315" r:id="rId7"/>
    <p:sldId id="314" r:id="rId8"/>
    <p:sldId id="316" r:id="rId9"/>
    <p:sldId id="313" r:id="rId10"/>
    <p:sldId id="317" r:id="rId11"/>
    <p:sldId id="318" r:id="rId12"/>
    <p:sldId id="319" r:id="rId13"/>
    <p:sldId id="320" r:id="rId14"/>
    <p:sldId id="321" r:id="rId15"/>
    <p:sldId id="357" r:id="rId16"/>
    <p:sldId id="359" r:id="rId17"/>
    <p:sldId id="360" r:id="rId18"/>
    <p:sldId id="361" r:id="rId19"/>
    <p:sldId id="362" r:id="rId20"/>
    <p:sldId id="282" r:id="rId21"/>
    <p:sldId id="283" r:id="rId22"/>
    <p:sldId id="284" r:id="rId23"/>
    <p:sldId id="285" r:id="rId24"/>
    <p:sldId id="286" r:id="rId25"/>
    <p:sldId id="347" r:id="rId26"/>
    <p:sldId id="345" r:id="rId27"/>
    <p:sldId id="288" r:id="rId28"/>
    <p:sldId id="289" r:id="rId29"/>
    <p:sldId id="290" r:id="rId30"/>
    <p:sldId id="291" r:id="rId31"/>
    <p:sldId id="287" r:id="rId32"/>
    <p:sldId id="346" r:id="rId33"/>
    <p:sldId id="348" r:id="rId34"/>
    <p:sldId id="349" r:id="rId35"/>
    <p:sldId id="350" r:id="rId36"/>
    <p:sldId id="351" r:id="rId37"/>
    <p:sldId id="352" r:id="rId38"/>
    <p:sldId id="353" r:id="rId39"/>
    <p:sldId id="354" r:id="rId40"/>
    <p:sldId id="355" r:id="rId41"/>
    <p:sldId id="356" r:id="rId42"/>
    <p:sldId id="323" r:id="rId43"/>
    <p:sldId id="324" r:id="rId44"/>
    <p:sldId id="322" r:id="rId45"/>
    <p:sldId id="325" r:id="rId46"/>
    <p:sldId id="292" r:id="rId47"/>
    <p:sldId id="293" r:id="rId48"/>
    <p:sldId id="294" r:id="rId49"/>
    <p:sldId id="295" r:id="rId50"/>
    <p:sldId id="296" r:id="rId51"/>
    <p:sldId id="326" r:id="rId52"/>
    <p:sldId id="343" r:id="rId53"/>
    <p:sldId id="344" r:id="rId5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BE3E3519-4C17-455B-B73A-96115BB97D77}">
          <p14:sldIdLst>
            <p14:sldId id="256"/>
          </p14:sldIdLst>
        </p14:section>
        <p14:section name="Массивы" id="{23B271F5-55DA-4DBF-8401-DDDC55A33AB7}">
          <p14:sldIdLst>
            <p14:sldId id="309"/>
            <p14:sldId id="311"/>
            <p14:sldId id="310"/>
            <p14:sldId id="312"/>
            <p14:sldId id="315"/>
            <p14:sldId id="314"/>
            <p14:sldId id="316"/>
            <p14:sldId id="313"/>
            <p14:sldId id="317"/>
            <p14:sldId id="318"/>
            <p14:sldId id="319"/>
            <p14:sldId id="320"/>
            <p14:sldId id="321"/>
          </p14:sldIdLst>
        </p14:section>
        <p14:section name="Деструктуризация массива" id="{42FBE788-83A2-43B9-A118-07374E5797CB}">
          <p14:sldIdLst>
            <p14:sldId id="357"/>
            <p14:sldId id="359"/>
            <p14:sldId id="360"/>
            <p14:sldId id="361"/>
            <p14:sldId id="362"/>
          </p14:sldIdLst>
        </p14:section>
        <p14:section name="Понятие функции в JS" id="{7DE640BA-CB77-48B0-96D8-A1A106210D28}">
          <p14:sldIdLst>
            <p14:sldId id="282"/>
            <p14:sldId id="283"/>
            <p14:sldId id="284"/>
            <p14:sldId id="285"/>
            <p14:sldId id="286"/>
            <p14:sldId id="347"/>
          </p14:sldIdLst>
        </p14:section>
        <p14:section name="Пользовательские функции" id="{27F839E8-FEA9-438A-BE65-057829ADB518}">
          <p14:sldIdLst>
            <p14:sldId id="345"/>
            <p14:sldId id="288"/>
            <p14:sldId id="289"/>
            <p14:sldId id="290"/>
            <p14:sldId id="291"/>
            <p14:sldId id="287"/>
            <p14:sldId id="346"/>
            <p14:sldId id="348"/>
            <p14:sldId id="349"/>
          </p14:sldIdLst>
        </p14:section>
        <p14:section name="Замыкания" id="{E372E719-436B-4A22-B22D-51E68D936F9E}">
          <p14:sldIdLst>
            <p14:sldId id="350"/>
            <p14:sldId id="351"/>
            <p14:sldId id="352"/>
            <p14:sldId id="353"/>
            <p14:sldId id="354"/>
            <p14:sldId id="355"/>
            <p14:sldId id="356"/>
            <p14:sldId id="323"/>
            <p14:sldId id="324"/>
            <p14:sldId id="322"/>
            <p14:sldId id="325"/>
            <p14:sldId id="292"/>
            <p14:sldId id="293"/>
            <p14:sldId id="294"/>
            <p14:sldId id="295"/>
            <p14:sldId id="296"/>
            <p14:sldId id="326"/>
            <p14:sldId id="343"/>
            <p14:sldId id="3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90C"/>
    <a:srgbClr val="1054B0"/>
    <a:srgbClr val="16BE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92" autoAdjust="0"/>
    <p:restoredTop sz="80408" autoAdjust="0"/>
  </p:normalViewPr>
  <p:slideViewPr>
    <p:cSldViewPr snapToGrid="0">
      <p:cViewPr varScale="1">
        <p:scale>
          <a:sx n="66" d="100"/>
          <a:sy n="66" d="100"/>
        </p:scale>
        <p:origin x="109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91667A-CD68-4A4A-8351-BB4BF584E846}" type="datetimeFigureOut">
              <a:rPr lang="ru-RU" smtClean="0"/>
              <a:t>14.11.2025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EBD1D-8FAA-4097-A84C-B41C92EFAAB1}" type="slidenum">
              <a:rPr lang="ru-RU" smtClean="0"/>
              <a:t>‹#›</a:t>
            </a:fld>
            <a:endParaRPr lang="ru-RU"/>
          </a:p>
        </p:txBody>
      </p:sp>
    </p:spTree>
    <p:extLst>
      <p:ext uri="{BB962C8B-B14F-4D97-AF65-F5344CB8AC3E}">
        <p14:creationId xmlns:p14="http://schemas.microsoft.com/office/powerpoint/2010/main" val="362211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a:t>
            </a:fld>
            <a:endParaRPr lang="ru-RU"/>
          </a:p>
        </p:txBody>
      </p:sp>
    </p:spTree>
    <p:extLst>
      <p:ext uri="{BB962C8B-B14F-4D97-AF65-F5344CB8AC3E}">
        <p14:creationId xmlns:p14="http://schemas.microsoft.com/office/powerpoint/2010/main" val="588490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a:t>
            </a:fld>
            <a:endParaRPr lang="ru-RU"/>
          </a:p>
        </p:txBody>
      </p:sp>
    </p:spTree>
    <p:extLst>
      <p:ext uri="{BB962C8B-B14F-4D97-AF65-F5344CB8AC3E}">
        <p14:creationId xmlns:p14="http://schemas.microsoft.com/office/powerpoint/2010/main" val="4001936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a:t>
            </a:fld>
            <a:endParaRPr lang="ru-RU"/>
          </a:p>
        </p:txBody>
      </p:sp>
    </p:spTree>
    <p:extLst>
      <p:ext uri="{BB962C8B-B14F-4D97-AF65-F5344CB8AC3E}">
        <p14:creationId xmlns:p14="http://schemas.microsoft.com/office/powerpoint/2010/main" val="1915740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a:t>
            </a:fld>
            <a:endParaRPr lang="ru-RU"/>
          </a:p>
        </p:txBody>
      </p:sp>
    </p:spTree>
    <p:extLst>
      <p:ext uri="{BB962C8B-B14F-4D97-AF65-F5344CB8AC3E}">
        <p14:creationId xmlns:p14="http://schemas.microsoft.com/office/powerpoint/2010/main" val="2028355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5</a:t>
            </a:fld>
            <a:endParaRPr lang="ru-RU"/>
          </a:p>
        </p:txBody>
      </p:sp>
    </p:spTree>
    <p:extLst>
      <p:ext uri="{BB962C8B-B14F-4D97-AF65-F5344CB8AC3E}">
        <p14:creationId xmlns:p14="http://schemas.microsoft.com/office/powerpoint/2010/main" val="2910288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6</a:t>
            </a:fld>
            <a:endParaRPr lang="ru-RU"/>
          </a:p>
        </p:txBody>
      </p:sp>
    </p:spTree>
    <p:extLst>
      <p:ext uri="{BB962C8B-B14F-4D97-AF65-F5344CB8AC3E}">
        <p14:creationId xmlns:p14="http://schemas.microsoft.com/office/powerpoint/2010/main" val="3179592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7</a:t>
            </a:fld>
            <a:endParaRPr lang="ru-RU"/>
          </a:p>
        </p:txBody>
      </p:sp>
    </p:spTree>
    <p:extLst>
      <p:ext uri="{BB962C8B-B14F-4D97-AF65-F5344CB8AC3E}">
        <p14:creationId xmlns:p14="http://schemas.microsoft.com/office/powerpoint/2010/main" val="3911918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8</a:t>
            </a:fld>
            <a:endParaRPr lang="ru-RU"/>
          </a:p>
        </p:txBody>
      </p:sp>
    </p:spTree>
    <p:extLst>
      <p:ext uri="{BB962C8B-B14F-4D97-AF65-F5344CB8AC3E}">
        <p14:creationId xmlns:p14="http://schemas.microsoft.com/office/powerpoint/2010/main" val="3763223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9</a:t>
            </a:fld>
            <a:endParaRPr lang="ru-RU"/>
          </a:p>
        </p:txBody>
      </p:sp>
    </p:spTree>
    <p:extLst>
      <p:ext uri="{BB962C8B-B14F-4D97-AF65-F5344CB8AC3E}">
        <p14:creationId xmlns:p14="http://schemas.microsoft.com/office/powerpoint/2010/main" val="1709731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10</a:t>
            </a:fld>
            <a:endParaRPr lang="ru-RU"/>
          </a:p>
        </p:txBody>
      </p:sp>
    </p:spTree>
    <p:extLst>
      <p:ext uri="{BB962C8B-B14F-4D97-AF65-F5344CB8AC3E}">
        <p14:creationId xmlns:p14="http://schemas.microsoft.com/office/powerpoint/2010/main" val="404555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11</a:t>
            </a:fld>
            <a:endParaRPr lang="ru-RU"/>
          </a:p>
        </p:txBody>
      </p:sp>
    </p:spTree>
    <p:extLst>
      <p:ext uri="{BB962C8B-B14F-4D97-AF65-F5344CB8AC3E}">
        <p14:creationId xmlns:p14="http://schemas.microsoft.com/office/powerpoint/2010/main" val="1191755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12</a:t>
            </a:fld>
            <a:endParaRPr lang="ru-RU"/>
          </a:p>
        </p:txBody>
      </p:sp>
    </p:spTree>
    <p:extLst>
      <p:ext uri="{BB962C8B-B14F-4D97-AF65-F5344CB8AC3E}">
        <p14:creationId xmlns:p14="http://schemas.microsoft.com/office/powerpoint/2010/main" val="3816080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13</a:t>
            </a:fld>
            <a:endParaRPr lang="ru-RU"/>
          </a:p>
        </p:txBody>
      </p:sp>
    </p:spTree>
    <p:extLst>
      <p:ext uri="{BB962C8B-B14F-4D97-AF65-F5344CB8AC3E}">
        <p14:creationId xmlns:p14="http://schemas.microsoft.com/office/powerpoint/2010/main" val="1961457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14</a:t>
            </a:fld>
            <a:endParaRPr lang="ru-RU"/>
          </a:p>
        </p:txBody>
      </p:sp>
    </p:spTree>
    <p:extLst>
      <p:ext uri="{BB962C8B-B14F-4D97-AF65-F5344CB8AC3E}">
        <p14:creationId xmlns:p14="http://schemas.microsoft.com/office/powerpoint/2010/main" val="3551736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15</a:t>
            </a:fld>
            <a:endParaRPr lang="ru-RU"/>
          </a:p>
        </p:txBody>
      </p:sp>
    </p:spTree>
    <p:extLst>
      <p:ext uri="{BB962C8B-B14F-4D97-AF65-F5344CB8AC3E}">
        <p14:creationId xmlns:p14="http://schemas.microsoft.com/office/powerpoint/2010/main" val="3972548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a:p>
            <a:endParaRPr lang="ru-RU" dirty="0"/>
          </a:p>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16</a:t>
            </a:fld>
            <a:endParaRPr lang="ru-RU"/>
          </a:p>
        </p:txBody>
      </p:sp>
    </p:spTree>
    <p:extLst>
      <p:ext uri="{BB962C8B-B14F-4D97-AF65-F5344CB8AC3E}">
        <p14:creationId xmlns:p14="http://schemas.microsoft.com/office/powerpoint/2010/main" val="2808434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a:p>
            <a:endParaRPr lang="ru-RU" dirty="0"/>
          </a:p>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17</a:t>
            </a:fld>
            <a:endParaRPr lang="ru-RU"/>
          </a:p>
        </p:txBody>
      </p:sp>
    </p:spTree>
    <p:extLst>
      <p:ext uri="{BB962C8B-B14F-4D97-AF65-F5344CB8AC3E}">
        <p14:creationId xmlns:p14="http://schemas.microsoft.com/office/powerpoint/2010/main" val="21875710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a:p>
            <a:endParaRPr lang="ru-RU" dirty="0"/>
          </a:p>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18</a:t>
            </a:fld>
            <a:endParaRPr lang="ru-RU"/>
          </a:p>
        </p:txBody>
      </p:sp>
    </p:spTree>
    <p:extLst>
      <p:ext uri="{BB962C8B-B14F-4D97-AF65-F5344CB8AC3E}">
        <p14:creationId xmlns:p14="http://schemas.microsoft.com/office/powerpoint/2010/main" val="42919064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a:p>
            <a:endParaRPr lang="ru-RU" dirty="0"/>
          </a:p>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19</a:t>
            </a:fld>
            <a:endParaRPr lang="ru-RU"/>
          </a:p>
        </p:txBody>
      </p:sp>
    </p:spTree>
    <p:extLst>
      <p:ext uri="{BB962C8B-B14F-4D97-AF65-F5344CB8AC3E}">
        <p14:creationId xmlns:p14="http://schemas.microsoft.com/office/powerpoint/2010/main" val="40524082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20</a:t>
            </a:fld>
            <a:endParaRPr lang="ru-RU"/>
          </a:p>
        </p:txBody>
      </p:sp>
    </p:spTree>
    <p:extLst>
      <p:ext uri="{BB962C8B-B14F-4D97-AF65-F5344CB8AC3E}">
        <p14:creationId xmlns:p14="http://schemas.microsoft.com/office/powerpoint/2010/main" val="10943104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21</a:t>
            </a:fld>
            <a:endParaRPr lang="ru-RU"/>
          </a:p>
        </p:txBody>
      </p:sp>
    </p:spTree>
    <p:extLst>
      <p:ext uri="{BB962C8B-B14F-4D97-AF65-F5344CB8AC3E}">
        <p14:creationId xmlns:p14="http://schemas.microsoft.com/office/powerpoint/2010/main" val="12557267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22</a:t>
            </a:fld>
            <a:endParaRPr lang="ru-RU"/>
          </a:p>
        </p:txBody>
      </p:sp>
    </p:spTree>
    <p:extLst>
      <p:ext uri="{BB962C8B-B14F-4D97-AF65-F5344CB8AC3E}">
        <p14:creationId xmlns:p14="http://schemas.microsoft.com/office/powerpoint/2010/main" val="837427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23</a:t>
            </a:fld>
            <a:endParaRPr lang="ru-RU"/>
          </a:p>
        </p:txBody>
      </p:sp>
    </p:spTree>
    <p:extLst>
      <p:ext uri="{BB962C8B-B14F-4D97-AF65-F5344CB8AC3E}">
        <p14:creationId xmlns:p14="http://schemas.microsoft.com/office/powerpoint/2010/main" val="31796111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24</a:t>
            </a:fld>
            <a:endParaRPr lang="ru-RU"/>
          </a:p>
        </p:txBody>
      </p:sp>
    </p:spTree>
    <p:extLst>
      <p:ext uri="{BB962C8B-B14F-4D97-AF65-F5344CB8AC3E}">
        <p14:creationId xmlns:p14="http://schemas.microsoft.com/office/powerpoint/2010/main" val="1473566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Определить недостатки кода</a:t>
            </a:r>
          </a:p>
        </p:txBody>
      </p:sp>
      <p:sp>
        <p:nvSpPr>
          <p:cNvPr id="4" name="Номер слайда 3"/>
          <p:cNvSpPr>
            <a:spLocks noGrp="1"/>
          </p:cNvSpPr>
          <p:nvPr>
            <p:ph type="sldNum" sz="quarter" idx="5"/>
          </p:nvPr>
        </p:nvSpPr>
        <p:spPr/>
        <p:txBody>
          <a:bodyPr/>
          <a:lstStyle/>
          <a:p>
            <a:fld id="{7B5EBD1D-8FAA-4097-A84C-B41C92EFAAB1}" type="slidenum">
              <a:rPr lang="ru-RU" smtClean="0"/>
              <a:t>25</a:t>
            </a:fld>
            <a:endParaRPr lang="ru-RU"/>
          </a:p>
        </p:txBody>
      </p:sp>
    </p:spTree>
    <p:extLst>
      <p:ext uri="{BB962C8B-B14F-4D97-AF65-F5344CB8AC3E}">
        <p14:creationId xmlns:p14="http://schemas.microsoft.com/office/powerpoint/2010/main" val="21732491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26</a:t>
            </a:fld>
            <a:endParaRPr lang="ru-RU"/>
          </a:p>
        </p:txBody>
      </p:sp>
    </p:spTree>
    <p:extLst>
      <p:ext uri="{BB962C8B-B14F-4D97-AF65-F5344CB8AC3E}">
        <p14:creationId xmlns:p14="http://schemas.microsoft.com/office/powerpoint/2010/main" val="14627523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27</a:t>
            </a:fld>
            <a:endParaRPr lang="ru-RU"/>
          </a:p>
        </p:txBody>
      </p:sp>
    </p:spTree>
    <p:extLst>
      <p:ext uri="{BB962C8B-B14F-4D97-AF65-F5344CB8AC3E}">
        <p14:creationId xmlns:p14="http://schemas.microsoft.com/office/powerpoint/2010/main" val="976097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28</a:t>
            </a:fld>
            <a:endParaRPr lang="ru-RU"/>
          </a:p>
        </p:txBody>
      </p:sp>
    </p:spTree>
    <p:extLst>
      <p:ext uri="{BB962C8B-B14F-4D97-AF65-F5344CB8AC3E}">
        <p14:creationId xmlns:p14="http://schemas.microsoft.com/office/powerpoint/2010/main" val="15661486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29</a:t>
            </a:fld>
            <a:endParaRPr lang="ru-RU"/>
          </a:p>
        </p:txBody>
      </p:sp>
    </p:spTree>
    <p:extLst>
      <p:ext uri="{BB962C8B-B14F-4D97-AF65-F5344CB8AC3E}">
        <p14:creationId xmlns:p14="http://schemas.microsoft.com/office/powerpoint/2010/main" val="23735060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30</a:t>
            </a:fld>
            <a:endParaRPr lang="ru-RU"/>
          </a:p>
        </p:txBody>
      </p:sp>
    </p:spTree>
    <p:extLst>
      <p:ext uri="{BB962C8B-B14F-4D97-AF65-F5344CB8AC3E}">
        <p14:creationId xmlns:p14="http://schemas.microsoft.com/office/powerpoint/2010/main" val="24303526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31</a:t>
            </a:fld>
            <a:endParaRPr lang="ru-RU"/>
          </a:p>
        </p:txBody>
      </p:sp>
    </p:spTree>
    <p:extLst>
      <p:ext uri="{BB962C8B-B14F-4D97-AF65-F5344CB8AC3E}">
        <p14:creationId xmlns:p14="http://schemas.microsoft.com/office/powerpoint/2010/main" val="28203746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32</a:t>
            </a:fld>
            <a:endParaRPr lang="ru-RU"/>
          </a:p>
        </p:txBody>
      </p:sp>
    </p:spTree>
    <p:extLst>
      <p:ext uri="{BB962C8B-B14F-4D97-AF65-F5344CB8AC3E}">
        <p14:creationId xmlns:p14="http://schemas.microsoft.com/office/powerpoint/2010/main" val="39756360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33</a:t>
            </a:fld>
            <a:endParaRPr lang="ru-RU"/>
          </a:p>
        </p:txBody>
      </p:sp>
    </p:spTree>
    <p:extLst>
      <p:ext uri="{BB962C8B-B14F-4D97-AF65-F5344CB8AC3E}">
        <p14:creationId xmlns:p14="http://schemas.microsoft.com/office/powerpoint/2010/main" val="730268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34</a:t>
            </a:fld>
            <a:endParaRPr lang="ru-RU"/>
          </a:p>
        </p:txBody>
      </p:sp>
    </p:spTree>
    <p:extLst>
      <p:ext uri="{BB962C8B-B14F-4D97-AF65-F5344CB8AC3E}">
        <p14:creationId xmlns:p14="http://schemas.microsoft.com/office/powerpoint/2010/main" val="10594630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35</a:t>
            </a:fld>
            <a:endParaRPr lang="ru-RU"/>
          </a:p>
        </p:txBody>
      </p:sp>
    </p:spTree>
    <p:extLst>
      <p:ext uri="{BB962C8B-B14F-4D97-AF65-F5344CB8AC3E}">
        <p14:creationId xmlns:p14="http://schemas.microsoft.com/office/powerpoint/2010/main" val="9113029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36</a:t>
            </a:fld>
            <a:endParaRPr lang="ru-RU"/>
          </a:p>
        </p:txBody>
      </p:sp>
    </p:spTree>
    <p:extLst>
      <p:ext uri="{BB962C8B-B14F-4D97-AF65-F5344CB8AC3E}">
        <p14:creationId xmlns:p14="http://schemas.microsoft.com/office/powerpoint/2010/main" val="28593816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37</a:t>
            </a:fld>
            <a:endParaRPr lang="ru-RU"/>
          </a:p>
        </p:txBody>
      </p:sp>
    </p:spTree>
    <p:extLst>
      <p:ext uri="{BB962C8B-B14F-4D97-AF65-F5344CB8AC3E}">
        <p14:creationId xmlns:p14="http://schemas.microsoft.com/office/powerpoint/2010/main" val="37640509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38</a:t>
            </a:fld>
            <a:endParaRPr lang="ru-RU"/>
          </a:p>
        </p:txBody>
      </p:sp>
    </p:spTree>
    <p:extLst>
      <p:ext uri="{BB962C8B-B14F-4D97-AF65-F5344CB8AC3E}">
        <p14:creationId xmlns:p14="http://schemas.microsoft.com/office/powerpoint/2010/main" val="21767829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39</a:t>
            </a:fld>
            <a:endParaRPr lang="ru-RU"/>
          </a:p>
        </p:txBody>
      </p:sp>
    </p:spTree>
    <p:extLst>
      <p:ext uri="{BB962C8B-B14F-4D97-AF65-F5344CB8AC3E}">
        <p14:creationId xmlns:p14="http://schemas.microsoft.com/office/powerpoint/2010/main" val="31451103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endParaRPr lang="ru-RU" b="0" i="0" dirty="0">
              <a:solidFill>
                <a:srgbClr val="333333"/>
              </a:solidFill>
              <a:effectLst/>
              <a:latin typeface="Arial" panose="020B0604020202020204" pitchFamily="34" charset="0"/>
            </a:endParaRPr>
          </a:p>
        </p:txBody>
      </p:sp>
      <p:sp>
        <p:nvSpPr>
          <p:cNvPr id="4" name="Номер слайда 3"/>
          <p:cNvSpPr>
            <a:spLocks noGrp="1"/>
          </p:cNvSpPr>
          <p:nvPr>
            <p:ph type="sldNum" sz="quarter" idx="5"/>
          </p:nvPr>
        </p:nvSpPr>
        <p:spPr/>
        <p:txBody>
          <a:bodyPr/>
          <a:lstStyle/>
          <a:p>
            <a:fld id="{7B5EBD1D-8FAA-4097-A84C-B41C92EFAAB1}" type="slidenum">
              <a:rPr lang="ru-RU" smtClean="0"/>
              <a:t>40</a:t>
            </a:fld>
            <a:endParaRPr lang="ru-RU"/>
          </a:p>
        </p:txBody>
      </p:sp>
    </p:spTree>
    <p:extLst>
      <p:ext uri="{BB962C8B-B14F-4D97-AF65-F5344CB8AC3E}">
        <p14:creationId xmlns:p14="http://schemas.microsoft.com/office/powerpoint/2010/main" val="19053293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41</a:t>
            </a:fld>
            <a:endParaRPr lang="ru-RU"/>
          </a:p>
        </p:txBody>
      </p:sp>
    </p:spTree>
    <p:extLst>
      <p:ext uri="{BB962C8B-B14F-4D97-AF65-F5344CB8AC3E}">
        <p14:creationId xmlns:p14="http://schemas.microsoft.com/office/powerpoint/2010/main" val="24243557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42</a:t>
            </a:fld>
            <a:endParaRPr lang="ru-RU"/>
          </a:p>
        </p:txBody>
      </p:sp>
    </p:spTree>
    <p:extLst>
      <p:ext uri="{BB962C8B-B14F-4D97-AF65-F5344CB8AC3E}">
        <p14:creationId xmlns:p14="http://schemas.microsoft.com/office/powerpoint/2010/main" val="5484996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43</a:t>
            </a:fld>
            <a:endParaRPr lang="ru-RU"/>
          </a:p>
        </p:txBody>
      </p:sp>
    </p:spTree>
    <p:extLst>
      <p:ext uri="{BB962C8B-B14F-4D97-AF65-F5344CB8AC3E}">
        <p14:creationId xmlns:p14="http://schemas.microsoft.com/office/powerpoint/2010/main" val="5951023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44</a:t>
            </a:fld>
            <a:endParaRPr lang="ru-RU"/>
          </a:p>
        </p:txBody>
      </p:sp>
    </p:spTree>
    <p:extLst>
      <p:ext uri="{BB962C8B-B14F-4D97-AF65-F5344CB8AC3E}">
        <p14:creationId xmlns:p14="http://schemas.microsoft.com/office/powerpoint/2010/main" val="15661169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45</a:t>
            </a:fld>
            <a:endParaRPr lang="ru-RU"/>
          </a:p>
        </p:txBody>
      </p:sp>
    </p:spTree>
    <p:extLst>
      <p:ext uri="{BB962C8B-B14F-4D97-AF65-F5344CB8AC3E}">
        <p14:creationId xmlns:p14="http://schemas.microsoft.com/office/powerpoint/2010/main" val="25860246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46</a:t>
            </a:fld>
            <a:endParaRPr lang="ru-RU"/>
          </a:p>
        </p:txBody>
      </p:sp>
    </p:spTree>
    <p:extLst>
      <p:ext uri="{BB962C8B-B14F-4D97-AF65-F5344CB8AC3E}">
        <p14:creationId xmlns:p14="http://schemas.microsoft.com/office/powerpoint/2010/main" val="38701221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47</a:t>
            </a:fld>
            <a:endParaRPr lang="ru-RU"/>
          </a:p>
        </p:txBody>
      </p:sp>
    </p:spTree>
    <p:extLst>
      <p:ext uri="{BB962C8B-B14F-4D97-AF65-F5344CB8AC3E}">
        <p14:creationId xmlns:p14="http://schemas.microsoft.com/office/powerpoint/2010/main" val="18726233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48</a:t>
            </a:fld>
            <a:endParaRPr lang="ru-RU"/>
          </a:p>
        </p:txBody>
      </p:sp>
    </p:spTree>
    <p:extLst>
      <p:ext uri="{BB962C8B-B14F-4D97-AF65-F5344CB8AC3E}">
        <p14:creationId xmlns:p14="http://schemas.microsoft.com/office/powerpoint/2010/main" val="41422189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49</a:t>
            </a:fld>
            <a:endParaRPr lang="ru-RU"/>
          </a:p>
        </p:txBody>
      </p:sp>
    </p:spTree>
    <p:extLst>
      <p:ext uri="{BB962C8B-B14F-4D97-AF65-F5344CB8AC3E}">
        <p14:creationId xmlns:p14="http://schemas.microsoft.com/office/powerpoint/2010/main" val="9394704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50</a:t>
            </a:fld>
            <a:endParaRPr lang="ru-RU"/>
          </a:p>
        </p:txBody>
      </p:sp>
    </p:spTree>
    <p:extLst>
      <p:ext uri="{BB962C8B-B14F-4D97-AF65-F5344CB8AC3E}">
        <p14:creationId xmlns:p14="http://schemas.microsoft.com/office/powerpoint/2010/main" val="39588908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51</a:t>
            </a:fld>
            <a:endParaRPr lang="ru-RU"/>
          </a:p>
        </p:txBody>
      </p:sp>
    </p:spTree>
    <p:extLst>
      <p:ext uri="{BB962C8B-B14F-4D97-AF65-F5344CB8AC3E}">
        <p14:creationId xmlns:p14="http://schemas.microsoft.com/office/powerpoint/2010/main" val="17710270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B5EBD1D-8FAA-4097-A84C-B41C92EFAAB1}" type="slidenum">
              <a:rPr lang="ru-RU" smtClean="0"/>
              <a:t>52</a:t>
            </a:fld>
            <a:endParaRPr lang="ru-RU"/>
          </a:p>
        </p:txBody>
      </p:sp>
    </p:spTree>
    <p:extLst>
      <p:ext uri="{BB962C8B-B14F-4D97-AF65-F5344CB8AC3E}">
        <p14:creationId xmlns:p14="http://schemas.microsoft.com/office/powerpoint/2010/main" val="196044988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7B5EBD1D-8FAA-4097-A84C-B41C92EFAAB1}" type="slidenum">
              <a:rPr lang="ru-RU" smtClean="0"/>
              <a:t>53</a:t>
            </a:fld>
            <a:endParaRPr lang="ru-RU"/>
          </a:p>
        </p:txBody>
      </p:sp>
    </p:spTree>
    <p:extLst>
      <p:ext uri="{BB962C8B-B14F-4D97-AF65-F5344CB8AC3E}">
        <p14:creationId xmlns:p14="http://schemas.microsoft.com/office/powerpoint/2010/main" val="982174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0799B8-E028-4635-BDDC-879D7231A7C5}"/>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C35545FB-C6EE-493F-8316-3673AE82AE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8BF55223-659A-4181-B23A-287380ADCB99}"/>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5" name="Нижний колонтитул 4">
            <a:extLst>
              <a:ext uri="{FF2B5EF4-FFF2-40B4-BE49-F238E27FC236}">
                <a16:creationId xmlns:a16="http://schemas.microsoft.com/office/drawing/2014/main" id="{FFFCE8BD-071F-4583-A31C-654B0348469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AE19132-AA36-4978-908F-38D1FF6C956C}"/>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2104453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75D5AD-F4E4-48AC-A8BD-695FDA88A31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F8FD038-7A80-441B-98E9-6A8F896CE9E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BEAD88A-0BE5-4CA1-BFDE-1EC1F4C130F9}"/>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5" name="Нижний колонтитул 4">
            <a:extLst>
              <a:ext uri="{FF2B5EF4-FFF2-40B4-BE49-F238E27FC236}">
                <a16:creationId xmlns:a16="http://schemas.microsoft.com/office/drawing/2014/main" id="{AC3E7AC8-C25E-4DF3-9FC7-988350F575B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74C49FB-B6C2-4013-9AF3-0541AFB07AF5}"/>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2507459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EA8308-18D8-44CF-B8C5-74806938678F}"/>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31754B8-6E24-44A2-8058-D7F293AB4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B1EE3E5-4280-4571-A5EF-535AC98CC3B6}"/>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5" name="Нижний колонтитул 4">
            <a:extLst>
              <a:ext uri="{FF2B5EF4-FFF2-40B4-BE49-F238E27FC236}">
                <a16:creationId xmlns:a16="http://schemas.microsoft.com/office/drawing/2014/main" id="{4ECB071D-1248-4FC1-A1CA-2411C82AAB2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FCE026C-DE0C-43D2-AF8D-CF1C2D079107}"/>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856942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B93B2C-91D8-4BBB-BE95-5EC2D078D87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67A7759-0489-460A-A2FF-38F82B8D643C}"/>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738B89DC-42C4-4F26-8F8D-28651ECE1C41}"/>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0D0CF2E9-2BC4-4E5C-B49F-E96E4D5C2398}"/>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6" name="Нижний колонтитул 5">
            <a:extLst>
              <a:ext uri="{FF2B5EF4-FFF2-40B4-BE49-F238E27FC236}">
                <a16:creationId xmlns:a16="http://schemas.microsoft.com/office/drawing/2014/main" id="{2B1864C3-D7CA-40D4-8BB5-16F83C2BC2A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5730566-7E55-4042-984A-57E2881C0ACD}"/>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679954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32E7DB-30A6-4C2B-B2AA-8224DCBAAFF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74CA700D-0C35-44D9-9E60-38170CF194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39244463-61C2-412B-9C60-E2228B38EC1A}"/>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D66815D5-D921-4661-B12F-DEEA248623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4687229-40C0-476C-9F14-D608BAB6F53F}"/>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A6B76E6D-40E9-4979-9859-79EFF050E3D5}"/>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8" name="Нижний колонтитул 7">
            <a:extLst>
              <a:ext uri="{FF2B5EF4-FFF2-40B4-BE49-F238E27FC236}">
                <a16:creationId xmlns:a16="http://schemas.microsoft.com/office/drawing/2014/main" id="{65E1F738-6F5D-4061-A363-ABA2C21881DF}"/>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73A84C68-27FD-40AD-B277-EAD3E1FFFA4C}"/>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3388289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446F02-AF8D-4DFA-9377-4CF83035D770}"/>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DE852254-E936-49C6-9AB0-A4DE88BF7B2A}"/>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4" name="Нижний колонтитул 3">
            <a:extLst>
              <a:ext uri="{FF2B5EF4-FFF2-40B4-BE49-F238E27FC236}">
                <a16:creationId xmlns:a16="http://schemas.microsoft.com/office/drawing/2014/main" id="{75995507-FF49-4105-840A-34A9A3603F1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188EE6A-22E7-4A35-B393-13D0038233C6}"/>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3745071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413D61B1-20A5-4389-AD60-17F3FA693C31}"/>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3" name="Нижний колонтитул 2">
            <a:extLst>
              <a:ext uri="{FF2B5EF4-FFF2-40B4-BE49-F238E27FC236}">
                <a16:creationId xmlns:a16="http://schemas.microsoft.com/office/drawing/2014/main" id="{C5377B21-5836-4343-97B5-B466B4CD2151}"/>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FB9E4EE9-810F-4444-AA2D-87126F74FE6D}"/>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2549684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DD60C7-B8B0-4A52-BDB1-9D32C3A26C8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B40818F7-5361-4F7B-96F0-16F4802FEF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DFD340F2-4F46-45E3-ADB2-7256EEF3F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3695717-3C5F-436B-872C-A081C828D271}"/>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6" name="Нижний колонтитул 5">
            <a:extLst>
              <a:ext uri="{FF2B5EF4-FFF2-40B4-BE49-F238E27FC236}">
                <a16:creationId xmlns:a16="http://schemas.microsoft.com/office/drawing/2014/main" id="{07D4ACF8-F2DA-4525-908F-6B4D1C4F32C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D7C8658-5C9A-4F0F-B481-F50B6943C28C}"/>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3725308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861A20-6CEF-4903-8D55-EC6069470B9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3DFAA5FB-F0AA-4A94-9C7A-4103C21A57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p>
        </p:txBody>
      </p:sp>
      <p:sp>
        <p:nvSpPr>
          <p:cNvPr id="4" name="Текст 3">
            <a:extLst>
              <a:ext uri="{FF2B5EF4-FFF2-40B4-BE49-F238E27FC236}">
                <a16:creationId xmlns:a16="http://schemas.microsoft.com/office/drawing/2014/main" id="{4BE4CB74-41A5-4852-B743-06C2AE915F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9EEC462-61FD-4363-AF6C-44B0E1F83DED}"/>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6" name="Нижний колонтитул 5">
            <a:extLst>
              <a:ext uri="{FF2B5EF4-FFF2-40B4-BE49-F238E27FC236}">
                <a16:creationId xmlns:a16="http://schemas.microsoft.com/office/drawing/2014/main" id="{6AC2AFD4-1D26-4D5F-8B2B-81612351186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AB4B937-A8DB-4085-8A9B-7B084D790FAB}"/>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3974866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9C76E9-4D50-43C6-86D4-11A7A285E0C9}"/>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BA9A42FA-7372-4984-B14D-6E5BBCC7FD54}"/>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FE7C77F-77B0-4083-B6F7-03DFA4FEE091}"/>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5" name="Нижний колонтитул 4">
            <a:extLst>
              <a:ext uri="{FF2B5EF4-FFF2-40B4-BE49-F238E27FC236}">
                <a16:creationId xmlns:a16="http://schemas.microsoft.com/office/drawing/2014/main" id="{49535D5E-2234-4B9C-859C-E3E4B3F602C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CC4DA6D-A4AB-48D2-8E37-94E5654D3BC0}"/>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2273492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19AFDB-AEB4-4811-A069-2EC1C68D8354}"/>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1888417B-BB83-4AFA-803F-A46D6AD0CE64}"/>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26EE468-D973-438B-9A97-1C64FD9E96F3}"/>
              </a:ext>
            </a:extLst>
          </p:cNvPr>
          <p:cNvSpPr>
            <a:spLocks noGrp="1"/>
          </p:cNvSpPr>
          <p:nvPr>
            <p:ph type="dt" sz="half" idx="10"/>
          </p:nvPr>
        </p:nvSpPr>
        <p:spPr/>
        <p:txBody>
          <a:bodyPr/>
          <a:lstStyle/>
          <a:p>
            <a:fld id="{80E42D77-D5A3-43A9-9BA4-FD97F0D31094}" type="datetimeFigureOut">
              <a:rPr lang="ru-RU" smtClean="0"/>
              <a:t>14.11.2025</a:t>
            </a:fld>
            <a:endParaRPr lang="ru-RU"/>
          </a:p>
        </p:txBody>
      </p:sp>
      <p:sp>
        <p:nvSpPr>
          <p:cNvPr id="5" name="Нижний колонтитул 4">
            <a:extLst>
              <a:ext uri="{FF2B5EF4-FFF2-40B4-BE49-F238E27FC236}">
                <a16:creationId xmlns:a16="http://schemas.microsoft.com/office/drawing/2014/main" id="{A8C44983-F949-4999-AC3D-4C635BFE600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946F308-AA90-4D0C-B9C0-958DAA4F028D}"/>
              </a:ext>
            </a:extLst>
          </p:cNvPr>
          <p:cNvSpPr>
            <a:spLocks noGrp="1"/>
          </p:cNvSpPr>
          <p:nvPr>
            <p:ph type="sldNum" sz="quarter" idx="12"/>
          </p:nvPr>
        </p:nvSpPr>
        <p:spPr/>
        <p:txBody>
          <a:bodyPr/>
          <a:lstStyle/>
          <a:p>
            <a:fld id="{06758487-88DE-4BF5-86D2-978952E65E76}" type="slidenum">
              <a:rPr lang="ru-RU" smtClean="0"/>
              <a:t>‹#›</a:t>
            </a:fld>
            <a:endParaRPr lang="ru-RU"/>
          </a:p>
        </p:txBody>
      </p:sp>
    </p:spTree>
    <p:extLst>
      <p:ext uri="{BB962C8B-B14F-4D97-AF65-F5344CB8AC3E}">
        <p14:creationId xmlns:p14="http://schemas.microsoft.com/office/powerpoint/2010/main" val="4263729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CABF55-0DF2-4DCA-A530-E6682802B9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1AB82AC2-EAC2-44A2-9007-F71A3D0932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5D7C19A-5B06-4C03-9CFC-FD72D65A15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E42D77-D5A3-43A9-9BA4-FD97F0D31094}" type="datetimeFigureOut">
              <a:rPr lang="ru-RU" smtClean="0"/>
              <a:t>14.11.2025</a:t>
            </a:fld>
            <a:endParaRPr lang="ru-RU"/>
          </a:p>
        </p:txBody>
      </p:sp>
      <p:sp>
        <p:nvSpPr>
          <p:cNvPr id="5" name="Нижний колонтитул 4">
            <a:extLst>
              <a:ext uri="{FF2B5EF4-FFF2-40B4-BE49-F238E27FC236}">
                <a16:creationId xmlns:a16="http://schemas.microsoft.com/office/drawing/2014/main" id="{8053B276-1FAC-4604-93FD-DD84AA9BC8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2B7E6145-DB10-4F28-84B0-CCA48DFBCA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758487-88DE-4BF5-86D2-978952E65E76}" type="slidenum">
              <a:rPr lang="ru-RU" smtClean="0"/>
              <a:t>‹#›</a:t>
            </a:fld>
            <a:endParaRPr lang="ru-RU"/>
          </a:p>
        </p:txBody>
      </p:sp>
    </p:spTree>
    <p:extLst>
      <p:ext uri="{BB962C8B-B14F-4D97-AF65-F5344CB8AC3E}">
        <p14:creationId xmlns:p14="http://schemas.microsoft.com/office/powerpoint/2010/main" val="3999314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hyperlink" Target="http://bonsaiden.github.io/JavaScript-Garden/ru/" TargetMode="External"/><Relationship Id="rId5" Type="http://schemas.openxmlformats.org/officeDocument/2006/relationships/hyperlink" Target="https://www.gitbook.com/book/karmazzin/eloquentjavascript_ru/details" TargetMode="External"/><Relationship Id="rId4" Type="http://schemas.openxmlformats.org/officeDocument/2006/relationships/hyperlink" Target="https://learn.javascript.ru/books"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260E9F-402B-47C4-82DB-3EDB849F705B}"/>
              </a:ext>
            </a:extLst>
          </p:cNvPr>
          <p:cNvSpPr txBox="1"/>
          <p:nvPr/>
        </p:nvSpPr>
        <p:spPr>
          <a:xfrm>
            <a:off x="962527" y="4979166"/>
            <a:ext cx="6094938" cy="1569660"/>
          </a:xfrm>
          <a:prstGeom prst="rect">
            <a:avLst/>
          </a:prstGeom>
          <a:noFill/>
        </p:spPr>
        <p:txBody>
          <a:bodyPr wrap="none" rtlCol="0">
            <a:spAutoFit/>
          </a:bodyPr>
          <a:lstStyle/>
          <a:p>
            <a:r>
              <a:rPr lang="ru-RU" sz="4800" kern="100" dirty="0">
                <a:latin typeface="Arial" panose="020B0604020202020204" pitchFamily="34" charset="0"/>
                <a:cs typeface="Arial" panose="020B0604020202020204" pitchFamily="34" charset="0"/>
              </a:rPr>
              <a:t>Массивы и функции </a:t>
            </a:r>
            <a:endParaRPr lang="en-US" sz="4800" kern="100" dirty="0">
              <a:latin typeface="Arial" panose="020B0604020202020204" pitchFamily="34" charset="0"/>
              <a:cs typeface="Arial" panose="020B0604020202020204" pitchFamily="34" charset="0"/>
            </a:endParaRPr>
          </a:p>
          <a:p>
            <a:r>
              <a:rPr lang="ru-RU" sz="4800" kern="100" dirty="0">
                <a:latin typeface="Arial" panose="020B0604020202020204" pitchFamily="34" charset="0"/>
                <a:cs typeface="Arial" panose="020B0604020202020204" pitchFamily="34" charset="0"/>
              </a:rPr>
              <a:t>в </a:t>
            </a:r>
            <a:r>
              <a:rPr lang="en-US" sz="4800" kern="100" dirty="0">
                <a:latin typeface="Arial" panose="020B0604020202020204" pitchFamily="34" charset="0"/>
                <a:cs typeface="Arial" panose="020B0604020202020204" pitchFamily="34" charset="0"/>
              </a:rPr>
              <a:t>JavaScript</a:t>
            </a:r>
            <a:endParaRPr lang="ru-RU" sz="4800" kern="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1769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Понятие массива</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78CD719F-D379-B8F0-0669-DE816E07A81F}"/>
              </a:ext>
            </a:extLst>
          </p:cNvPr>
          <p:cNvSpPr/>
          <p:nvPr/>
        </p:nvSpPr>
        <p:spPr>
          <a:xfrm>
            <a:off x="208381" y="1011063"/>
            <a:ext cx="7561009" cy="1754326"/>
          </a:xfrm>
          <a:prstGeom prst="rect">
            <a:avLst/>
          </a:prstGeom>
        </p:spPr>
        <p:txBody>
          <a:bodyPr wrap="square">
            <a:spAutoFit/>
          </a:bodyPr>
          <a:lstStyle/>
          <a:p>
            <a:pPr algn="just"/>
            <a:r>
              <a:rPr lang="ru-RU" b="1" dirty="0">
                <a:solidFill>
                  <a:srgbClr val="C00000"/>
                </a:solidFill>
              </a:rPr>
              <a:t>Массив</a:t>
            </a:r>
            <a:r>
              <a:rPr lang="ru-RU" b="1" dirty="0"/>
              <a:t> – это упорядоченная коллекция элементов. </a:t>
            </a:r>
            <a:endParaRPr lang="en-US" b="1" dirty="0"/>
          </a:p>
          <a:p>
            <a:pPr algn="just"/>
            <a:endParaRPr lang="en-US" b="1" dirty="0">
              <a:solidFill>
                <a:srgbClr val="C00000"/>
              </a:solidFill>
            </a:endParaRPr>
          </a:p>
          <a:p>
            <a:pPr algn="just"/>
            <a:r>
              <a:rPr lang="ru-RU" b="1" dirty="0">
                <a:solidFill>
                  <a:srgbClr val="C00000"/>
                </a:solidFill>
              </a:rPr>
              <a:t>Элемент</a:t>
            </a:r>
            <a:r>
              <a:rPr lang="ru-RU" b="1" dirty="0"/>
              <a:t> – это часть массива имитирующая переменную. </a:t>
            </a:r>
          </a:p>
          <a:p>
            <a:pPr algn="just"/>
            <a:endParaRPr lang="ru-RU" b="1" dirty="0"/>
          </a:p>
          <a:p>
            <a:pPr algn="just"/>
            <a:r>
              <a:rPr lang="ru-RU" b="1" dirty="0"/>
              <a:t>Элемент состоит из индекса (числовой номер) и значения.</a:t>
            </a:r>
          </a:p>
          <a:p>
            <a:pPr algn="just"/>
            <a:endParaRPr lang="ru-RU" b="1" dirty="0"/>
          </a:p>
        </p:txBody>
      </p:sp>
      <p:sp>
        <p:nvSpPr>
          <p:cNvPr id="4" name="Прямоугольник 3">
            <a:extLst>
              <a:ext uri="{FF2B5EF4-FFF2-40B4-BE49-F238E27FC236}">
                <a16:creationId xmlns:a16="http://schemas.microsoft.com/office/drawing/2014/main" id="{A303D662-5194-7D51-FD91-B115A90748C6}"/>
              </a:ext>
            </a:extLst>
          </p:cNvPr>
          <p:cNvSpPr/>
          <p:nvPr/>
        </p:nvSpPr>
        <p:spPr>
          <a:xfrm>
            <a:off x="564808" y="2844044"/>
            <a:ext cx="2238883" cy="584775"/>
          </a:xfrm>
          <a:prstGeom prst="rect">
            <a:avLst/>
          </a:prstGeom>
        </p:spPr>
        <p:txBody>
          <a:bodyPr wrap="none">
            <a:spAutoFit/>
          </a:bodyPr>
          <a:lstStyle/>
          <a:p>
            <a:r>
              <a:rPr lang="ru-RU" sz="3200" b="1" dirty="0">
                <a:solidFill>
                  <a:srgbClr val="C00000"/>
                </a:solidFill>
              </a:rPr>
              <a:t>Массив в </a:t>
            </a:r>
            <a:r>
              <a:rPr lang="en-US" sz="3200" b="1" dirty="0">
                <a:solidFill>
                  <a:srgbClr val="C00000"/>
                </a:solidFill>
              </a:rPr>
              <a:t>JS</a:t>
            </a:r>
            <a:endParaRPr lang="ru-RU" sz="3200" dirty="0"/>
          </a:p>
        </p:txBody>
      </p:sp>
      <p:sp>
        <p:nvSpPr>
          <p:cNvPr id="5" name="Прямоугольник 4">
            <a:extLst>
              <a:ext uri="{FF2B5EF4-FFF2-40B4-BE49-F238E27FC236}">
                <a16:creationId xmlns:a16="http://schemas.microsoft.com/office/drawing/2014/main" id="{99A46216-C731-07DF-E3FD-6D94CCE92930}"/>
              </a:ext>
            </a:extLst>
          </p:cNvPr>
          <p:cNvSpPr/>
          <p:nvPr/>
        </p:nvSpPr>
        <p:spPr>
          <a:xfrm>
            <a:off x="2725097" y="2874822"/>
            <a:ext cx="8648393" cy="461665"/>
          </a:xfrm>
          <a:prstGeom prst="rect">
            <a:avLst/>
          </a:prstGeom>
        </p:spPr>
        <p:txBody>
          <a:bodyPr wrap="none">
            <a:spAutoFit/>
          </a:bodyPr>
          <a:lstStyle/>
          <a:p>
            <a:r>
              <a:rPr lang="en-US" sz="2400" b="1" dirty="0">
                <a:solidFill>
                  <a:srgbClr val="C00000"/>
                </a:solidFill>
              </a:rPr>
              <a:t>[ </a:t>
            </a:r>
            <a:r>
              <a:rPr lang="ru-RU" sz="2400" b="1" dirty="0">
                <a:solidFill>
                  <a:srgbClr val="C00000"/>
                </a:solidFill>
              </a:rPr>
              <a:t>нетипизированный</a:t>
            </a:r>
            <a:r>
              <a:rPr lang="en-US" sz="2400" b="1" dirty="0">
                <a:solidFill>
                  <a:srgbClr val="C00000"/>
                </a:solidFill>
              </a:rPr>
              <a:t>, </a:t>
            </a:r>
            <a:r>
              <a:rPr lang="ru-RU" sz="2400" b="1" dirty="0">
                <a:solidFill>
                  <a:srgbClr val="C00000"/>
                </a:solidFill>
              </a:rPr>
              <a:t>динамический</a:t>
            </a:r>
            <a:r>
              <a:rPr lang="en-US" sz="2400" b="1" dirty="0">
                <a:solidFill>
                  <a:srgbClr val="C00000"/>
                </a:solidFill>
              </a:rPr>
              <a:t>, </a:t>
            </a:r>
            <a:r>
              <a:rPr lang="ru-RU" sz="2400" b="1" dirty="0">
                <a:solidFill>
                  <a:srgbClr val="C00000"/>
                </a:solidFill>
              </a:rPr>
              <a:t>особая форма объектов</a:t>
            </a:r>
            <a:r>
              <a:rPr lang="en-US" sz="2400" b="1" dirty="0">
                <a:solidFill>
                  <a:srgbClr val="C00000"/>
                </a:solidFill>
              </a:rPr>
              <a:t> ]</a:t>
            </a:r>
            <a:endParaRPr lang="ru-RU" sz="2400" dirty="0">
              <a:solidFill>
                <a:srgbClr val="C00000"/>
              </a:solidFill>
            </a:endParaRPr>
          </a:p>
        </p:txBody>
      </p:sp>
      <p:pic>
        <p:nvPicPr>
          <p:cNvPr id="6" name="Рисунок 5">
            <a:extLst>
              <a:ext uri="{FF2B5EF4-FFF2-40B4-BE49-F238E27FC236}">
                <a16:creationId xmlns:a16="http://schemas.microsoft.com/office/drawing/2014/main" id="{9D2D0FEC-8A8D-1BEE-E44A-53B25C4A66AA}"/>
              </a:ext>
            </a:extLst>
          </p:cNvPr>
          <p:cNvPicPr>
            <a:picLocks noChangeAspect="1"/>
          </p:cNvPicPr>
          <p:nvPr/>
        </p:nvPicPr>
        <p:blipFill>
          <a:blip r:embed="rId4"/>
          <a:stretch>
            <a:fillRect/>
          </a:stretch>
        </p:blipFill>
        <p:spPr>
          <a:xfrm>
            <a:off x="6882491" y="808006"/>
            <a:ext cx="4923498" cy="2066816"/>
          </a:xfrm>
          <a:prstGeom prst="rect">
            <a:avLst/>
          </a:prstGeom>
        </p:spPr>
      </p:pic>
      <p:pic>
        <p:nvPicPr>
          <p:cNvPr id="14" name="Рисунок 13">
            <a:extLst>
              <a:ext uri="{FF2B5EF4-FFF2-40B4-BE49-F238E27FC236}">
                <a16:creationId xmlns:a16="http://schemas.microsoft.com/office/drawing/2014/main" id="{FA4E6DEC-8784-4010-BBBB-51848F744853}"/>
              </a:ext>
            </a:extLst>
          </p:cNvPr>
          <p:cNvPicPr>
            <a:picLocks noChangeAspect="1"/>
          </p:cNvPicPr>
          <p:nvPr/>
        </p:nvPicPr>
        <p:blipFill>
          <a:blip r:embed="rId5"/>
          <a:stretch>
            <a:fillRect/>
          </a:stretch>
        </p:blipFill>
        <p:spPr>
          <a:xfrm>
            <a:off x="208381" y="4267763"/>
            <a:ext cx="6131631" cy="2167215"/>
          </a:xfrm>
          <a:prstGeom prst="rect">
            <a:avLst/>
          </a:prstGeom>
        </p:spPr>
      </p:pic>
      <p:sp>
        <p:nvSpPr>
          <p:cNvPr id="16" name="TextBox 15">
            <a:extLst>
              <a:ext uri="{FF2B5EF4-FFF2-40B4-BE49-F238E27FC236}">
                <a16:creationId xmlns:a16="http://schemas.microsoft.com/office/drawing/2014/main" id="{7DC5EDBD-B099-493B-A57F-F1CBEBCE8484}"/>
              </a:ext>
            </a:extLst>
          </p:cNvPr>
          <p:cNvSpPr txBox="1"/>
          <p:nvPr/>
        </p:nvSpPr>
        <p:spPr>
          <a:xfrm>
            <a:off x="6502651" y="3661782"/>
            <a:ext cx="5512456" cy="1295868"/>
          </a:xfrm>
          <a:prstGeom prst="rect">
            <a:avLst/>
          </a:prstGeom>
          <a:noFill/>
        </p:spPr>
        <p:txBody>
          <a:bodyPr wrap="square">
            <a:spAutoFit/>
          </a:bodyPr>
          <a:lstStyle/>
          <a:p>
            <a:pPr>
              <a:lnSpc>
                <a:spcPct val="150000"/>
              </a:lnSpc>
            </a:pPr>
            <a:r>
              <a:rPr lang="ru-RU" b="1" dirty="0"/>
              <a:t>Кроме строк и чисел в массиве можно хранить все допустимые типы данных, а также смешивать их между собой в одном массиве</a:t>
            </a:r>
          </a:p>
        </p:txBody>
      </p:sp>
      <p:sp>
        <p:nvSpPr>
          <p:cNvPr id="17" name="Прямоугольник 16">
            <a:extLst>
              <a:ext uri="{FF2B5EF4-FFF2-40B4-BE49-F238E27FC236}">
                <a16:creationId xmlns:a16="http://schemas.microsoft.com/office/drawing/2014/main" id="{E23EF51C-BE23-459D-9E3D-0A247CB79DB0}"/>
              </a:ext>
            </a:extLst>
          </p:cNvPr>
          <p:cNvSpPr/>
          <p:nvPr/>
        </p:nvSpPr>
        <p:spPr>
          <a:xfrm>
            <a:off x="147231" y="3324274"/>
            <a:ext cx="11892087" cy="646331"/>
          </a:xfrm>
          <a:prstGeom prst="rect">
            <a:avLst/>
          </a:prstGeom>
        </p:spPr>
        <p:txBody>
          <a:bodyPr wrap="square">
            <a:spAutoFit/>
          </a:bodyPr>
          <a:lstStyle/>
          <a:p>
            <a:pPr algn="just"/>
            <a:r>
              <a:rPr lang="ru-RU" b="1" dirty="0"/>
              <a:t>Проще всего создать массив с помощью </a:t>
            </a:r>
            <a:r>
              <a:rPr lang="ru-RU" b="1" dirty="0">
                <a:solidFill>
                  <a:srgbClr val="C00000"/>
                </a:solidFill>
              </a:rPr>
              <a:t>литерала</a:t>
            </a:r>
            <a:r>
              <a:rPr lang="ru-RU" b="1" dirty="0"/>
              <a:t>, который представляет собой простой список разделенных запятыми элементов массива в квадратных скобках.</a:t>
            </a:r>
          </a:p>
        </p:txBody>
      </p:sp>
      <p:sp>
        <p:nvSpPr>
          <p:cNvPr id="18" name="Прямоугольник 17">
            <a:extLst>
              <a:ext uri="{FF2B5EF4-FFF2-40B4-BE49-F238E27FC236}">
                <a16:creationId xmlns:a16="http://schemas.microsoft.com/office/drawing/2014/main" id="{3CAE1214-637B-4107-A6F2-CE29E2755C6A}"/>
              </a:ext>
            </a:extLst>
          </p:cNvPr>
          <p:cNvSpPr/>
          <p:nvPr/>
        </p:nvSpPr>
        <p:spPr>
          <a:xfrm>
            <a:off x="6502651" y="4969774"/>
            <a:ext cx="5222039" cy="1754326"/>
          </a:xfrm>
          <a:prstGeom prst="rect">
            <a:avLst/>
          </a:prstGeom>
        </p:spPr>
        <p:txBody>
          <a:bodyPr wrap="square">
            <a:spAutoFit/>
          </a:bodyPr>
          <a:lstStyle/>
          <a:p>
            <a:r>
              <a:rPr lang="ru-RU" b="1" i="1" dirty="0" err="1"/>
              <a:t>var</a:t>
            </a:r>
            <a:r>
              <a:rPr lang="ru-RU" b="1" i="1" dirty="0"/>
              <a:t> base = 1024;</a:t>
            </a:r>
          </a:p>
          <a:p>
            <a:r>
              <a:rPr lang="ru-RU" b="1" i="1" dirty="0"/>
              <a:t>var table = [base, base+1, base+2, base+3];    </a:t>
            </a:r>
            <a:endParaRPr lang="en-US" b="1" i="1" dirty="0"/>
          </a:p>
          <a:p>
            <a:r>
              <a:rPr lang="ru-RU" b="1" i="1" dirty="0"/>
              <a:t>// Массив с переменными</a:t>
            </a:r>
          </a:p>
          <a:p>
            <a:endParaRPr lang="ru-RU" b="1" i="1" dirty="0"/>
          </a:p>
          <a:p>
            <a:r>
              <a:rPr lang="ru-RU" b="1" i="1" dirty="0"/>
              <a:t>var arrObj = [[1,{x:1, y:2}], [2, {x:3, y:4}]];       </a:t>
            </a:r>
            <a:endParaRPr lang="en-US" b="1" i="1" dirty="0"/>
          </a:p>
          <a:p>
            <a:r>
              <a:rPr lang="ru-RU" b="1" i="1" dirty="0"/>
              <a:t>// 2 массива внутри, содержащие объекты</a:t>
            </a:r>
          </a:p>
        </p:txBody>
      </p:sp>
    </p:spTree>
    <p:extLst>
      <p:ext uri="{BB962C8B-B14F-4D97-AF65-F5344CB8AC3E}">
        <p14:creationId xmlns:p14="http://schemas.microsoft.com/office/powerpoint/2010/main" val="2759254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Создание массива</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1137DEB4-1852-C0EF-A8FF-842657B028A2}"/>
              </a:ext>
            </a:extLst>
          </p:cNvPr>
          <p:cNvSpPr/>
          <p:nvPr/>
        </p:nvSpPr>
        <p:spPr>
          <a:xfrm>
            <a:off x="149956" y="835736"/>
            <a:ext cx="11892087" cy="369332"/>
          </a:xfrm>
          <a:prstGeom prst="rect">
            <a:avLst/>
          </a:prstGeom>
        </p:spPr>
        <p:txBody>
          <a:bodyPr wrap="square">
            <a:spAutoFit/>
          </a:bodyPr>
          <a:lstStyle/>
          <a:p>
            <a:pPr algn="just"/>
            <a:r>
              <a:rPr lang="ru-RU" b="1" dirty="0"/>
              <a:t>Создание массива с помощью вызова </a:t>
            </a:r>
            <a:r>
              <a:rPr lang="ru-RU" b="1" dirty="0">
                <a:solidFill>
                  <a:srgbClr val="C00000"/>
                </a:solidFill>
              </a:rPr>
              <a:t>конструктора Array().</a:t>
            </a:r>
          </a:p>
        </p:txBody>
      </p:sp>
      <p:sp>
        <p:nvSpPr>
          <p:cNvPr id="4" name="Прямоугольник 3">
            <a:extLst>
              <a:ext uri="{FF2B5EF4-FFF2-40B4-BE49-F238E27FC236}">
                <a16:creationId xmlns:a16="http://schemas.microsoft.com/office/drawing/2014/main" id="{F9D2C22B-CA86-B063-3BAB-D39CF0F24556}"/>
              </a:ext>
            </a:extLst>
          </p:cNvPr>
          <p:cNvSpPr/>
          <p:nvPr/>
        </p:nvSpPr>
        <p:spPr>
          <a:xfrm>
            <a:off x="419993" y="1369955"/>
            <a:ext cx="497252" cy="830997"/>
          </a:xfrm>
          <a:prstGeom prst="rect">
            <a:avLst/>
          </a:prstGeom>
        </p:spPr>
        <p:txBody>
          <a:bodyPr wrap="none">
            <a:spAutoFit/>
          </a:bodyPr>
          <a:lstStyle/>
          <a:p>
            <a:r>
              <a:rPr lang="ru-RU" sz="4800" b="1" dirty="0">
                <a:solidFill>
                  <a:srgbClr val="C00000"/>
                </a:solidFill>
              </a:rPr>
              <a:t>1</a:t>
            </a:r>
            <a:endParaRPr lang="ru-RU" sz="4800" dirty="0">
              <a:solidFill>
                <a:srgbClr val="C00000"/>
              </a:solidFill>
            </a:endParaRPr>
          </a:p>
        </p:txBody>
      </p:sp>
      <p:sp>
        <p:nvSpPr>
          <p:cNvPr id="5" name="Прямоугольник 4">
            <a:extLst>
              <a:ext uri="{FF2B5EF4-FFF2-40B4-BE49-F238E27FC236}">
                <a16:creationId xmlns:a16="http://schemas.microsoft.com/office/drawing/2014/main" id="{E76E3610-ADC1-B234-0242-D07D7943410C}"/>
              </a:ext>
            </a:extLst>
          </p:cNvPr>
          <p:cNvSpPr/>
          <p:nvPr/>
        </p:nvSpPr>
        <p:spPr>
          <a:xfrm>
            <a:off x="917245" y="1425508"/>
            <a:ext cx="3947427" cy="369332"/>
          </a:xfrm>
          <a:prstGeom prst="rect">
            <a:avLst/>
          </a:prstGeom>
        </p:spPr>
        <p:txBody>
          <a:bodyPr wrap="none">
            <a:spAutoFit/>
          </a:bodyPr>
          <a:lstStyle/>
          <a:p>
            <a:r>
              <a:rPr lang="ru-RU" b="1" dirty="0"/>
              <a:t>Вызвать конструктор без аргументов.</a:t>
            </a:r>
          </a:p>
        </p:txBody>
      </p:sp>
      <p:sp>
        <p:nvSpPr>
          <p:cNvPr id="6" name="Прямоугольник 5">
            <a:extLst>
              <a:ext uri="{FF2B5EF4-FFF2-40B4-BE49-F238E27FC236}">
                <a16:creationId xmlns:a16="http://schemas.microsoft.com/office/drawing/2014/main" id="{195C5A70-1B73-2D37-8610-95C9B3FFBFC2}"/>
              </a:ext>
            </a:extLst>
          </p:cNvPr>
          <p:cNvSpPr/>
          <p:nvPr/>
        </p:nvSpPr>
        <p:spPr>
          <a:xfrm>
            <a:off x="1590149" y="1842372"/>
            <a:ext cx="2257156" cy="369332"/>
          </a:xfrm>
          <a:prstGeom prst="rect">
            <a:avLst/>
          </a:prstGeom>
        </p:spPr>
        <p:txBody>
          <a:bodyPr wrap="none">
            <a:spAutoFit/>
          </a:bodyPr>
          <a:lstStyle/>
          <a:p>
            <a:r>
              <a:rPr lang="ru-RU" b="1" i="1" dirty="0"/>
              <a:t>var arr = new Array();</a:t>
            </a:r>
          </a:p>
        </p:txBody>
      </p:sp>
      <p:sp>
        <p:nvSpPr>
          <p:cNvPr id="8" name="Прямоугольник 7">
            <a:extLst>
              <a:ext uri="{FF2B5EF4-FFF2-40B4-BE49-F238E27FC236}">
                <a16:creationId xmlns:a16="http://schemas.microsoft.com/office/drawing/2014/main" id="{2E48CEC5-7F15-AAC4-7674-159C2302CAEF}"/>
              </a:ext>
            </a:extLst>
          </p:cNvPr>
          <p:cNvSpPr/>
          <p:nvPr/>
        </p:nvSpPr>
        <p:spPr>
          <a:xfrm>
            <a:off x="6180761" y="1429292"/>
            <a:ext cx="497252" cy="830997"/>
          </a:xfrm>
          <a:prstGeom prst="rect">
            <a:avLst/>
          </a:prstGeom>
        </p:spPr>
        <p:txBody>
          <a:bodyPr wrap="none">
            <a:spAutoFit/>
          </a:bodyPr>
          <a:lstStyle/>
          <a:p>
            <a:r>
              <a:rPr lang="ru-RU" sz="4800" b="1" dirty="0">
                <a:solidFill>
                  <a:srgbClr val="C00000"/>
                </a:solidFill>
              </a:rPr>
              <a:t>2</a:t>
            </a:r>
            <a:endParaRPr lang="ru-RU" sz="4800" dirty="0">
              <a:solidFill>
                <a:srgbClr val="C00000"/>
              </a:solidFill>
            </a:endParaRPr>
          </a:p>
        </p:txBody>
      </p:sp>
      <p:sp>
        <p:nvSpPr>
          <p:cNvPr id="11" name="Прямоугольник 10">
            <a:extLst>
              <a:ext uri="{FF2B5EF4-FFF2-40B4-BE49-F238E27FC236}">
                <a16:creationId xmlns:a16="http://schemas.microsoft.com/office/drawing/2014/main" id="{27BE0220-AB66-0A3F-CD4C-8387832E7C7E}"/>
              </a:ext>
            </a:extLst>
          </p:cNvPr>
          <p:cNvSpPr/>
          <p:nvPr/>
        </p:nvSpPr>
        <p:spPr>
          <a:xfrm>
            <a:off x="6678013" y="1471674"/>
            <a:ext cx="5263516" cy="646331"/>
          </a:xfrm>
          <a:prstGeom prst="rect">
            <a:avLst/>
          </a:prstGeom>
        </p:spPr>
        <p:txBody>
          <a:bodyPr wrap="square">
            <a:spAutoFit/>
          </a:bodyPr>
          <a:lstStyle/>
          <a:p>
            <a:r>
              <a:rPr lang="ru-RU" b="1" dirty="0"/>
              <a:t>Вызвать конструктор с единственным числовым аргументом, определяющим длину массива.</a:t>
            </a:r>
          </a:p>
        </p:txBody>
      </p:sp>
      <p:sp>
        <p:nvSpPr>
          <p:cNvPr id="12" name="Прямоугольник 11">
            <a:extLst>
              <a:ext uri="{FF2B5EF4-FFF2-40B4-BE49-F238E27FC236}">
                <a16:creationId xmlns:a16="http://schemas.microsoft.com/office/drawing/2014/main" id="{6E8B7D3D-810C-00AC-2CD8-0D4E2EF146D1}"/>
              </a:ext>
            </a:extLst>
          </p:cNvPr>
          <p:cNvSpPr/>
          <p:nvPr/>
        </p:nvSpPr>
        <p:spPr>
          <a:xfrm>
            <a:off x="7968959" y="2192183"/>
            <a:ext cx="2491195" cy="369332"/>
          </a:xfrm>
          <a:prstGeom prst="rect">
            <a:avLst/>
          </a:prstGeom>
        </p:spPr>
        <p:txBody>
          <a:bodyPr wrap="none">
            <a:spAutoFit/>
          </a:bodyPr>
          <a:lstStyle/>
          <a:p>
            <a:r>
              <a:rPr lang="ru-RU" b="1" i="1" dirty="0"/>
              <a:t>var arr = new Array(10);</a:t>
            </a:r>
          </a:p>
        </p:txBody>
      </p:sp>
      <p:sp>
        <p:nvSpPr>
          <p:cNvPr id="13" name="Прямоугольник 12">
            <a:extLst>
              <a:ext uri="{FF2B5EF4-FFF2-40B4-BE49-F238E27FC236}">
                <a16:creationId xmlns:a16="http://schemas.microsoft.com/office/drawing/2014/main" id="{A173A15E-F83E-2C4C-F913-4506FAEF594B}"/>
              </a:ext>
            </a:extLst>
          </p:cNvPr>
          <p:cNvSpPr/>
          <p:nvPr/>
        </p:nvSpPr>
        <p:spPr>
          <a:xfrm>
            <a:off x="1092897" y="2705113"/>
            <a:ext cx="497252" cy="830997"/>
          </a:xfrm>
          <a:prstGeom prst="rect">
            <a:avLst/>
          </a:prstGeom>
        </p:spPr>
        <p:txBody>
          <a:bodyPr wrap="none">
            <a:spAutoFit/>
          </a:bodyPr>
          <a:lstStyle/>
          <a:p>
            <a:r>
              <a:rPr lang="ru-RU" sz="4800" b="1" dirty="0">
                <a:solidFill>
                  <a:srgbClr val="C00000"/>
                </a:solidFill>
              </a:rPr>
              <a:t>3</a:t>
            </a:r>
            <a:endParaRPr lang="ru-RU" sz="4800" dirty="0">
              <a:solidFill>
                <a:srgbClr val="C00000"/>
              </a:solidFill>
            </a:endParaRPr>
          </a:p>
        </p:txBody>
      </p:sp>
      <p:sp>
        <p:nvSpPr>
          <p:cNvPr id="14" name="Прямоугольник 13">
            <a:extLst>
              <a:ext uri="{FF2B5EF4-FFF2-40B4-BE49-F238E27FC236}">
                <a16:creationId xmlns:a16="http://schemas.microsoft.com/office/drawing/2014/main" id="{7C9C1BA7-A24D-136F-16B4-A05D29DD8AC1}"/>
              </a:ext>
            </a:extLst>
          </p:cNvPr>
          <p:cNvSpPr/>
          <p:nvPr/>
        </p:nvSpPr>
        <p:spPr>
          <a:xfrm>
            <a:off x="1590149" y="2712043"/>
            <a:ext cx="6096000" cy="923330"/>
          </a:xfrm>
          <a:prstGeom prst="rect">
            <a:avLst/>
          </a:prstGeom>
        </p:spPr>
        <p:txBody>
          <a:bodyPr>
            <a:spAutoFit/>
          </a:bodyPr>
          <a:lstStyle/>
          <a:p>
            <a:pPr algn="just"/>
            <a:r>
              <a:rPr lang="ru-RU" b="1" dirty="0"/>
              <a:t>Явно указать в вызове конструктора значения первых двух или более элементов массива или один нечисловой элемент</a:t>
            </a:r>
          </a:p>
        </p:txBody>
      </p:sp>
      <p:sp>
        <p:nvSpPr>
          <p:cNvPr id="15" name="Прямоугольник 14">
            <a:extLst>
              <a:ext uri="{FF2B5EF4-FFF2-40B4-BE49-F238E27FC236}">
                <a16:creationId xmlns:a16="http://schemas.microsoft.com/office/drawing/2014/main" id="{F8A09803-2821-3628-7592-FC962689802A}"/>
              </a:ext>
            </a:extLst>
          </p:cNvPr>
          <p:cNvSpPr/>
          <p:nvPr/>
        </p:nvSpPr>
        <p:spPr>
          <a:xfrm>
            <a:off x="2522147" y="3572163"/>
            <a:ext cx="4185569" cy="369332"/>
          </a:xfrm>
          <a:prstGeom prst="rect">
            <a:avLst/>
          </a:prstGeom>
        </p:spPr>
        <p:txBody>
          <a:bodyPr wrap="none">
            <a:spAutoFit/>
          </a:bodyPr>
          <a:lstStyle/>
          <a:p>
            <a:r>
              <a:rPr lang="ru-RU" b="1" i="1" dirty="0"/>
              <a:t>var arr = new Array(5, 4, 3, 2, 1, "тест");</a:t>
            </a:r>
          </a:p>
        </p:txBody>
      </p:sp>
      <p:pic>
        <p:nvPicPr>
          <p:cNvPr id="20" name="Рисунок 19">
            <a:extLst>
              <a:ext uri="{FF2B5EF4-FFF2-40B4-BE49-F238E27FC236}">
                <a16:creationId xmlns:a16="http://schemas.microsoft.com/office/drawing/2014/main" id="{ACD05197-2671-476C-BC8B-91872644EF42}"/>
              </a:ext>
            </a:extLst>
          </p:cNvPr>
          <p:cNvPicPr>
            <a:picLocks noChangeAspect="1"/>
          </p:cNvPicPr>
          <p:nvPr/>
        </p:nvPicPr>
        <p:blipFill>
          <a:blip r:embed="rId4"/>
          <a:stretch>
            <a:fillRect/>
          </a:stretch>
        </p:blipFill>
        <p:spPr>
          <a:xfrm>
            <a:off x="295033" y="4530155"/>
            <a:ext cx="5191850" cy="2172003"/>
          </a:xfrm>
          <a:prstGeom prst="rect">
            <a:avLst/>
          </a:prstGeom>
        </p:spPr>
      </p:pic>
      <p:pic>
        <p:nvPicPr>
          <p:cNvPr id="21" name="Рисунок 20">
            <a:extLst>
              <a:ext uri="{FF2B5EF4-FFF2-40B4-BE49-F238E27FC236}">
                <a16:creationId xmlns:a16="http://schemas.microsoft.com/office/drawing/2014/main" id="{34A9D6A7-3B14-4A2D-B7F6-5E5932BE8432}"/>
              </a:ext>
            </a:extLst>
          </p:cNvPr>
          <p:cNvPicPr>
            <a:picLocks noChangeAspect="1"/>
          </p:cNvPicPr>
          <p:nvPr/>
        </p:nvPicPr>
        <p:blipFill>
          <a:blip r:embed="rId5"/>
          <a:stretch>
            <a:fillRect/>
          </a:stretch>
        </p:blipFill>
        <p:spPr>
          <a:xfrm>
            <a:off x="6095999" y="4530155"/>
            <a:ext cx="5450120" cy="2172003"/>
          </a:xfrm>
          <a:prstGeom prst="rect">
            <a:avLst/>
          </a:prstGeom>
        </p:spPr>
      </p:pic>
    </p:spTree>
    <p:extLst>
      <p:ext uri="{BB962C8B-B14F-4D97-AF65-F5344CB8AC3E}">
        <p14:creationId xmlns:p14="http://schemas.microsoft.com/office/powerpoint/2010/main" val="4225838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Операции с элементами массива</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5" name="Рисунок 4">
            <a:extLst>
              <a:ext uri="{FF2B5EF4-FFF2-40B4-BE49-F238E27FC236}">
                <a16:creationId xmlns:a16="http://schemas.microsoft.com/office/drawing/2014/main" id="{A36AE632-B26D-44D7-B4C9-32886341DFB6}"/>
              </a:ext>
            </a:extLst>
          </p:cNvPr>
          <p:cNvPicPr>
            <a:picLocks noChangeAspect="1"/>
          </p:cNvPicPr>
          <p:nvPr/>
        </p:nvPicPr>
        <p:blipFill>
          <a:blip r:embed="rId4"/>
          <a:stretch>
            <a:fillRect/>
          </a:stretch>
        </p:blipFill>
        <p:spPr>
          <a:xfrm>
            <a:off x="1081887" y="4087587"/>
            <a:ext cx="5126408" cy="2699096"/>
          </a:xfrm>
          <a:prstGeom prst="rect">
            <a:avLst/>
          </a:prstGeom>
        </p:spPr>
      </p:pic>
      <p:sp>
        <p:nvSpPr>
          <p:cNvPr id="11" name="TextBox 10">
            <a:extLst>
              <a:ext uri="{FF2B5EF4-FFF2-40B4-BE49-F238E27FC236}">
                <a16:creationId xmlns:a16="http://schemas.microsoft.com/office/drawing/2014/main" id="{E240E0BF-B4D3-4A40-9441-D7FD731B62BA}"/>
              </a:ext>
            </a:extLst>
          </p:cNvPr>
          <p:cNvSpPr txBox="1"/>
          <p:nvPr/>
        </p:nvSpPr>
        <p:spPr>
          <a:xfrm>
            <a:off x="6443190" y="6210428"/>
            <a:ext cx="6093994" cy="369332"/>
          </a:xfrm>
          <a:prstGeom prst="rect">
            <a:avLst/>
          </a:prstGeom>
          <a:noFill/>
        </p:spPr>
        <p:txBody>
          <a:bodyPr wrap="square">
            <a:spAutoFit/>
          </a:bodyPr>
          <a:lstStyle/>
          <a:p>
            <a:r>
              <a:rPr lang="ru-RU" b="1" dirty="0"/>
              <a:t>Элементы массивов можно изменять:</a:t>
            </a:r>
          </a:p>
        </p:txBody>
      </p:sp>
      <p:pic>
        <p:nvPicPr>
          <p:cNvPr id="8" name="Рисунок 7">
            <a:extLst>
              <a:ext uri="{FF2B5EF4-FFF2-40B4-BE49-F238E27FC236}">
                <a16:creationId xmlns:a16="http://schemas.microsoft.com/office/drawing/2014/main" id="{562EFF80-5232-4BB9-99CD-3CE9066B4101}"/>
              </a:ext>
            </a:extLst>
          </p:cNvPr>
          <p:cNvPicPr>
            <a:picLocks noChangeAspect="1"/>
          </p:cNvPicPr>
          <p:nvPr/>
        </p:nvPicPr>
        <p:blipFill>
          <a:blip r:embed="rId5"/>
          <a:stretch>
            <a:fillRect/>
          </a:stretch>
        </p:blipFill>
        <p:spPr>
          <a:xfrm>
            <a:off x="6562869" y="2455367"/>
            <a:ext cx="4867787" cy="3183462"/>
          </a:xfrm>
          <a:prstGeom prst="rect">
            <a:avLst/>
          </a:prstGeom>
        </p:spPr>
      </p:pic>
      <p:sp>
        <p:nvSpPr>
          <p:cNvPr id="13" name="TextBox 12">
            <a:extLst>
              <a:ext uri="{FF2B5EF4-FFF2-40B4-BE49-F238E27FC236}">
                <a16:creationId xmlns:a16="http://schemas.microsoft.com/office/drawing/2014/main" id="{B3F7AAE0-9477-4359-A8E3-64C52B5CE82C}"/>
              </a:ext>
            </a:extLst>
          </p:cNvPr>
          <p:cNvSpPr txBox="1"/>
          <p:nvPr/>
        </p:nvSpPr>
        <p:spPr>
          <a:xfrm>
            <a:off x="6420238" y="677387"/>
            <a:ext cx="5783300" cy="1711366"/>
          </a:xfrm>
          <a:prstGeom prst="rect">
            <a:avLst/>
          </a:prstGeom>
          <a:noFill/>
        </p:spPr>
        <p:txBody>
          <a:bodyPr wrap="square">
            <a:spAutoFit/>
          </a:bodyPr>
          <a:lstStyle/>
          <a:p>
            <a:pPr>
              <a:lnSpc>
                <a:spcPct val="150000"/>
              </a:lnSpc>
            </a:pPr>
            <a:r>
              <a:rPr lang="ru-RU" b="1" dirty="0"/>
              <a:t>Можно также прочитывать текущее значение элемента, выполнять с ним какие-то операции и записывать измененное значение обратно в этот элемент:</a:t>
            </a:r>
          </a:p>
        </p:txBody>
      </p:sp>
      <p:pic>
        <p:nvPicPr>
          <p:cNvPr id="14" name="Рисунок 13">
            <a:extLst>
              <a:ext uri="{FF2B5EF4-FFF2-40B4-BE49-F238E27FC236}">
                <a16:creationId xmlns:a16="http://schemas.microsoft.com/office/drawing/2014/main" id="{9D01679C-27D7-4950-A3E0-589CD9EF236C}"/>
              </a:ext>
            </a:extLst>
          </p:cNvPr>
          <p:cNvPicPr>
            <a:picLocks noChangeAspect="1"/>
          </p:cNvPicPr>
          <p:nvPr/>
        </p:nvPicPr>
        <p:blipFill>
          <a:blip r:embed="rId6"/>
          <a:stretch>
            <a:fillRect/>
          </a:stretch>
        </p:blipFill>
        <p:spPr>
          <a:xfrm>
            <a:off x="433137" y="1105092"/>
            <a:ext cx="4186990" cy="2866002"/>
          </a:xfrm>
          <a:prstGeom prst="rect">
            <a:avLst/>
          </a:prstGeom>
        </p:spPr>
      </p:pic>
      <p:sp>
        <p:nvSpPr>
          <p:cNvPr id="15" name="TextBox 14">
            <a:extLst>
              <a:ext uri="{FF2B5EF4-FFF2-40B4-BE49-F238E27FC236}">
                <a16:creationId xmlns:a16="http://schemas.microsoft.com/office/drawing/2014/main" id="{8477E128-1CA5-4D22-B9FC-A3D2BE4EA0CF}"/>
              </a:ext>
            </a:extLst>
          </p:cNvPr>
          <p:cNvSpPr txBox="1"/>
          <p:nvPr/>
        </p:nvSpPr>
        <p:spPr>
          <a:xfrm>
            <a:off x="336884" y="735760"/>
            <a:ext cx="6093994" cy="369332"/>
          </a:xfrm>
          <a:prstGeom prst="rect">
            <a:avLst/>
          </a:prstGeom>
          <a:noFill/>
        </p:spPr>
        <p:txBody>
          <a:bodyPr wrap="square">
            <a:spAutoFit/>
          </a:bodyPr>
          <a:lstStyle/>
          <a:p>
            <a:r>
              <a:rPr lang="ru-RU" b="1" dirty="0"/>
              <a:t>Получение элементов массива:</a:t>
            </a:r>
          </a:p>
        </p:txBody>
      </p:sp>
    </p:spTree>
    <p:extLst>
      <p:ext uri="{BB962C8B-B14F-4D97-AF65-F5344CB8AC3E}">
        <p14:creationId xmlns:p14="http://schemas.microsoft.com/office/powerpoint/2010/main" val="1487556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Операции с элементами массива</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5</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13" name="Рисунок 12">
            <a:extLst>
              <a:ext uri="{FF2B5EF4-FFF2-40B4-BE49-F238E27FC236}">
                <a16:creationId xmlns:a16="http://schemas.microsoft.com/office/drawing/2014/main" id="{91B73672-430B-4D1A-89B8-D567D19B611A}"/>
              </a:ext>
            </a:extLst>
          </p:cNvPr>
          <p:cNvPicPr>
            <a:picLocks noChangeAspect="1"/>
          </p:cNvPicPr>
          <p:nvPr/>
        </p:nvPicPr>
        <p:blipFill>
          <a:blip r:embed="rId4"/>
          <a:stretch>
            <a:fillRect/>
          </a:stretch>
        </p:blipFill>
        <p:spPr>
          <a:xfrm>
            <a:off x="208824" y="1205068"/>
            <a:ext cx="5201376" cy="3762900"/>
          </a:xfrm>
          <a:prstGeom prst="rect">
            <a:avLst/>
          </a:prstGeom>
        </p:spPr>
      </p:pic>
      <p:sp>
        <p:nvSpPr>
          <p:cNvPr id="15" name="TextBox 14">
            <a:extLst>
              <a:ext uri="{FF2B5EF4-FFF2-40B4-BE49-F238E27FC236}">
                <a16:creationId xmlns:a16="http://schemas.microsoft.com/office/drawing/2014/main" id="{2EB4DDB5-5C14-4BD4-9458-B2FD556FC223}"/>
              </a:ext>
            </a:extLst>
          </p:cNvPr>
          <p:cNvSpPr txBox="1"/>
          <p:nvPr/>
        </p:nvSpPr>
        <p:spPr>
          <a:xfrm>
            <a:off x="208824" y="758386"/>
            <a:ext cx="6093994" cy="369332"/>
          </a:xfrm>
          <a:prstGeom prst="rect">
            <a:avLst/>
          </a:prstGeom>
          <a:noFill/>
        </p:spPr>
        <p:txBody>
          <a:bodyPr wrap="square">
            <a:spAutoFit/>
          </a:bodyPr>
          <a:lstStyle/>
          <a:p>
            <a:r>
              <a:rPr lang="ru-RU" b="1" dirty="0"/>
              <a:t>применять операции инкремента и декремента:</a:t>
            </a:r>
          </a:p>
        </p:txBody>
      </p:sp>
      <p:pic>
        <p:nvPicPr>
          <p:cNvPr id="16" name="Рисунок 15">
            <a:extLst>
              <a:ext uri="{FF2B5EF4-FFF2-40B4-BE49-F238E27FC236}">
                <a16:creationId xmlns:a16="http://schemas.microsoft.com/office/drawing/2014/main" id="{E39A1A33-30C9-488A-96F8-9D050A574F84}"/>
              </a:ext>
            </a:extLst>
          </p:cNvPr>
          <p:cNvPicPr>
            <a:picLocks noChangeAspect="1"/>
          </p:cNvPicPr>
          <p:nvPr/>
        </p:nvPicPr>
        <p:blipFill>
          <a:blip r:embed="rId5"/>
          <a:stretch>
            <a:fillRect/>
          </a:stretch>
        </p:blipFill>
        <p:spPr>
          <a:xfrm>
            <a:off x="7230980" y="794481"/>
            <a:ext cx="4752196" cy="3089798"/>
          </a:xfrm>
          <a:prstGeom prst="rect">
            <a:avLst/>
          </a:prstGeom>
        </p:spPr>
      </p:pic>
      <p:pic>
        <p:nvPicPr>
          <p:cNvPr id="17" name="Рисунок 16">
            <a:extLst>
              <a:ext uri="{FF2B5EF4-FFF2-40B4-BE49-F238E27FC236}">
                <a16:creationId xmlns:a16="http://schemas.microsoft.com/office/drawing/2014/main" id="{EF455A81-FB79-406E-A40D-988E87B7C96A}"/>
              </a:ext>
            </a:extLst>
          </p:cNvPr>
          <p:cNvPicPr>
            <a:picLocks noChangeAspect="1"/>
          </p:cNvPicPr>
          <p:nvPr/>
        </p:nvPicPr>
        <p:blipFill>
          <a:blip r:embed="rId6"/>
          <a:stretch>
            <a:fillRect/>
          </a:stretch>
        </p:blipFill>
        <p:spPr>
          <a:xfrm>
            <a:off x="6781802" y="4056214"/>
            <a:ext cx="5210902" cy="2619741"/>
          </a:xfrm>
          <a:prstGeom prst="rect">
            <a:avLst/>
          </a:prstGeom>
        </p:spPr>
      </p:pic>
      <p:sp>
        <p:nvSpPr>
          <p:cNvPr id="19" name="TextBox 18">
            <a:extLst>
              <a:ext uri="{FF2B5EF4-FFF2-40B4-BE49-F238E27FC236}">
                <a16:creationId xmlns:a16="http://schemas.microsoft.com/office/drawing/2014/main" id="{C550A5BC-865D-4619-A4B7-BBAD782AF940}"/>
              </a:ext>
            </a:extLst>
          </p:cNvPr>
          <p:cNvSpPr txBox="1"/>
          <p:nvPr/>
        </p:nvSpPr>
        <p:spPr>
          <a:xfrm>
            <a:off x="484270" y="5045318"/>
            <a:ext cx="6093994" cy="646331"/>
          </a:xfrm>
          <a:prstGeom prst="rect">
            <a:avLst/>
          </a:prstGeom>
          <a:noFill/>
        </p:spPr>
        <p:txBody>
          <a:bodyPr wrap="square">
            <a:spAutoFit/>
          </a:bodyPr>
          <a:lstStyle/>
          <a:p>
            <a:r>
              <a:rPr lang="ru-RU" b="1" dirty="0"/>
              <a:t>Можно вначале объявить этот массив, а затем добавить в него необходимые элементы</a:t>
            </a:r>
          </a:p>
        </p:txBody>
      </p:sp>
      <p:sp>
        <p:nvSpPr>
          <p:cNvPr id="21" name="TextBox 20">
            <a:extLst>
              <a:ext uri="{FF2B5EF4-FFF2-40B4-BE49-F238E27FC236}">
                <a16:creationId xmlns:a16="http://schemas.microsoft.com/office/drawing/2014/main" id="{0501DB42-312A-48F6-ABCD-3BC83B78E858}"/>
              </a:ext>
            </a:extLst>
          </p:cNvPr>
          <p:cNvSpPr txBox="1"/>
          <p:nvPr/>
        </p:nvSpPr>
        <p:spPr>
          <a:xfrm>
            <a:off x="484270" y="5983972"/>
            <a:ext cx="6093994" cy="646331"/>
          </a:xfrm>
          <a:prstGeom prst="rect">
            <a:avLst/>
          </a:prstGeom>
          <a:noFill/>
        </p:spPr>
        <p:txBody>
          <a:bodyPr wrap="square">
            <a:spAutoFit/>
          </a:bodyPr>
          <a:lstStyle/>
          <a:p>
            <a:r>
              <a:rPr lang="ru-RU" b="1" dirty="0"/>
              <a:t>Можно также добавлять элементы в массив, уже заполненный данными:</a:t>
            </a:r>
          </a:p>
        </p:txBody>
      </p:sp>
    </p:spTree>
    <p:extLst>
      <p:ext uri="{BB962C8B-B14F-4D97-AF65-F5344CB8AC3E}">
        <p14:creationId xmlns:p14="http://schemas.microsoft.com/office/powerpoint/2010/main" val="3746198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Разреженные массивы</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6</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14" name="TextBox 13">
            <a:extLst>
              <a:ext uri="{FF2B5EF4-FFF2-40B4-BE49-F238E27FC236}">
                <a16:creationId xmlns:a16="http://schemas.microsoft.com/office/drawing/2014/main" id="{F29DF5B1-23B6-47D1-B116-7B4AD5B6AB5A}"/>
              </a:ext>
            </a:extLst>
          </p:cNvPr>
          <p:cNvSpPr txBox="1"/>
          <p:nvPr/>
        </p:nvSpPr>
        <p:spPr>
          <a:xfrm>
            <a:off x="627648" y="835838"/>
            <a:ext cx="11042984" cy="5232202"/>
          </a:xfrm>
          <a:prstGeom prst="rect">
            <a:avLst/>
          </a:prstGeom>
          <a:noFill/>
        </p:spPr>
        <p:txBody>
          <a:bodyPr wrap="square">
            <a:spAutoFit/>
          </a:bodyPr>
          <a:lstStyle/>
          <a:p>
            <a:r>
              <a:rPr lang="ru-RU" b="1" dirty="0"/>
              <a:t>Если в массиве будут ключи с пропусками, то можно получить </a:t>
            </a:r>
            <a:r>
              <a:rPr lang="ru-RU" sz="2800" b="1" dirty="0">
                <a:solidFill>
                  <a:srgbClr val="C00000"/>
                </a:solidFill>
              </a:rPr>
              <a:t>разреженный массив.</a:t>
            </a:r>
            <a:endParaRPr lang="en-US" b="1" dirty="0">
              <a:solidFill>
                <a:srgbClr val="C00000"/>
              </a:solidFill>
            </a:endParaRPr>
          </a:p>
          <a:p>
            <a:endParaRPr lang="en-US" b="1" dirty="0"/>
          </a:p>
          <a:p>
            <a:r>
              <a:rPr lang="ru-RU" b="1" dirty="0"/>
              <a:t>Пусть у нас есть некоторый массив:</a:t>
            </a:r>
          </a:p>
          <a:p>
            <a:endParaRPr lang="ru-RU" b="1" dirty="0"/>
          </a:p>
          <a:p>
            <a:r>
              <a:rPr lang="ru-RU" sz="2000" b="1" dirty="0"/>
              <a:t>let arr = ['a', 'b', 'c’];</a:t>
            </a:r>
          </a:p>
          <a:p>
            <a:endParaRPr lang="ru-RU" b="1" dirty="0"/>
          </a:p>
          <a:p>
            <a:r>
              <a:rPr lang="ru-RU" b="1" dirty="0"/>
              <a:t>Добавим к этому массиву еще один элемент так, чтобы ключи имели пропуски:</a:t>
            </a:r>
          </a:p>
          <a:p>
            <a:endParaRPr lang="ru-RU" b="1" dirty="0"/>
          </a:p>
          <a:p>
            <a:r>
              <a:rPr lang="ru-RU" sz="2000" b="1" dirty="0"/>
              <a:t>arr[4] = '!’;</a:t>
            </a:r>
          </a:p>
          <a:p>
            <a:endParaRPr lang="ru-RU" b="1" dirty="0"/>
          </a:p>
          <a:p>
            <a:r>
              <a:rPr lang="ru-RU" b="1" dirty="0"/>
              <a:t>В результате в массиве образуется дыра, имеющая значение </a:t>
            </a:r>
            <a:r>
              <a:rPr lang="ru-RU" sz="2800" b="1" dirty="0">
                <a:solidFill>
                  <a:srgbClr val="C00000"/>
                </a:solidFill>
              </a:rPr>
              <a:t>undefined</a:t>
            </a:r>
            <a:r>
              <a:rPr lang="ru-RU" b="1" dirty="0"/>
              <a:t>:</a:t>
            </a:r>
          </a:p>
          <a:p>
            <a:endParaRPr lang="ru-RU" b="1" dirty="0"/>
          </a:p>
          <a:p>
            <a:r>
              <a:rPr lang="ru-RU" sz="2000" b="1" dirty="0"/>
              <a:t>console.log(arr); // выведет ['a', 'b', 'c', undefined, '!’]</a:t>
            </a:r>
          </a:p>
          <a:p>
            <a:endParaRPr lang="ru-RU" b="1" dirty="0"/>
          </a:p>
          <a:p>
            <a:r>
              <a:rPr lang="ru-RU" b="1" dirty="0"/>
              <a:t>Длина массива будет включать в себя все дыры. To есть в нашем случае она будет 5, а не 4:</a:t>
            </a:r>
          </a:p>
          <a:p>
            <a:endParaRPr lang="ru-RU" b="1" dirty="0"/>
          </a:p>
          <a:p>
            <a:r>
              <a:rPr lang="ru-RU" sz="2000" b="1" dirty="0"/>
              <a:t>console.log(arr.length); // выведет 5</a:t>
            </a:r>
          </a:p>
        </p:txBody>
      </p:sp>
    </p:spTree>
    <p:extLst>
      <p:ext uri="{BB962C8B-B14F-4D97-AF65-F5344CB8AC3E}">
        <p14:creationId xmlns:p14="http://schemas.microsoft.com/office/powerpoint/2010/main" val="828420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Методы класса </a:t>
            </a:r>
            <a:r>
              <a:rPr lang="en-US" sz="2400" b="1" dirty="0">
                <a:effectLst>
                  <a:outerShdw blurRad="38100" dist="38100" dir="2700000" algn="tl">
                    <a:srgbClr val="000000">
                      <a:alpha val="43137"/>
                    </a:srgbClr>
                  </a:outerShdw>
                </a:effectLst>
              </a:rPr>
              <a:t>Array</a:t>
            </a:r>
            <a:endParaRPr lang="ru-RU" sz="2400" b="1"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7</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9E75250C-2B37-A29C-1421-C76E868DD065}"/>
              </a:ext>
            </a:extLst>
          </p:cNvPr>
          <p:cNvSpPr/>
          <p:nvPr/>
        </p:nvSpPr>
        <p:spPr>
          <a:xfrm>
            <a:off x="752624" y="962891"/>
            <a:ext cx="1808700" cy="461665"/>
          </a:xfrm>
          <a:prstGeom prst="rect">
            <a:avLst/>
          </a:prstGeom>
        </p:spPr>
        <p:txBody>
          <a:bodyPr wrap="none">
            <a:spAutoFit/>
          </a:bodyPr>
          <a:lstStyle/>
          <a:p>
            <a:r>
              <a:rPr lang="ru-RU" sz="2400" b="1" dirty="0">
                <a:solidFill>
                  <a:srgbClr val="C00000"/>
                </a:solidFill>
              </a:rPr>
              <a:t>Метод </a:t>
            </a:r>
            <a:r>
              <a:rPr lang="ru-RU" sz="2400" b="1" dirty="0" err="1">
                <a:solidFill>
                  <a:srgbClr val="C00000"/>
                </a:solidFill>
              </a:rPr>
              <a:t>join</a:t>
            </a:r>
            <a:r>
              <a:rPr lang="ru-RU" sz="2400" b="1" dirty="0">
                <a:solidFill>
                  <a:srgbClr val="C00000"/>
                </a:solidFill>
              </a:rPr>
              <a:t>()</a:t>
            </a:r>
          </a:p>
        </p:txBody>
      </p:sp>
      <p:sp>
        <p:nvSpPr>
          <p:cNvPr id="4" name="Прямоугольник 3">
            <a:extLst>
              <a:ext uri="{FF2B5EF4-FFF2-40B4-BE49-F238E27FC236}">
                <a16:creationId xmlns:a16="http://schemas.microsoft.com/office/drawing/2014/main" id="{18DE338D-1E73-C553-44E2-AB25B711AB21}"/>
              </a:ext>
            </a:extLst>
          </p:cNvPr>
          <p:cNvSpPr/>
          <p:nvPr/>
        </p:nvSpPr>
        <p:spPr>
          <a:xfrm>
            <a:off x="383162" y="1555428"/>
            <a:ext cx="2917352" cy="923330"/>
          </a:xfrm>
          <a:prstGeom prst="rect">
            <a:avLst/>
          </a:prstGeom>
        </p:spPr>
        <p:txBody>
          <a:bodyPr wrap="square">
            <a:spAutoFit/>
          </a:bodyPr>
          <a:lstStyle/>
          <a:p>
            <a:r>
              <a:rPr lang="ru-RU" b="1" i="1" dirty="0"/>
              <a:t>var arr = [1,2,3];</a:t>
            </a:r>
          </a:p>
          <a:p>
            <a:r>
              <a:rPr lang="ru-RU" b="1" i="1" dirty="0"/>
              <a:t>arr.join();		// '1,2,3'</a:t>
            </a:r>
          </a:p>
          <a:p>
            <a:r>
              <a:rPr lang="ru-RU" b="1" i="1" dirty="0"/>
              <a:t>arr.join("-");	// '1-2-3'</a:t>
            </a:r>
          </a:p>
        </p:txBody>
      </p:sp>
      <p:sp>
        <p:nvSpPr>
          <p:cNvPr id="5" name="Прямоугольник 4">
            <a:extLst>
              <a:ext uri="{FF2B5EF4-FFF2-40B4-BE49-F238E27FC236}">
                <a16:creationId xmlns:a16="http://schemas.microsoft.com/office/drawing/2014/main" id="{E51F0D25-D7DD-C738-B4EF-0908F018B4F3}"/>
              </a:ext>
            </a:extLst>
          </p:cNvPr>
          <p:cNvSpPr/>
          <p:nvPr/>
        </p:nvSpPr>
        <p:spPr>
          <a:xfrm>
            <a:off x="3930598" y="962891"/>
            <a:ext cx="2266774" cy="461665"/>
          </a:xfrm>
          <a:prstGeom prst="rect">
            <a:avLst/>
          </a:prstGeom>
        </p:spPr>
        <p:txBody>
          <a:bodyPr wrap="none">
            <a:spAutoFit/>
          </a:bodyPr>
          <a:lstStyle/>
          <a:p>
            <a:r>
              <a:rPr lang="ru-RU" sz="2400" b="1" dirty="0">
                <a:solidFill>
                  <a:srgbClr val="C00000"/>
                </a:solidFill>
              </a:rPr>
              <a:t>Метод reverse()</a:t>
            </a:r>
          </a:p>
        </p:txBody>
      </p:sp>
      <p:sp>
        <p:nvSpPr>
          <p:cNvPr id="6" name="Прямоугольник 5">
            <a:extLst>
              <a:ext uri="{FF2B5EF4-FFF2-40B4-BE49-F238E27FC236}">
                <a16:creationId xmlns:a16="http://schemas.microsoft.com/office/drawing/2014/main" id="{B28425D0-2888-B529-14A9-5C26E890FB2E}"/>
              </a:ext>
            </a:extLst>
          </p:cNvPr>
          <p:cNvSpPr/>
          <p:nvPr/>
        </p:nvSpPr>
        <p:spPr>
          <a:xfrm>
            <a:off x="8621451" y="962891"/>
            <a:ext cx="1829540" cy="461665"/>
          </a:xfrm>
          <a:prstGeom prst="rect">
            <a:avLst/>
          </a:prstGeom>
        </p:spPr>
        <p:txBody>
          <a:bodyPr wrap="none">
            <a:spAutoFit/>
          </a:bodyPr>
          <a:lstStyle/>
          <a:p>
            <a:r>
              <a:rPr lang="ru-RU" sz="2400" b="1" dirty="0">
                <a:solidFill>
                  <a:srgbClr val="C00000"/>
                </a:solidFill>
              </a:rPr>
              <a:t>Метод sort()</a:t>
            </a:r>
          </a:p>
        </p:txBody>
      </p:sp>
      <p:sp>
        <p:nvSpPr>
          <p:cNvPr id="8" name="Прямоугольник 7">
            <a:extLst>
              <a:ext uri="{FF2B5EF4-FFF2-40B4-BE49-F238E27FC236}">
                <a16:creationId xmlns:a16="http://schemas.microsoft.com/office/drawing/2014/main" id="{A9724891-FF65-C608-93C9-65D04FFC4E95}"/>
              </a:ext>
            </a:extLst>
          </p:cNvPr>
          <p:cNvSpPr/>
          <p:nvPr/>
        </p:nvSpPr>
        <p:spPr>
          <a:xfrm>
            <a:off x="3570550" y="1555427"/>
            <a:ext cx="3874582" cy="646331"/>
          </a:xfrm>
          <a:prstGeom prst="rect">
            <a:avLst/>
          </a:prstGeom>
        </p:spPr>
        <p:txBody>
          <a:bodyPr wrap="square">
            <a:spAutoFit/>
          </a:bodyPr>
          <a:lstStyle/>
          <a:p>
            <a:r>
              <a:rPr lang="ru-RU" b="1" i="1" dirty="0"/>
              <a:t>var arr = [1,2,3];</a:t>
            </a:r>
          </a:p>
          <a:p>
            <a:r>
              <a:rPr lang="ru-RU" b="1" i="1" dirty="0"/>
              <a:t>arr.reverse().</a:t>
            </a:r>
            <a:r>
              <a:rPr lang="ru-RU" b="1" i="1" dirty="0" err="1"/>
              <a:t>join</a:t>
            </a:r>
            <a:r>
              <a:rPr lang="ru-RU" b="1" i="1" dirty="0"/>
              <a:t>();	 // "3,2,1"</a:t>
            </a:r>
          </a:p>
        </p:txBody>
      </p:sp>
      <p:sp>
        <p:nvSpPr>
          <p:cNvPr id="11" name="Прямоугольник 10">
            <a:extLst>
              <a:ext uri="{FF2B5EF4-FFF2-40B4-BE49-F238E27FC236}">
                <a16:creationId xmlns:a16="http://schemas.microsoft.com/office/drawing/2014/main" id="{F88EEBB9-6237-6B4A-7F9F-92D0401CF18B}"/>
              </a:ext>
            </a:extLst>
          </p:cNvPr>
          <p:cNvSpPr/>
          <p:nvPr/>
        </p:nvSpPr>
        <p:spPr>
          <a:xfrm>
            <a:off x="6894297" y="1487706"/>
            <a:ext cx="5283848" cy="2585323"/>
          </a:xfrm>
          <a:prstGeom prst="rect">
            <a:avLst/>
          </a:prstGeom>
        </p:spPr>
        <p:txBody>
          <a:bodyPr wrap="square">
            <a:spAutoFit/>
          </a:bodyPr>
          <a:lstStyle/>
          <a:p>
            <a:r>
              <a:rPr lang="ru-RU" b="1" i="1" dirty="0"/>
              <a:t>var arr = [33, 4, 1111, 222];</a:t>
            </a:r>
          </a:p>
          <a:p>
            <a:r>
              <a:rPr lang="ru-RU" b="1" i="1" dirty="0"/>
              <a:t>// Алфавитный порядок: 1111, 222, 33, 4</a:t>
            </a:r>
          </a:p>
          <a:p>
            <a:r>
              <a:rPr lang="ru-RU" b="1" i="1" dirty="0"/>
              <a:t>arr.sort();			</a:t>
            </a:r>
          </a:p>
          <a:p>
            <a:r>
              <a:rPr lang="ru-RU" b="1" i="1" dirty="0"/>
              <a:t>arr.sort(function(a,b) {</a:t>
            </a:r>
          </a:p>
          <a:p>
            <a:r>
              <a:rPr lang="ru-RU" b="1" i="1" dirty="0"/>
              <a:t>     // Числовой порядок: 4, 33, 222, 1111 </a:t>
            </a:r>
          </a:p>
          <a:p>
            <a:r>
              <a:rPr lang="ru-RU" b="1" i="1" dirty="0"/>
              <a:t>     // Возвращает значение &lt; 0, 0 или &gt; 0</a:t>
            </a:r>
          </a:p>
          <a:p>
            <a:r>
              <a:rPr lang="ru-RU" b="1" i="1" dirty="0"/>
              <a:t>     // в зависимости от порядка сортировки a и b</a:t>
            </a:r>
          </a:p>
          <a:p>
            <a:r>
              <a:rPr lang="ru-RU" b="1" i="1" dirty="0"/>
              <a:t>     return a-b;		</a:t>
            </a:r>
          </a:p>
          <a:p>
            <a:r>
              <a:rPr lang="ru-RU" b="1" i="1" dirty="0"/>
              <a:t>});</a:t>
            </a:r>
          </a:p>
        </p:txBody>
      </p:sp>
      <p:sp>
        <p:nvSpPr>
          <p:cNvPr id="12" name="Прямоугольник 11">
            <a:extLst>
              <a:ext uri="{FF2B5EF4-FFF2-40B4-BE49-F238E27FC236}">
                <a16:creationId xmlns:a16="http://schemas.microsoft.com/office/drawing/2014/main" id="{DF68C142-5F3E-0EC4-441D-4FDA90D108D2}"/>
              </a:ext>
            </a:extLst>
          </p:cNvPr>
          <p:cNvSpPr/>
          <p:nvPr/>
        </p:nvSpPr>
        <p:spPr>
          <a:xfrm>
            <a:off x="8560722" y="3905346"/>
            <a:ext cx="2164823" cy="461665"/>
          </a:xfrm>
          <a:prstGeom prst="rect">
            <a:avLst/>
          </a:prstGeom>
        </p:spPr>
        <p:txBody>
          <a:bodyPr wrap="none">
            <a:spAutoFit/>
          </a:bodyPr>
          <a:lstStyle/>
          <a:p>
            <a:r>
              <a:rPr lang="ru-RU" sz="2400" b="1" dirty="0">
                <a:solidFill>
                  <a:srgbClr val="C00000"/>
                </a:solidFill>
              </a:rPr>
              <a:t>Метод concat()</a:t>
            </a:r>
          </a:p>
        </p:txBody>
      </p:sp>
      <p:sp>
        <p:nvSpPr>
          <p:cNvPr id="13" name="Прямоугольник 12">
            <a:extLst>
              <a:ext uri="{FF2B5EF4-FFF2-40B4-BE49-F238E27FC236}">
                <a16:creationId xmlns:a16="http://schemas.microsoft.com/office/drawing/2014/main" id="{333B79E9-992E-CF99-994A-DE34625B369D}"/>
              </a:ext>
            </a:extLst>
          </p:cNvPr>
          <p:cNvSpPr/>
          <p:nvPr/>
        </p:nvSpPr>
        <p:spPr>
          <a:xfrm>
            <a:off x="7306321" y="4429944"/>
            <a:ext cx="4779907" cy="1200329"/>
          </a:xfrm>
          <a:prstGeom prst="rect">
            <a:avLst/>
          </a:prstGeom>
        </p:spPr>
        <p:txBody>
          <a:bodyPr wrap="square">
            <a:spAutoFit/>
          </a:bodyPr>
          <a:lstStyle/>
          <a:p>
            <a:r>
              <a:rPr lang="ru-RU" b="1" i="1" dirty="0"/>
              <a:t>var arr = [1,2,3];</a:t>
            </a:r>
          </a:p>
          <a:p>
            <a:r>
              <a:rPr lang="ru-RU" b="1" i="1" dirty="0"/>
              <a:t>arr.concat(4, 5);	</a:t>
            </a:r>
            <a:r>
              <a:rPr lang="en-US" b="1" i="1" dirty="0"/>
              <a:t>      </a:t>
            </a:r>
            <a:r>
              <a:rPr lang="ru-RU" b="1" i="1" dirty="0"/>
              <a:t>// Вернет [1,2,3,4,5]</a:t>
            </a:r>
          </a:p>
          <a:p>
            <a:r>
              <a:rPr lang="ru-RU" b="1" i="1" dirty="0"/>
              <a:t>arr.concat([4,5]);	</a:t>
            </a:r>
            <a:r>
              <a:rPr lang="en-US" b="1" i="1" dirty="0"/>
              <a:t>      </a:t>
            </a:r>
            <a:r>
              <a:rPr lang="ru-RU" b="1" i="1" dirty="0"/>
              <a:t>// Вернет [1,2,3,4,5]</a:t>
            </a:r>
          </a:p>
          <a:p>
            <a:r>
              <a:rPr lang="ru-RU" b="1" i="1" dirty="0"/>
              <a:t>arr.concat([4,5],[6,7])</a:t>
            </a:r>
            <a:r>
              <a:rPr lang="en-US" b="1" i="1" dirty="0"/>
              <a:t>;</a:t>
            </a:r>
            <a:r>
              <a:rPr lang="ru-RU" b="1" i="1" dirty="0"/>
              <a:t> // Вернет [1,2,3,4,5,6,7]</a:t>
            </a:r>
          </a:p>
        </p:txBody>
      </p:sp>
      <p:sp>
        <p:nvSpPr>
          <p:cNvPr id="14" name="Прямоугольник 13">
            <a:extLst>
              <a:ext uri="{FF2B5EF4-FFF2-40B4-BE49-F238E27FC236}">
                <a16:creationId xmlns:a16="http://schemas.microsoft.com/office/drawing/2014/main" id="{6A2E8233-E089-945D-0FEC-BDD742BFF16E}"/>
              </a:ext>
            </a:extLst>
          </p:cNvPr>
          <p:cNvSpPr/>
          <p:nvPr/>
        </p:nvSpPr>
        <p:spPr>
          <a:xfrm>
            <a:off x="759802" y="2755590"/>
            <a:ext cx="1882438" cy="461665"/>
          </a:xfrm>
          <a:prstGeom prst="rect">
            <a:avLst/>
          </a:prstGeom>
        </p:spPr>
        <p:txBody>
          <a:bodyPr wrap="none">
            <a:spAutoFit/>
          </a:bodyPr>
          <a:lstStyle/>
          <a:p>
            <a:r>
              <a:rPr lang="ru-RU" sz="2400" b="1" dirty="0">
                <a:solidFill>
                  <a:srgbClr val="C00000"/>
                </a:solidFill>
              </a:rPr>
              <a:t>Метод slice()</a:t>
            </a:r>
          </a:p>
        </p:txBody>
      </p:sp>
      <p:sp>
        <p:nvSpPr>
          <p:cNvPr id="15" name="Прямоугольник 14">
            <a:extLst>
              <a:ext uri="{FF2B5EF4-FFF2-40B4-BE49-F238E27FC236}">
                <a16:creationId xmlns:a16="http://schemas.microsoft.com/office/drawing/2014/main" id="{CB25180D-E013-85F0-51FE-FA21BC66CF4B}"/>
              </a:ext>
            </a:extLst>
          </p:cNvPr>
          <p:cNvSpPr/>
          <p:nvPr/>
        </p:nvSpPr>
        <p:spPr>
          <a:xfrm>
            <a:off x="224712" y="3494087"/>
            <a:ext cx="3408048" cy="1477328"/>
          </a:xfrm>
          <a:prstGeom prst="rect">
            <a:avLst/>
          </a:prstGeom>
        </p:spPr>
        <p:txBody>
          <a:bodyPr wrap="square">
            <a:spAutoFit/>
          </a:bodyPr>
          <a:lstStyle/>
          <a:p>
            <a:r>
              <a:rPr lang="ru-RU" b="1" i="1" dirty="0"/>
              <a:t>var arr = [1,2,3,4,5];</a:t>
            </a:r>
          </a:p>
          <a:p>
            <a:r>
              <a:rPr lang="ru-RU" b="1" i="1" dirty="0"/>
              <a:t>arr.slice(0,3);</a:t>
            </a:r>
            <a:r>
              <a:rPr lang="en-US" b="1" i="1" dirty="0"/>
              <a:t>    </a:t>
            </a:r>
            <a:r>
              <a:rPr lang="ru-RU" b="1" i="1" dirty="0"/>
              <a:t>// Вернет [1,2,3]</a:t>
            </a:r>
          </a:p>
          <a:p>
            <a:r>
              <a:rPr lang="ru-RU" b="1" i="1" dirty="0"/>
              <a:t>arr.slice(3);</a:t>
            </a:r>
            <a:r>
              <a:rPr lang="en-US" b="1" i="1" dirty="0"/>
              <a:t>       </a:t>
            </a:r>
            <a:r>
              <a:rPr lang="ru-RU" b="1" i="1" dirty="0"/>
              <a:t>// Вернет [4,5]</a:t>
            </a:r>
          </a:p>
          <a:p>
            <a:r>
              <a:rPr lang="ru-RU" b="1" i="1" dirty="0"/>
              <a:t>arr.slice(1,-1);</a:t>
            </a:r>
            <a:r>
              <a:rPr lang="en-US" b="1" i="1" dirty="0"/>
              <a:t>  </a:t>
            </a:r>
            <a:r>
              <a:rPr lang="ru-RU" b="1" i="1" dirty="0"/>
              <a:t>// Вернет [2,3,4]</a:t>
            </a:r>
          </a:p>
          <a:p>
            <a:r>
              <a:rPr lang="ru-RU" b="1" i="1" dirty="0"/>
              <a:t>arr.slice(-3,-2);</a:t>
            </a:r>
            <a:r>
              <a:rPr lang="en-US" b="1" i="1" dirty="0"/>
              <a:t> </a:t>
            </a:r>
            <a:r>
              <a:rPr lang="ru-RU" b="1" i="1" dirty="0"/>
              <a:t>// Вернет [3]</a:t>
            </a:r>
          </a:p>
        </p:txBody>
      </p:sp>
      <p:sp>
        <p:nvSpPr>
          <p:cNvPr id="16" name="Прямоугольник 15">
            <a:extLst>
              <a:ext uri="{FF2B5EF4-FFF2-40B4-BE49-F238E27FC236}">
                <a16:creationId xmlns:a16="http://schemas.microsoft.com/office/drawing/2014/main" id="{587AB10F-BF91-728A-F39D-5F74A0584562}"/>
              </a:ext>
            </a:extLst>
          </p:cNvPr>
          <p:cNvSpPr/>
          <p:nvPr/>
        </p:nvSpPr>
        <p:spPr>
          <a:xfrm>
            <a:off x="4182166" y="2781715"/>
            <a:ext cx="2047548" cy="461665"/>
          </a:xfrm>
          <a:prstGeom prst="rect">
            <a:avLst/>
          </a:prstGeom>
        </p:spPr>
        <p:txBody>
          <a:bodyPr wrap="none">
            <a:spAutoFit/>
          </a:bodyPr>
          <a:lstStyle/>
          <a:p>
            <a:r>
              <a:rPr lang="ru-RU" sz="2400" b="1" dirty="0">
                <a:solidFill>
                  <a:srgbClr val="C00000"/>
                </a:solidFill>
              </a:rPr>
              <a:t>Метод splice()</a:t>
            </a:r>
          </a:p>
        </p:txBody>
      </p:sp>
      <p:sp>
        <p:nvSpPr>
          <p:cNvPr id="17" name="Прямоугольник 16">
            <a:extLst>
              <a:ext uri="{FF2B5EF4-FFF2-40B4-BE49-F238E27FC236}">
                <a16:creationId xmlns:a16="http://schemas.microsoft.com/office/drawing/2014/main" id="{97421E29-4D68-C0EC-C0D6-7D625ED772B6}"/>
              </a:ext>
            </a:extLst>
          </p:cNvPr>
          <p:cNvSpPr/>
          <p:nvPr/>
        </p:nvSpPr>
        <p:spPr>
          <a:xfrm>
            <a:off x="3545635" y="3424998"/>
            <a:ext cx="6096000" cy="2419124"/>
          </a:xfrm>
          <a:prstGeom prst="rect">
            <a:avLst/>
          </a:prstGeom>
        </p:spPr>
        <p:txBody>
          <a:bodyPr>
            <a:spAutoFit/>
          </a:bodyPr>
          <a:lstStyle/>
          <a:p>
            <a:pPr indent="215900" algn="just">
              <a:lnSpc>
                <a:spcPct val="120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latin typeface="Calibri" panose="020F0502020204030204" pitchFamily="34" charset="0"/>
                <a:ea typeface="Times New Roman" panose="02020603050405020304" pitchFamily="18" charset="0"/>
                <a:cs typeface="Courier New" panose="02070309020205020404" pitchFamily="49" charset="0"/>
              </a:rPr>
              <a:t>var arr = [1,2,3,4,5,6,7,8];</a:t>
            </a:r>
            <a:endParaRPr lang="ru-RU" b="1" i="1" dirty="0">
              <a:latin typeface="Calibri" panose="020F0502020204030204" pitchFamily="34" charset="0"/>
              <a:ea typeface="Times New Roman" panose="02020603050405020304" pitchFamily="18" charset="0"/>
              <a:cs typeface="Courier New" panose="02070309020205020404" pitchFamily="49" charset="0"/>
            </a:endParaRPr>
          </a:p>
          <a:p>
            <a:pPr indent="215900" algn="just">
              <a:lnSpc>
                <a:spcPct val="120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latin typeface="Calibri" panose="020F0502020204030204" pitchFamily="34" charset="0"/>
                <a:ea typeface="Times New Roman" panose="02020603050405020304" pitchFamily="18" charset="0"/>
                <a:cs typeface="Courier New" panose="02070309020205020404" pitchFamily="49" charset="0"/>
              </a:rPr>
              <a:t>arr.splice(4); </a:t>
            </a:r>
          </a:p>
          <a:p>
            <a:pPr indent="215900" algn="just">
              <a:lnSpc>
                <a:spcPct val="120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latin typeface="Calibri" panose="020F0502020204030204" pitchFamily="34" charset="0"/>
                <a:ea typeface="Times New Roman" panose="02020603050405020304" pitchFamily="18" charset="0"/>
                <a:cs typeface="Courier New" panose="02070309020205020404" pitchFamily="49" charset="0"/>
              </a:rPr>
              <a:t>// </a:t>
            </a:r>
            <a:r>
              <a:rPr lang="en-US" b="1" i="1" dirty="0" err="1">
                <a:latin typeface="Calibri" panose="020F0502020204030204" pitchFamily="34" charset="0"/>
                <a:ea typeface="Times New Roman" panose="02020603050405020304" pitchFamily="18" charset="0"/>
                <a:cs typeface="Courier New" panose="02070309020205020404" pitchFamily="49" charset="0"/>
              </a:rPr>
              <a:t>Вернет</a:t>
            </a:r>
            <a:r>
              <a:rPr lang="en-US" b="1" i="1" dirty="0">
                <a:latin typeface="Calibri" panose="020F0502020204030204" pitchFamily="34" charset="0"/>
                <a:ea typeface="Times New Roman" panose="02020603050405020304" pitchFamily="18" charset="0"/>
                <a:cs typeface="Courier New" panose="02070309020205020404" pitchFamily="49" charset="0"/>
              </a:rPr>
              <a:t> [5,6,7,8], arr = [1,2,3,4]</a:t>
            </a:r>
            <a:endParaRPr lang="ru-RU" b="1" i="1" dirty="0">
              <a:latin typeface="Calibri" panose="020F0502020204030204" pitchFamily="34" charset="0"/>
              <a:ea typeface="Times New Roman" panose="02020603050405020304" pitchFamily="18" charset="0"/>
              <a:cs typeface="Courier New" panose="02070309020205020404" pitchFamily="49" charset="0"/>
            </a:endParaRPr>
          </a:p>
          <a:p>
            <a:pPr indent="215900" algn="just">
              <a:lnSpc>
                <a:spcPct val="120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latin typeface="Calibri" panose="020F0502020204030204" pitchFamily="34" charset="0"/>
                <a:ea typeface="Times New Roman" panose="02020603050405020304" pitchFamily="18" charset="0"/>
                <a:cs typeface="Courier New" panose="02070309020205020404" pitchFamily="49" charset="0"/>
              </a:rPr>
              <a:t>arr.splice(1,2);</a:t>
            </a:r>
          </a:p>
          <a:p>
            <a:pPr indent="215900" algn="just">
              <a:lnSpc>
                <a:spcPct val="120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latin typeface="Calibri" panose="020F0502020204030204" pitchFamily="34" charset="0"/>
                <a:ea typeface="Times New Roman" panose="02020603050405020304" pitchFamily="18" charset="0"/>
                <a:cs typeface="Courier New" panose="02070309020205020404" pitchFamily="49" charset="0"/>
              </a:rPr>
              <a:t>// </a:t>
            </a:r>
            <a:r>
              <a:rPr lang="en-US" b="1" i="1" dirty="0" err="1">
                <a:latin typeface="Calibri" panose="020F0502020204030204" pitchFamily="34" charset="0"/>
                <a:ea typeface="Times New Roman" panose="02020603050405020304" pitchFamily="18" charset="0"/>
                <a:cs typeface="Courier New" panose="02070309020205020404" pitchFamily="49" charset="0"/>
              </a:rPr>
              <a:t>Вернет</a:t>
            </a:r>
            <a:r>
              <a:rPr lang="en-US" b="1" i="1" dirty="0">
                <a:latin typeface="Calibri" panose="020F0502020204030204" pitchFamily="34" charset="0"/>
                <a:ea typeface="Times New Roman" panose="02020603050405020304" pitchFamily="18" charset="0"/>
                <a:cs typeface="Courier New" panose="02070309020205020404" pitchFamily="49" charset="0"/>
              </a:rPr>
              <a:t> [2,3], arr = [1,4]</a:t>
            </a:r>
            <a:endParaRPr lang="ru-RU" b="1" i="1" dirty="0">
              <a:latin typeface="Calibri" panose="020F0502020204030204" pitchFamily="34" charset="0"/>
              <a:ea typeface="Times New Roman" panose="02020603050405020304" pitchFamily="18" charset="0"/>
              <a:cs typeface="Courier New" panose="02070309020205020404" pitchFamily="49" charset="0"/>
            </a:endParaRPr>
          </a:p>
          <a:p>
            <a:pPr indent="215900" algn="just">
              <a:lnSpc>
                <a:spcPct val="120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latin typeface="Calibri" panose="020F0502020204030204" pitchFamily="34" charset="0"/>
                <a:ea typeface="Times New Roman" panose="02020603050405020304" pitchFamily="18" charset="0"/>
                <a:cs typeface="Courier New" panose="02070309020205020404" pitchFamily="49" charset="0"/>
              </a:rPr>
              <a:t>arr.splice(1,1);</a:t>
            </a:r>
          </a:p>
          <a:p>
            <a:pPr indent="215900" algn="just">
              <a:lnSpc>
                <a:spcPct val="120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i="1" dirty="0">
                <a:latin typeface="Calibri" panose="020F0502020204030204" pitchFamily="34" charset="0"/>
                <a:ea typeface="Times New Roman" panose="02020603050405020304" pitchFamily="18" charset="0"/>
                <a:cs typeface="Courier New" panose="02070309020205020404" pitchFamily="49" charset="0"/>
              </a:rPr>
              <a:t>// </a:t>
            </a:r>
            <a:r>
              <a:rPr lang="en-US" b="1" i="1" dirty="0" err="1">
                <a:latin typeface="Calibri" panose="020F0502020204030204" pitchFamily="34" charset="0"/>
                <a:ea typeface="Times New Roman" panose="02020603050405020304" pitchFamily="18" charset="0"/>
                <a:cs typeface="Courier New" panose="02070309020205020404" pitchFamily="49" charset="0"/>
              </a:rPr>
              <a:t>Вернет</a:t>
            </a:r>
            <a:r>
              <a:rPr lang="en-US" b="1" i="1" dirty="0">
                <a:latin typeface="Calibri" panose="020F0502020204030204" pitchFamily="34" charset="0"/>
                <a:ea typeface="Times New Roman" panose="02020603050405020304" pitchFamily="18" charset="0"/>
                <a:cs typeface="Courier New" panose="02070309020205020404" pitchFamily="49" charset="0"/>
              </a:rPr>
              <a:t> [4]; arr = [1]</a:t>
            </a:r>
          </a:p>
        </p:txBody>
      </p:sp>
    </p:spTree>
    <p:extLst>
      <p:ext uri="{BB962C8B-B14F-4D97-AF65-F5344CB8AC3E}">
        <p14:creationId xmlns:p14="http://schemas.microsoft.com/office/powerpoint/2010/main" val="2286879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Пример использования метода </a:t>
            </a:r>
            <a:r>
              <a:rPr lang="en-US" sz="2400" b="1" dirty="0">
                <a:effectLst>
                  <a:outerShdw blurRad="38100" dist="38100" dir="2700000" algn="tl">
                    <a:srgbClr val="000000">
                      <a:alpha val="43137"/>
                    </a:srgbClr>
                  </a:outerShdw>
                </a:effectLst>
              </a:rPr>
              <a:t>splice</a:t>
            </a:r>
            <a:endParaRPr lang="ru-RU" sz="2400" b="1"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8</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20" name="TextBox 19">
            <a:extLst>
              <a:ext uri="{FF2B5EF4-FFF2-40B4-BE49-F238E27FC236}">
                <a16:creationId xmlns:a16="http://schemas.microsoft.com/office/drawing/2014/main" id="{79C4DBB2-3D70-45CB-84F2-80569A253547}"/>
              </a:ext>
            </a:extLst>
          </p:cNvPr>
          <p:cNvSpPr txBox="1"/>
          <p:nvPr/>
        </p:nvSpPr>
        <p:spPr>
          <a:xfrm>
            <a:off x="254669" y="881902"/>
            <a:ext cx="11358540" cy="369332"/>
          </a:xfrm>
          <a:prstGeom prst="rect">
            <a:avLst/>
          </a:prstGeom>
          <a:noFill/>
        </p:spPr>
        <p:txBody>
          <a:bodyPr wrap="square">
            <a:spAutoFit/>
          </a:bodyPr>
          <a:lstStyle/>
          <a:p>
            <a:r>
              <a:rPr lang="ru-RU" b="1" dirty="0"/>
              <a:t>Метод slice вырезает и возвращает указанную часть массива. Сам массив при этом не изменяется.</a:t>
            </a:r>
          </a:p>
        </p:txBody>
      </p:sp>
      <p:sp>
        <p:nvSpPr>
          <p:cNvPr id="22" name="TextBox 21">
            <a:extLst>
              <a:ext uri="{FF2B5EF4-FFF2-40B4-BE49-F238E27FC236}">
                <a16:creationId xmlns:a16="http://schemas.microsoft.com/office/drawing/2014/main" id="{FD9083DD-803E-4991-9E6B-6F1A8F30470A}"/>
              </a:ext>
            </a:extLst>
          </p:cNvPr>
          <p:cNvSpPr txBox="1"/>
          <p:nvPr/>
        </p:nvSpPr>
        <p:spPr>
          <a:xfrm>
            <a:off x="2949612" y="1529043"/>
            <a:ext cx="6093994" cy="400110"/>
          </a:xfrm>
          <a:prstGeom prst="rect">
            <a:avLst/>
          </a:prstGeom>
          <a:noFill/>
        </p:spPr>
        <p:txBody>
          <a:bodyPr wrap="square">
            <a:spAutoFit/>
          </a:bodyPr>
          <a:lstStyle/>
          <a:p>
            <a:r>
              <a:rPr lang="ru-RU" sz="2000" b="1" dirty="0" err="1">
                <a:solidFill>
                  <a:srgbClr val="C00000"/>
                </a:solidFill>
              </a:rPr>
              <a:t>массив.slice</a:t>
            </a:r>
            <a:r>
              <a:rPr lang="ru-RU" sz="2000" b="1" dirty="0">
                <a:solidFill>
                  <a:srgbClr val="C00000"/>
                </a:solidFill>
              </a:rPr>
              <a:t>(откуда отрезать, [докуда отрезать]);</a:t>
            </a:r>
          </a:p>
        </p:txBody>
      </p:sp>
      <p:pic>
        <p:nvPicPr>
          <p:cNvPr id="23" name="Рисунок 22">
            <a:extLst>
              <a:ext uri="{FF2B5EF4-FFF2-40B4-BE49-F238E27FC236}">
                <a16:creationId xmlns:a16="http://schemas.microsoft.com/office/drawing/2014/main" id="{EACFCB07-7959-4F4D-99AE-E49029EE1E20}"/>
              </a:ext>
            </a:extLst>
          </p:cNvPr>
          <p:cNvPicPr>
            <a:picLocks noChangeAspect="1"/>
          </p:cNvPicPr>
          <p:nvPr/>
        </p:nvPicPr>
        <p:blipFill>
          <a:blip r:embed="rId4"/>
          <a:stretch>
            <a:fillRect/>
          </a:stretch>
        </p:blipFill>
        <p:spPr>
          <a:xfrm>
            <a:off x="254669" y="2299295"/>
            <a:ext cx="5258534" cy="2638793"/>
          </a:xfrm>
          <a:prstGeom prst="rect">
            <a:avLst/>
          </a:prstGeom>
        </p:spPr>
      </p:pic>
      <p:pic>
        <p:nvPicPr>
          <p:cNvPr id="24" name="Рисунок 23">
            <a:extLst>
              <a:ext uri="{FF2B5EF4-FFF2-40B4-BE49-F238E27FC236}">
                <a16:creationId xmlns:a16="http://schemas.microsoft.com/office/drawing/2014/main" id="{CF208385-70EA-4DFC-96AC-07C477C8169B}"/>
              </a:ext>
            </a:extLst>
          </p:cNvPr>
          <p:cNvPicPr>
            <a:picLocks noChangeAspect="1"/>
          </p:cNvPicPr>
          <p:nvPr/>
        </p:nvPicPr>
        <p:blipFill>
          <a:blip r:embed="rId5"/>
          <a:stretch>
            <a:fillRect/>
          </a:stretch>
        </p:blipFill>
        <p:spPr>
          <a:xfrm>
            <a:off x="6141597" y="3561347"/>
            <a:ext cx="5471612" cy="2745791"/>
          </a:xfrm>
          <a:prstGeom prst="rect">
            <a:avLst/>
          </a:prstGeom>
        </p:spPr>
      </p:pic>
    </p:spTree>
    <p:extLst>
      <p:ext uri="{BB962C8B-B14F-4D97-AF65-F5344CB8AC3E}">
        <p14:creationId xmlns:p14="http://schemas.microsoft.com/office/powerpoint/2010/main" val="1131052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Многомерные массивы</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9</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7B940535-6226-C3DC-8C69-03213E396A18}"/>
              </a:ext>
            </a:extLst>
          </p:cNvPr>
          <p:cNvSpPr/>
          <p:nvPr/>
        </p:nvSpPr>
        <p:spPr>
          <a:xfrm>
            <a:off x="6407185" y="2056686"/>
            <a:ext cx="5784815" cy="4801314"/>
          </a:xfrm>
          <a:prstGeom prst="rect">
            <a:avLst/>
          </a:prstGeom>
        </p:spPr>
        <p:txBody>
          <a:bodyPr wrap="square">
            <a:spAutoFit/>
          </a:bodyPr>
          <a:lstStyle/>
          <a:p>
            <a:r>
              <a:rPr lang="ru-RU" b="1" i="1" dirty="0"/>
              <a:t>// Создать многомерный массив</a:t>
            </a:r>
          </a:p>
          <a:p>
            <a:r>
              <a:rPr lang="ru-RU" b="1" i="1" dirty="0"/>
              <a:t>// В таблице 10 строк</a:t>
            </a:r>
          </a:p>
          <a:p>
            <a:r>
              <a:rPr lang="ru-RU" b="1" i="1" dirty="0"/>
              <a:t>var table = new Array(10);		</a:t>
            </a:r>
          </a:p>
          <a:p>
            <a:endParaRPr lang="ru-RU" b="1" i="1" dirty="0"/>
          </a:p>
          <a:p>
            <a:r>
              <a:rPr lang="ru-RU" b="1" i="1" dirty="0"/>
              <a:t>// В каждой строке 10 столбцов</a:t>
            </a:r>
          </a:p>
          <a:p>
            <a:r>
              <a:rPr lang="ru-RU" b="1" i="1" dirty="0"/>
              <a:t>for(var i = 0; i &lt; table.length; i++)</a:t>
            </a:r>
          </a:p>
          <a:p>
            <a:r>
              <a:rPr lang="ru-RU" b="1" i="1" dirty="0"/>
              <a:t>	table[i] = new Array(10);	</a:t>
            </a:r>
          </a:p>
          <a:p>
            <a:endParaRPr lang="ru-RU" b="1" i="1" dirty="0"/>
          </a:p>
          <a:p>
            <a:r>
              <a:rPr lang="ru-RU" b="1" i="1" dirty="0"/>
              <a:t>// Инициализировать массив и вывести на консоль</a:t>
            </a:r>
          </a:p>
          <a:p>
            <a:r>
              <a:rPr lang="ru-RU" b="1" i="1" dirty="0"/>
              <a:t>for(var </a:t>
            </a:r>
            <a:r>
              <a:rPr lang="ru-RU" b="1" i="1" dirty="0" err="1"/>
              <a:t>row</a:t>
            </a:r>
            <a:r>
              <a:rPr lang="ru-RU" b="1" i="1" dirty="0"/>
              <a:t> = 0, str = ''; </a:t>
            </a:r>
            <a:r>
              <a:rPr lang="ru-RU" b="1" i="1" dirty="0" err="1"/>
              <a:t>row</a:t>
            </a:r>
            <a:r>
              <a:rPr lang="ru-RU" b="1" i="1" dirty="0"/>
              <a:t> &lt; table.length; </a:t>
            </a:r>
            <a:r>
              <a:rPr lang="ru-RU" b="1" i="1" dirty="0" err="1"/>
              <a:t>row</a:t>
            </a:r>
            <a:r>
              <a:rPr lang="ru-RU" b="1" i="1" dirty="0"/>
              <a:t>++) {</a:t>
            </a:r>
          </a:p>
          <a:p>
            <a:r>
              <a:rPr lang="ru-RU" b="1" i="1" dirty="0"/>
              <a:t>	for(var </a:t>
            </a:r>
            <a:r>
              <a:rPr lang="ru-RU" b="1" i="1" dirty="0" err="1"/>
              <a:t>col</a:t>
            </a:r>
            <a:r>
              <a:rPr lang="ru-RU" b="1" i="1" dirty="0"/>
              <a:t> = 0; </a:t>
            </a:r>
            <a:r>
              <a:rPr lang="ru-RU" b="1" i="1" dirty="0" err="1"/>
              <a:t>col</a:t>
            </a:r>
            <a:r>
              <a:rPr lang="ru-RU" b="1" i="1" dirty="0"/>
              <a:t> &lt; table[</a:t>
            </a:r>
            <a:r>
              <a:rPr lang="ru-RU" b="1" i="1" dirty="0" err="1"/>
              <a:t>row</a:t>
            </a:r>
            <a:r>
              <a:rPr lang="ru-RU" b="1" i="1" dirty="0"/>
              <a:t>].length; </a:t>
            </a:r>
            <a:r>
              <a:rPr lang="ru-RU" b="1" i="1" dirty="0" err="1"/>
              <a:t>col</a:t>
            </a:r>
            <a:r>
              <a:rPr lang="ru-RU" b="1" i="1" dirty="0"/>
              <a:t>++) {</a:t>
            </a:r>
          </a:p>
          <a:p>
            <a:r>
              <a:rPr lang="ru-RU" b="1" i="1" dirty="0"/>
              <a:t>		table[</a:t>
            </a:r>
            <a:r>
              <a:rPr lang="ru-RU" b="1" i="1" dirty="0" err="1"/>
              <a:t>row</a:t>
            </a:r>
            <a:r>
              <a:rPr lang="ru-RU" b="1" i="1" dirty="0"/>
              <a:t>][</a:t>
            </a:r>
            <a:r>
              <a:rPr lang="ru-RU" b="1" i="1" dirty="0" err="1"/>
              <a:t>col</a:t>
            </a:r>
            <a:r>
              <a:rPr lang="ru-RU" b="1" i="1" dirty="0"/>
              <a:t>] = (row+1)*(col+1);</a:t>
            </a:r>
          </a:p>
          <a:p>
            <a:r>
              <a:rPr lang="ru-RU" b="1" i="1" dirty="0"/>
              <a:t>		str += table[</a:t>
            </a:r>
            <a:r>
              <a:rPr lang="ru-RU" b="1" i="1" dirty="0" err="1"/>
              <a:t>row</a:t>
            </a:r>
            <a:r>
              <a:rPr lang="ru-RU" b="1" i="1" dirty="0"/>
              <a:t>][</a:t>
            </a:r>
            <a:r>
              <a:rPr lang="ru-RU" b="1" i="1" dirty="0" err="1"/>
              <a:t>col</a:t>
            </a:r>
            <a:r>
              <a:rPr lang="ru-RU" b="1" i="1" dirty="0"/>
              <a:t>] + '  ';</a:t>
            </a:r>
          </a:p>
          <a:p>
            <a:r>
              <a:rPr lang="ru-RU" b="1" i="1" dirty="0"/>
              <a:t>	}</a:t>
            </a:r>
          </a:p>
          <a:p>
            <a:r>
              <a:rPr lang="ru-RU" b="1" i="1" dirty="0"/>
              <a:t>	console.log(str + '\n');</a:t>
            </a:r>
          </a:p>
          <a:p>
            <a:r>
              <a:rPr lang="ru-RU" b="1" i="1" dirty="0"/>
              <a:t>	str = '';</a:t>
            </a:r>
          </a:p>
          <a:p>
            <a:r>
              <a:rPr lang="ru-RU" b="1" i="1" dirty="0"/>
              <a:t>}</a:t>
            </a:r>
          </a:p>
        </p:txBody>
      </p:sp>
      <p:pic>
        <p:nvPicPr>
          <p:cNvPr id="4" name="Рисунок 3">
            <a:extLst>
              <a:ext uri="{FF2B5EF4-FFF2-40B4-BE49-F238E27FC236}">
                <a16:creationId xmlns:a16="http://schemas.microsoft.com/office/drawing/2014/main" id="{F1980D85-A61A-A6D6-F5D1-4E5C84BF15EA}"/>
              </a:ext>
            </a:extLst>
          </p:cNvPr>
          <p:cNvPicPr>
            <a:picLocks noChangeAspect="1"/>
          </p:cNvPicPr>
          <p:nvPr/>
        </p:nvPicPr>
        <p:blipFill>
          <a:blip r:embed="rId4"/>
          <a:stretch>
            <a:fillRect/>
          </a:stretch>
        </p:blipFill>
        <p:spPr>
          <a:xfrm>
            <a:off x="186171" y="4212471"/>
            <a:ext cx="5909828" cy="2610348"/>
          </a:xfrm>
          <a:prstGeom prst="rect">
            <a:avLst/>
          </a:prstGeom>
        </p:spPr>
      </p:pic>
      <p:sp>
        <p:nvSpPr>
          <p:cNvPr id="11" name="TextBox 10">
            <a:extLst>
              <a:ext uri="{FF2B5EF4-FFF2-40B4-BE49-F238E27FC236}">
                <a16:creationId xmlns:a16="http://schemas.microsoft.com/office/drawing/2014/main" id="{C272482C-3633-4165-B67D-43E5433C0D97}"/>
              </a:ext>
            </a:extLst>
          </p:cNvPr>
          <p:cNvSpPr txBox="1"/>
          <p:nvPr/>
        </p:nvSpPr>
        <p:spPr>
          <a:xfrm>
            <a:off x="186171" y="681037"/>
            <a:ext cx="11683727" cy="646331"/>
          </a:xfrm>
          <a:prstGeom prst="rect">
            <a:avLst/>
          </a:prstGeom>
          <a:noFill/>
        </p:spPr>
        <p:txBody>
          <a:bodyPr wrap="square">
            <a:spAutoFit/>
          </a:bodyPr>
          <a:lstStyle/>
          <a:p>
            <a:pPr algn="just"/>
            <a:r>
              <a:rPr lang="ru-RU" b="1" dirty="0"/>
              <a:t>Элементы массива могут быть не только строками и числами, но и массивами. В этом случае у нас получится массив массивов или многомерный массив.</a:t>
            </a:r>
          </a:p>
        </p:txBody>
      </p:sp>
      <p:sp>
        <p:nvSpPr>
          <p:cNvPr id="12" name="TextBox 11">
            <a:extLst>
              <a:ext uri="{FF2B5EF4-FFF2-40B4-BE49-F238E27FC236}">
                <a16:creationId xmlns:a16="http://schemas.microsoft.com/office/drawing/2014/main" id="{72F3E3A5-94F7-482E-9F53-E00E59F9DD72}"/>
              </a:ext>
            </a:extLst>
          </p:cNvPr>
          <p:cNvSpPr txBox="1"/>
          <p:nvPr/>
        </p:nvSpPr>
        <p:spPr>
          <a:xfrm>
            <a:off x="186171" y="1434492"/>
            <a:ext cx="4452936" cy="369332"/>
          </a:xfrm>
          <a:prstGeom prst="rect">
            <a:avLst/>
          </a:prstGeom>
          <a:noFill/>
        </p:spPr>
        <p:txBody>
          <a:bodyPr wrap="square">
            <a:spAutoFit/>
          </a:bodyPr>
          <a:lstStyle/>
          <a:p>
            <a:r>
              <a:rPr lang="ru-RU" b="1" dirty="0"/>
              <a:t>let arr = [['a', 'b', 'c'], ['d', 'e', 'f'], ['g', 'h’,</a:t>
            </a:r>
            <a:r>
              <a:rPr lang="en-US" b="1" dirty="0"/>
              <a:t> </a:t>
            </a:r>
            <a:r>
              <a:rPr lang="ru-RU" b="1" dirty="0"/>
              <a:t>'i']]; </a:t>
            </a:r>
          </a:p>
        </p:txBody>
      </p:sp>
      <p:sp>
        <p:nvSpPr>
          <p:cNvPr id="13" name="TextBox 12">
            <a:extLst>
              <a:ext uri="{FF2B5EF4-FFF2-40B4-BE49-F238E27FC236}">
                <a16:creationId xmlns:a16="http://schemas.microsoft.com/office/drawing/2014/main" id="{D0766026-48E7-466E-AA37-2F73A68771F3}"/>
              </a:ext>
            </a:extLst>
          </p:cNvPr>
          <p:cNvSpPr txBox="1"/>
          <p:nvPr/>
        </p:nvSpPr>
        <p:spPr>
          <a:xfrm>
            <a:off x="114677" y="1981574"/>
            <a:ext cx="2255544" cy="1477328"/>
          </a:xfrm>
          <a:prstGeom prst="rect">
            <a:avLst/>
          </a:prstGeom>
          <a:noFill/>
        </p:spPr>
        <p:txBody>
          <a:bodyPr wrap="square">
            <a:spAutoFit/>
          </a:bodyPr>
          <a:lstStyle/>
          <a:p>
            <a:r>
              <a:rPr lang="en-US" b="1" dirty="0"/>
              <a:t>let arr = [ </a:t>
            </a:r>
          </a:p>
          <a:p>
            <a:r>
              <a:rPr lang="en-US" b="1" dirty="0"/>
              <a:t>	['a', 'b', 'c’], </a:t>
            </a:r>
          </a:p>
          <a:p>
            <a:r>
              <a:rPr lang="en-US" b="1" dirty="0"/>
              <a:t>	['d', 'e', 'f’], </a:t>
            </a:r>
          </a:p>
          <a:p>
            <a:r>
              <a:rPr lang="en-US" b="1" dirty="0"/>
              <a:t>	['g', 'h', 'i’], </a:t>
            </a:r>
          </a:p>
          <a:p>
            <a:r>
              <a:rPr lang="en-US" b="1" dirty="0"/>
              <a:t>               ];</a:t>
            </a:r>
            <a:endParaRPr lang="ru-RU" b="1" dirty="0"/>
          </a:p>
        </p:txBody>
      </p:sp>
      <p:pic>
        <p:nvPicPr>
          <p:cNvPr id="14" name="Рисунок 13">
            <a:extLst>
              <a:ext uri="{FF2B5EF4-FFF2-40B4-BE49-F238E27FC236}">
                <a16:creationId xmlns:a16="http://schemas.microsoft.com/office/drawing/2014/main" id="{E1269E54-2EC3-4F71-8397-F84F55A0617B}"/>
              </a:ext>
            </a:extLst>
          </p:cNvPr>
          <p:cNvPicPr>
            <a:picLocks noChangeAspect="1"/>
          </p:cNvPicPr>
          <p:nvPr/>
        </p:nvPicPr>
        <p:blipFill>
          <a:blip r:embed="rId5"/>
          <a:stretch>
            <a:fillRect/>
          </a:stretch>
        </p:blipFill>
        <p:spPr>
          <a:xfrm>
            <a:off x="3060254" y="1910948"/>
            <a:ext cx="2967780" cy="2210968"/>
          </a:xfrm>
          <a:prstGeom prst="rect">
            <a:avLst/>
          </a:prstGeom>
        </p:spPr>
      </p:pic>
    </p:spTree>
    <p:extLst>
      <p:ext uri="{BB962C8B-B14F-4D97-AF65-F5344CB8AC3E}">
        <p14:creationId xmlns:p14="http://schemas.microsoft.com/office/powerpoint/2010/main" val="514803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Произвольные массивы</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rPr>
              <a:t>10</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5" name="Рисунок 4">
            <a:extLst>
              <a:ext uri="{FF2B5EF4-FFF2-40B4-BE49-F238E27FC236}">
                <a16:creationId xmlns:a16="http://schemas.microsoft.com/office/drawing/2014/main" id="{21B5FD2B-A53C-4736-A219-1D27F3CE51C4}"/>
              </a:ext>
            </a:extLst>
          </p:cNvPr>
          <p:cNvPicPr>
            <a:picLocks noChangeAspect="1"/>
          </p:cNvPicPr>
          <p:nvPr/>
        </p:nvPicPr>
        <p:blipFill>
          <a:blip r:embed="rId4"/>
          <a:stretch>
            <a:fillRect/>
          </a:stretch>
        </p:blipFill>
        <p:spPr>
          <a:xfrm>
            <a:off x="435604" y="973823"/>
            <a:ext cx="8716154" cy="462490"/>
          </a:xfrm>
          <a:prstGeom prst="rect">
            <a:avLst/>
          </a:prstGeom>
        </p:spPr>
      </p:pic>
      <p:sp>
        <p:nvSpPr>
          <p:cNvPr id="15" name="TextBox 14">
            <a:extLst>
              <a:ext uri="{FF2B5EF4-FFF2-40B4-BE49-F238E27FC236}">
                <a16:creationId xmlns:a16="http://schemas.microsoft.com/office/drawing/2014/main" id="{E8D08652-7F80-4765-A0A1-1CC2A15689D4}"/>
              </a:ext>
            </a:extLst>
          </p:cNvPr>
          <p:cNvSpPr txBox="1"/>
          <p:nvPr/>
        </p:nvSpPr>
        <p:spPr>
          <a:xfrm>
            <a:off x="435603" y="1729099"/>
            <a:ext cx="11198933" cy="646331"/>
          </a:xfrm>
          <a:prstGeom prst="rect">
            <a:avLst/>
          </a:prstGeom>
          <a:noFill/>
        </p:spPr>
        <p:txBody>
          <a:bodyPr wrap="square">
            <a:spAutoFit/>
          </a:bodyPr>
          <a:lstStyle/>
          <a:p>
            <a:r>
              <a:rPr lang="ru-RU" b="1" dirty="0"/>
              <a:t>Как вы видите, этот массив "неправильный". В нем рядом с обычными элементами (например, 'a', 'b') располагаются массивы ([1, 2, 3] и [4, 5]). </a:t>
            </a:r>
          </a:p>
        </p:txBody>
      </p:sp>
      <p:pic>
        <p:nvPicPr>
          <p:cNvPr id="8" name="Рисунок 7">
            <a:extLst>
              <a:ext uri="{FF2B5EF4-FFF2-40B4-BE49-F238E27FC236}">
                <a16:creationId xmlns:a16="http://schemas.microsoft.com/office/drawing/2014/main" id="{B86CD8FB-BC6C-491B-BCBC-2E16CED54DB0}"/>
              </a:ext>
            </a:extLst>
          </p:cNvPr>
          <p:cNvPicPr>
            <a:picLocks noChangeAspect="1"/>
          </p:cNvPicPr>
          <p:nvPr/>
        </p:nvPicPr>
        <p:blipFill>
          <a:blip r:embed="rId5"/>
          <a:stretch>
            <a:fillRect/>
          </a:stretch>
        </p:blipFill>
        <p:spPr>
          <a:xfrm>
            <a:off x="430622" y="2668216"/>
            <a:ext cx="5248283" cy="2715815"/>
          </a:xfrm>
          <a:prstGeom prst="rect">
            <a:avLst/>
          </a:prstGeom>
        </p:spPr>
      </p:pic>
    </p:spTree>
    <p:extLst>
      <p:ext uri="{BB962C8B-B14F-4D97-AF65-F5344CB8AC3E}">
        <p14:creationId xmlns:p14="http://schemas.microsoft.com/office/powerpoint/2010/main" val="1886782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Перебор многомерных массивов</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11</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3" name="Рисунок 2">
            <a:extLst>
              <a:ext uri="{FF2B5EF4-FFF2-40B4-BE49-F238E27FC236}">
                <a16:creationId xmlns:a16="http://schemas.microsoft.com/office/drawing/2014/main" id="{21A761AD-062B-41C7-ADAE-4E7D9E1A044B}"/>
              </a:ext>
            </a:extLst>
          </p:cNvPr>
          <p:cNvPicPr>
            <a:picLocks noChangeAspect="1"/>
          </p:cNvPicPr>
          <p:nvPr/>
        </p:nvPicPr>
        <p:blipFill>
          <a:blip r:embed="rId4"/>
          <a:stretch>
            <a:fillRect/>
          </a:stretch>
        </p:blipFill>
        <p:spPr>
          <a:xfrm>
            <a:off x="206197" y="786360"/>
            <a:ext cx="6632030" cy="5951323"/>
          </a:xfrm>
          <a:prstGeom prst="rect">
            <a:avLst/>
          </a:prstGeom>
        </p:spPr>
      </p:pic>
      <p:pic>
        <p:nvPicPr>
          <p:cNvPr id="4" name="Рисунок 3">
            <a:extLst>
              <a:ext uri="{FF2B5EF4-FFF2-40B4-BE49-F238E27FC236}">
                <a16:creationId xmlns:a16="http://schemas.microsoft.com/office/drawing/2014/main" id="{684AB58C-FE74-45F6-BC94-EDC21588A96A}"/>
              </a:ext>
            </a:extLst>
          </p:cNvPr>
          <p:cNvPicPr>
            <a:picLocks noChangeAspect="1"/>
          </p:cNvPicPr>
          <p:nvPr/>
        </p:nvPicPr>
        <p:blipFill>
          <a:blip r:embed="rId5"/>
          <a:stretch>
            <a:fillRect/>
          </a:stretch>
        </p:blipFill>
        <p:spPr>
          <a:xfrm>
            <a:off x="6096000" y="1450597"/>
            <a:ext cx="5617192" cy="5050546"/>
          </a:xfrm>
          <a:prstGeom prst="rect">
            <a:avLst/>
          </a:prstGeom>
          <a:ln>
            <a:solidFill>
              <a:schemeClr val="bg1"/>
            </a:solidFill>
          </a:ln>
        </p:spPr>
      </p:pic>
    </p:spTree>
    <p:extLst>
      <p:ext uri="{BB962C8B-B14F-4D97-AF65-F5344CB8AC3E}">
        <p14:creationId xmlns:p14="http://schemas.microsoft.com/office/powerpoint/2010/main" val="2648693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Заполнение многомерных массивов</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12</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5" name="Рисунок 4">
            <a:extLst>
              <a:ext uri="{FF2B5EF4-FFF2-40B4-BE49-F238E27FC236}">
                <a16:creationId xmlns:a16="http://schemas.microsoft.com/office/drawing/2014/main" id="{8DD4E066-2F92-4070-BC80-708A87EFCD93}"/>
              </a:ext>
            </a:extLst>
          </p:cNvPr>
          <p:cNvPicPr>
            <a:picLocks noChangeAspect="1"/>
          </p:cNvPicPr>
          <p:nvPr/>
        </p:nvPicPr>
        <p:blipFill>
          <a:blip r:embed="rId4"/>
          <a:stretch>
            <a:fillRect/>
          </a:stretch>
        </p:blipFill>
        <p:spPr>
          <a:xfrm>
            <a:off x="214058" y="819516"/>
            <a:ext cx="7240010" cy="4572638"/>
          </a:xfrm>
          <a:prstGeom prst="rect">
            <a:avLst/>
          </a:prstGeom>
        </p:spPr>
      </p:pic>
      <p:sp>
        <p:nvSpPr>
          <p:cNvPr id="11" name="TextBox 10">
            <a:extLst>
              <a:ext uri="{FF2B5EF4-FFF2-40B4-BE49-F238E27FC236}">
                <a16:creationId xmlns:a16="http://schemas.microsoft.com/office/drawing/2014/main" id="{B6D81C50-91EA-46E2-A040-AB88607BB786}"/>
              </a:ext>
            </a:extLst>
          </p:cNvPr>
          <p:cNvSpPr txBox="1"/>
          <p:nvPr/>
        </p:nvSpPr>
        <p:spPr>
          <a:xfrm>
            <a:off x="214058" y="5545255"/>
            <a:ext cx="5719741" cy="880369"/>
          </a:xfrm>
          <a:prstGeom prst="rect">
            <a:avLst/>
          </a:prstGeom>
          <a:noFill/>
        </p:spPr>
        <p:txBody>
          <a:bodyPr wrap="square">
            <a:spAutoFit/>
          </a:bodyPr>
          <a:lstStyle/>
          <a:p>
            <a:pPr>
              <a:lnSpc>
                <a:spcPct val="150000"/>
              </a:lnSpc>
            </a:pPr>
            <a:r>
              <a:rPr lang="ru-RU" b="1" dirty="0"/>
              <a:t>Внешний цикл будет создавать </a:t>
            </a:r>
            <a:r>
              <a:rPr lang="ru-RU" b="1" dirty="0" err="1"/>
              <a:t>подмассивы</a:t>
            </a:r>
            <a:r>
              <a:rPr lang="ru-RU" b="1" dirty="0"/>
              <a:t>, а внутренний - заполнять эти </a:t>
            </a:r>
            <a:r>
              <a:rPr lang="ru-RU" b="1" dirty="0" err="1"/>
              <a:t>подмассивы</a:t>
            </a:r>
            <a:r>
              <a:rPr lang="ru-RU" b="1" dirty="0"/>
              <a:t> числами:</a:t>
            </a:r>
          </a:p>
        </p:txBody>
      </p:sp>
      <p:pic>
        <p:nvPicPr>
          <p:cNvPr id="8" name="Рисунок 7">
            <a:extLst>
              <a:ext uri="{FF2B5EF4-FFF2-40B4-BE49-F238E27FC236}">
                <a16:creationId xmlns:a16="http://schemas.microsoft.com/office/drawing/2014/main" id="{02E985D7-D40E-4A5F-9F7B-A109B0286806}"/>
              </a:ext>
            </a:extLst>
          </p:cNvPr>
          <p:cNvPicPr>
            <a:picLocks noChangeAspect="1"/>
          </p:cNvPicPr>
          <p:nvPr/>
        </p:nvPicPr>
        <p:blipFill>
          <a:blip r:embed="rId5"/>
          <a:stretch>
            <a:fillRect/>
          </a:stretch>
        </p:blipFill>
        <p:spPr>
          <a:xfrm>
            <a:off x="5936880" y="2225842"/>
            <a:ext cx="6164593" cy="4275301"/>
          </a:xfrm>
          <a:prstGeom prst="rect">
            <a:avLst/>
          </a:prstGeom>
          <a:ln>
            <a:solidFill>
              <a:schemeClr val="bg1"/>
            </a:solidFill>
          </a:ln>
        </p:spPr>
      </p:pic>
      <p:sp>
        <p:nvSpPr>
          <p:cNvPr id="14" name="TextBox 13">
            <a:extLst>
              <a:ext uri="{FF2B5EF4-FFF2-40B4-BE49-F238E27FC236}">
                <a16:creationId xmlns:a16="http://schemas.microsoft.com/office/drawing/2014/main" id="{3D67773E-0C88-4FB9-A72C-6E79D8078C4B}"/>
              </a:ext>
            </a:extLst>
          </p:cNvPr>
          <p:cNvSpPr txBox="1"/>
          <p:nvPr/>
        </p:nvSpPr>
        <p:spPr>
          <a:xfrm>
            <a:off x="7640051" y="819516"/>
            <a:ext cx="4229847" cy="1295868"/>
          </a:xfrm>
          <a:prstGeom prst="rect">
            <a:avLst/>
          </a:prstGeom>
          <a:noFill/>
        </p:spPr>
        <p:txBody>
          <a:bodyPr wrap="square">
            <a:spAutoFit/>
          </a:bodyPr>
          <a:lstStyle/>
          <a:p>
            <a:pPr>
              <a:lnSpc>
                <a:spcPct val="150000"/>
              </a:lnSpc>
            </a:pPr>
            <a:r>
              <a:rPr lang="ru-RU" b="1" dirty="0"/>
              <a:t>Мы не можем опустить эту строчку, так как тогда во внутреннем цикле попытка запушить данные в arr[i] выдаст ошибку</a:t>
            </a:r>
          </a:p>
        </p:txBody>
      </p:sp>
    </p:spTree>
    <p:extLst>
      <p:ext uri="{BB962C8B-B14F-4D97-AF65-F5344CB8AC3E}">
        <p14:creationId xmlns:p14="http://schemas.microsoft.com/office/powerpoint/2010/main" val="2647855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Пример</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13</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3" name="Рисунок 2">
            <a:extLst>
              <a:ext uri="{FF2B5EF4-FFF2-40B4-BE49-F238E27FC236}">
                <a16:creationId xmlns:a16="http://schemas.microsoft.com/office/drawing/2014/main" id="{07690E6C-6B67-47C0-9C97-3F487DE116E1}"/>
              </a:ext>
            </a:extLst>
          </p:cNvPr>
          <p:cNvPicPr>
            <a:picLocks noChangeAspect="1"/>
          </p:cNvPicPr>
          <p:nvPr/>
        </p:nvPicPr>
        <p:blipFill>
          <a:blip r:embed="rId4"/>
          <a:stretch>
            <a:fillRect/>
          </a:stretch>
        </p:blipFill>
        <p:spPr>
          <a:xfrm>
            <a:off x="180474" y="786900"/>
            <a:ext cx="8112191" cy="5908061"/>
          </a:xfrm>
          <a:prstGeom prst="rect">
            <a:avLst/>
          </a:prstGeom>
        </p:spPr>
      </p:pic>
    </p:spTree>
    <p:extLst>
      <p:ext uri="{BB962C8B-B14F-4D97-AF65-F5344CB8AC3E}">
        <p14:creationId xmlns:p14="http://schemas.microsoft.com/office/powerpoint/2010/main" val="3776399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Пример</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14</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4" name="Рисунок 3">
            <a:extLst>
              <a:ext uri="{FF2B5EF4-FFF2-40B4-BE49-F238E27FC236}">
                <a16:creationId xmlns:a16="http://schemas.microsoft.com/office/drawing/2014/main" id="{3AC160D6-F31E-43F1-BDDD-25097FF0E2F2}"/>
              </a:ext>
            </a:extLst>
          </p:cNvPr>
          <p:cNvPicPr>
            <a:picLocks noChangeAspect="1"/>
          </p:cNvPicPr>
          <p:nvPr/>
        </p:nvPicPr>
        <p:blipFill>
          <a:blip r:embed="rId4"/>
          <a:stretch>
            <a:fillRect/>
          </a:stretch>
        </p:blipFill>
        <p:spPr>
          <a:xfrm>
            <a:off x="144379" y="825030"/>
            <a:ext cx="7955780" cy="5826654"/>
          </a:xfrm>
          <a:prstGeom prst="rect">
            <a:avLst/>
          </a:prstGeom>
        </p:spPr>
      </p:pic>
    </p:spTree>
    <p:extLst>
      <p:ext uri="{BB962C8B-B14F-4D97-AF65-F5344CB8AC3E}">
        <p14:creationId xmlns:p14="http://schemas.microsoft.com/office/powerpoint/2010/main" val="3728406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Деструктуризация массивов</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15</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4" name="TextBox 3">
            <a:extLst>
              <a:ext uri="{FF2B5EF4-FFF2-40B4-BE49-F238E27FC236}">
                <a16:creationId xmlns:a16="http://schemas.microsoft.com/office/drawing/2014/main" id="{FAACDBF2-888B-EF5E-A804-9723C763D490}"/>
              </a:ext>
            </a:extLst>
          </p:cNvPr>
          <p:cNvSpPr txBox="1"/>
          <p:nvPr/>
        </p:nvSpPr>
        <p:spPr>
          <a:xfrm>
            <a:off x="173491" y="702284"/>
            <a:ext cx="11696407" cy="677108"/>
          </a:xfrm>
          <a:prstGeom prst="rect">
            <a:avLst/>
          </a:prstGeom>
          <a:noFill/>
        </p:spPr>
        <p:txBody>
          <a:bodyPr wrap="square">
            <a:spAutoFit/>
          </a:bodyPr>
          <a:lstStyle/>
          <a:p>
            <a:r>
              <a:rPr lang="ru-RU" b="1" dirty="0"/>
              <a:t>Операция </a:t>
            </a:r>
            <a:r>
              <a:rPr lang="ru-RU" sz="2000" b="1" dirty="0">
                <a:solidFill>
                  <a:srgbClr val="C00000"/>
                </a:solidFill>
              </a:rPr>
              <a:t>деструктуризации массивов </a:t>
            </a:r>
            <a:r>
              <a:rPr lang="ru-RU" b="1" dirty="0"/>
              <a:t>предназначена для массовой записи элементов массива в переменные в одну строчку кода.</a:t>
            </a:r>
          </a:p>
        </p:txBody>
      </p:sp>
      <p:sp>
        <p:nvSpPr>
          <p:cNvPr id="6" name="TextBox 5">
            <a:extLst>
              <a:ext uri="{FF2B5EF4-FFF2-40B4-BE49-F238E27FC236}">
                <a16:creationId xmlns:a16="http://schemas.microsoft.com/office/drawing/2014/main" id="{759CBE25-1AE4-40FE-90D3-74609F2AAD40}"/>
              </a:ext>
            </a:extLst>
          </p:cNvPr>
          <p:cNvSpPr txBox="1"/>
          <p:nvPr/>
        </p:nvSpPr>
        <p:spPr>
          <a:xfrm>
            <a:off x="2157412" y="1400639"/>
            <a:ext cx="8358187" cy="461665"/>
          </a:xfrm>
          <a:prstGeom prst="rect">
            <a:avLst/>
          </a:prstGeom>
          <a:noFill/>
        </p:spPr>
        <p:txBody>
          <a:bodyPr wrap="square">
            <a:spAutoFit/>
          </a:bodyPr>
          <a:lstStyle/>
          <a:p>
            <a:r>
              <a:rPr lang="ru-RU" sz="2400" b="1" i="0" dirty="0" err="1">
                <a:solidFill>
                  <a:srgbClr val="C00000"/>
                </a:solidFill>
                <a:effectLst/>
                <a:latin typeface="Anonymous Pro"/>
              </a:rPr>
              <a:t>let</a:t>
            </a:r>
            <a:r>
              <a:rPr lang="ru-RU" sz="2400" b="1" i="0" dirty="0">
                <a:solidFill>
                  <a:srgbClr val="C00000"/>
                </a:solidFill>
                <a:effectLst/>
                <a:latin typeface="Anonymous Pro"/>
              </a:rPr>
              <a:t> [переменная1, переменная2, переменная3] = массив;</a:t>
            </a:r>
            <a:endParaRPr lang="ru-RU" sz="2400" b="1" dirty="0">
              <a:solidFill>
                <a:srgbClr val="C00000"/>
              </a:solidFill>
            </a:endParaRPr>
          </a:p>
        </p:txBody>
      </p:sp>
      <p:pic>
        <p:nvPicPr>
          <p:cNvPr id="11" name="Рисунок 10">
            <a:extLst>
              <a:ext uri="{FF2B5EF4-FFF2-40B4-BE49-F238E27FC236}">
                <a16:creationId xmlns:a16="http://schemas.microsoft.com/office/drawing/2014/main" id="{D7B218A8-761C-5A5C-614D-1E31E5EE0D70}"/>
              </a:ext>
            </a:extLst>
          </p:cNvPr>
          <p:cNvPicPr>
            <a:picLocks noChangeAspect="1"/>
          </p:cNvPicPr>
          <p:nvPr/>
        </p:nvPicPr>
        <p:blipFill>
          <a:blip r:embed="rId4"/>
          <a:stretch>
            <a:fillRect/>
          </a:stretch>
        </p:blipFill>
        <p:spPr>
          <a:xfrm>
            <a:off x="231668" y="2065285"/>
            <a:ext cx="4772691" cy="4001058"/>
          </a:xfrm>
          <a:prstGeom prst="rect">
            <a:avLst/>
          </a:prstGeom>
        </p:spPr>
      </p:pic>
    </p:spTree>
    <p:extLst>
      <p:ext uri="{BB962C8B-B14F-4D97-AF65-F5344CB8AC3E}">
        <p14:creationId xmlns:p14="http://schemas.microsoft.com/office/powerpoint/2010/main" val="2447056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Деструктуризация массивов</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16</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4" name="TextBox 3">
            <a:extLst>
              <a:ext uri="{FF2B5EF4-FFF2-40B4-BE49-F238E27FC236}">
                <a16:creationId xmlns:a16="http://schemas.microsoft.com/office/drawing/2014/main" id="{FAACDBF2-888B-EF5E-A804-9723C763D490}"/>
              </a:ext>
            </a:extLst>
          </p:cNvPr>
          <p:cNvSpPr txBox="1"/>
          <p:nvPr/>
        </p:nvSpPr>
        <p:spPr>
          <a:xfrm>
            <a:off x="173491" y="702284"/>
            <a:ext cx="11696407" cy="677108"/>
          </a:xfrm>
          <a:prstGeom prst="rect">
            <a:avLst/>
          </a:prstGeom>
          <a:noFill/>
        </p:spPr>
        <p:txBody>
          <a:bodyPr wrap="square">
            <a:spAutoFit/>
          </a:bodyPr>
          <a:lstStyle/>
          <a:p>
            <a:r>
              <a:rPr lang="ru-RU" b="1" dirty="0"/>
              <a:t>Операция </a:t>
            </a:r>
            <a:r>
              <a:rPr lang="ru-RU" sz="2000" b="1" dirty="0">
                <a:solidFill>
                  <a:srgbClr val="C00000"/>
                </a:solidFill>
              </a:rPr>
              <a:t>деструктуризации массивов </a:t>
            </a:r>
            <a:r>
              <a:rPr lang="ru-RU" b="1" dirty="0"/>
              <a:t>предназначена для массовой записи элементов массива в переменные в одну строчку кода.</a:t>
            </a:r>
          </a:p>
        </p:txBody>
      </p:sp>
      <p:sp>
        <p:nvSpPr>
          <p:cNvPr id="6" name="TextBox 5">
            <a:extLst>
              <a:ext uri="{FF2B5EF4-FFF2-40B4-BE49-F238E27FC236}">
                <a16:creationId xmlns:a16="http://schemas.microsoft.com/office/drawing/2014/main" id="{759CBE25-1AE4-40FE-90D3-74609F2AAD40}"/>
              </a:ext>
            </a:extLst>
          </p:cNvPr>
          <p:cNvSpPr txBox="1"/>
          <p:nvPr/>
        </p:nvSpPr>
        <p:spPr>
          <a:xfrm>
            <a:off x="2055089" y="1307732"/>
            <a:ext cx="8358187" cy="461665"/>
          </a:xfrm>
          <a:prstGeom prst="rect">
            <a:avLst/>
          </a:prstGeom>
          <a:noFill/>
        </p:spPr>
        <p:txBody>
          <a:bodyPr wrap="square">
            <a:spAutoFit/>
          </a:bodyPr>
          <a:lstStyle/>
          <a:p>
            <a:r>
              <a:rPr lang="ru-RU" sz="2400" b="1" i="0" dirty="0" err="1">
                <a:solidFill>
                  <a:srgbClr val="C00000"/>
                </a:solidFill>
                <a:effectLst/>
                <a:latin typeface="Anonymous Pro"/>
              </a:rPr>
              <a:t>let</a:t>
            </a:r>
            <a:r>
              <a:rPr lang="ru-RU" sz="2400" b="1" i="0" dirty="0">
                <a:solidFill>
                  <a:srgbClr val="C00000"/>
                </a:solidFill>
                <a:effectLst/>
                <a:latin typeface="Anonymous Pro"/>
              </a:rPr>
              <a:t> [переменная1, переменная2, переменная3] = массив;</a:t>
            </a:r>
            <a:endParaRPr lang="ru-RU" sz="2400" b="1" dirty="0">
              <a:solidFill>
                <a:srgbClr val="C00000"/>
              </a:solidFill>
            </a:endParaRPr>
          </a:p>
        </p:txBody>
      </p:sp>
      <p:pic>
        <p:nvPicPr>
          <p:cNvPr id="11" name="Рисунок 10">
            <a:extLst>
              <a:ext uri="{FF2B5EF4-FFF2-40B4-BE49-F238E27FC236}">
                <a16:creationId xmlns:a16="http://schemas.microsoft.com/office/drawing/2014/main" id="{D7B218A8-761C-5A5C-614D-1E31E5EE0D70}"/>
              </a:ext>
            </a:extLst>
          </p:cNvPr>
          <p:cNvPicPr>
            <a:picLocks noChangeAspect="1"/>
          </p:cNvPicPr>
          <p:nvPr/>
        </p:nvPicPr>
        <p:blipFill>
          <a:blip r:embed="rId4"/>
          <a:stretch>
            <a:fillRect/>
          </a:stretch>
        </p:blipFill>
        <p:spPr>
          <a:xfrm>
            <a:off x="231668" y="2065285"/>
            <a:ext cx="4772691" cy="4001058"/>
          </a:xfrm>
          <a:prstGeom prst="rect">
            <a:avLst/>
          </a:prstGeom>
        </p:spPr>
      </p:pic>
      <p:sp>
        <p:nvSpPr>
          <p:cNvPr id="5" name="TextBox 4">
            <a:extLst>
              <a:ext uri="{FF2B5EF4-FFF2-40B4-BE49-F238E27FC236}">
                <a16:creationId xmlns:a16="http://schemas.microsoft.com/office/drawing/2014/main" id="{6F61EA62-DCB8-9769-9680-4ED6046DA2AF}"/>
              </a:ext>
            </a:extLst>
          </p:cNvPr>
          <p:cNvSpPr txBox="1"/>
          <p:nvPr/>
        </p:nvSpPr>
        <p:spPr>
          <a:xfrm>
            <a:off x="5081176" y="1967314"/>
            <a:ext cx="6349480" cy="923330"/>
          </a:xfrm>
          <a:prstGeom prst="rect">
            <a:avLst/>
          </a:prstGeom>
          <a:noFill/>
        </p:spPr>
        <p:txBody>
          <a:bodyPr wrap="square">
            <a:spAutoFit/>
          </a:bodyPr>
          <a:lstStyle/>
          <a:p>
            <a:r>
              <a:rPr lang="ru-RU" b="1" dirty="0"/>
              <a:t>Массив для деструктуризации не обязательно должен хранится в переменной. Он также может быть результатом работы функции. </a:t>
            </a:r>
          </a:p>
        </p:txBody>
      </p:sp>
      <p:pic>
        <p:nvPicPr>
          <p:cNvPr id="12" name="Рисунок 11">
            <a:extLst>
              <a:ext uri="{FF2B5EF4-FFF2-40B4-BE49-F238E27FC236}">
                <a16:creationId xmlns:a16="http://schemas.microsoft.com/office/drawing/2014/main" id="{FEC06CEF-2A30-780F-2C61-0A5EC6A4EC37}"/>
              </a:ext>
            </a:extLst>
          </p:cNvPr>
          <p:cNvPicPr>
            <a:picLocks noChangeAspect="1"/>
          </p:cNvPicPr>
          <p:nvPr/>
        </p:nvPicPr>
        <p:blipFill>
          <a:blip r:embed="rId5"/>
          <a:stretch>
            <a:fillRect/>
          </a:stretch>
        </p:blipFill>
        <p:spPr>
          <a:xfrm>
            <a:off x="8368393" y="2654808"/>
            <a:ext cx="3741964" cy="4110551"/>
          </a:xfrm>
          <a:prstGeom prst="rect">
            <a:avLst/>
          </a:prstGeom>
        </p:spPr>
      </p:pic>
    </p:spTree>
    <p:extLst>
      <p:ext uri="{BB962C8B-B14F-4D97-AF65-F5344CB8AC3E}">
        <p14:creationId xmlns:p14="http://schemas.microsoft.com/office/powerpoint/2010/main" val="2304172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Деструктуризация массивов</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17</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4" name="TextBox 3">
            <a:extLst>
              <a:ext uri="{FF2B5EF4-FFF2-40B4-BE49-F238E27FC236}">
                <a16:creationId xmlns:a16="http://schemas.microsoft.com/office/drawing/2014/main" id="{FAACDBF2-888B-EF5E-A804-9723C763D490}"/>
              </a:ext>
            </a:extLst>
          </p:cNvPr>
          <p:cNvSpPr txBox="1"/>
          <p:nvPr/>
        </p:nvSpPr>
        <p:spPr>
          <a:xfrm>
            <a:off x="173491" y="702284"/>
            <a:ext cx="5043488" cy="923330"/>
          </a:xfrm>
          <a:prstGeom prst="rect">
            <a:avLst/>
          </a:prstGeom>
          <a:noFill/>
        </p:spPr>
        <p:txBody>
          <a:bodyPr wrap="square">
            <a:spAutoFit/>
          </a:bodyPr>
          <a:lstStyle/>
          <a:p>
            <a:r>
              <a:rPr lang="ru-RU" b="1" i="0" dirty="0">
                <a:solidFill>
                  <a:srgbClr val="333333"/>
                </a:solidFill>
                <a:effectLst/>
                <a:latin typeface="Arial" panose="020B0604020202020204" pitchFamily="34" charset="0"/>
              </a:rPr>
              <a:t>Можно начать записывать в переменные не сначала массива, а пропустить некоторые значения.</a:t>
            </a:r>
            <a:endParaRPr lang="ru-RU" b="1" dirty="0"/>
          </a:p>
        </p:txBody>
      </p:sp>
      <p:pic>
        <p:nvPicPr>
          <p:cNvPr id="8" name="Рисунок 7">
            <a:extLst>
              <a:ext uri="{FF2B5EF4-FFF2-40B4-BE49-F238E27FC236}">
                <a16:creationId xmlns:a16="http://schemas.microsoft.com/office/drawing/2014/main" id="{56AE69FD-F54C-7DF7-1203-1C5299F870C9}"/>
              </a:ext>
            </a:extLst>
          </p:cNvPr>
          <p:cNvPicPr>
            <a:picLocks noChangeAspect="1"/>
          </p:cNvPicPr>
          <p:nvPr/>
        </p:nvPicPr>
        <p:blipFill>
          <a:blip r:embed="rId4"/>
          <a:stretch>
            <a:fillRect/>
          </a:stretch>
        </p:blipFill>
        <p:spPr>
          <a:xfrm>
            <a:off x="264373" y="1752366"/>
            <a:ext cx="4086795" cy="3353268"/>
          </a:xfrm>
          <a:prstGeom prst="rect">
            <a:avLst/>
          </a:prstGeom>
        </p:spPr>
      </p:pic>
      <p:sp>
        <p:nvSpPr>
          <p:cNvPr id="14" name="TextBox 13">
            <a:extLst>
              <a:ext uri="{FF2B5EF4-FFF2-40B4-BE49-F238E27FC236}">
                <a16:creationId xmlns:a16="http://schemas.microsoft.com/office/drawing/2014/main" id="{59DD1715-FEDE-2A4B-810C-4A22A7B298BE}"/>
              </a:ext>
            </a:extLst>
          </p:cNvPr>
          <p:cNvSpPr txBox="1"/>
          <p:nvPr/>
        </p:nvSpPr>
        <p:spPr>
          <a:xfrm>
            <a:off x="6229349" y="718809"/>
            <a:ext cx="5640549" cy="923330"/>
          </a:xfrm>
          <a:prstGeom prst="rect">
            <a:avLst/>
          </a:prstGeom>
          <a:noFill/>
        </p:spPr>
        <p:txBody>
          <a:bodyPr wrap="square">
            <a:spAutoFit/>
          </a:bodyPr>
          <a:lstStyle/>
          <a:p>
            <a:r>
              <a:rPr lang="ru-RU" b="1" i="0" dirty="0">
                <a:solidFill>
                  <a:srgbClr val="333333"/>
                </a:solidFill>
                <a:effectLst/>
                <a:latin typeface="Arial" panose="020B0604020202020204" pitchFamily="34" charset="0"/>
              </a:rPr>
              <a:t>Если в массиве больше элементов, чем переменных - лишние элементы никуда не запишутся и ничего страшного не произойдет. </a:t>
            </a:r>
            <a:endParaRPr lang="ru-RU" b="1" dirty="0"/>
          </a:p>
        </p:txBody>
      </p:sp>
      <p:pic>
        <p:nvPicPr>
          <p:cNvPr id="16" name="Рисунок 15">
            <a:extLst>
              <a:ext uri="{FF2B5EF4-FFF2-40B4-BE49-F238E27FC236}">
                <a16:creationId xmlns:a16="http://schemas.microsoft.com/office/drawing/2014/main" id="{98242E30-FA86-00D5-7060-A6E32CA26355}"/>
              </a:ext>
            </a:extLst>
          </p:cNvPr>
          <p:cNvPicPr>
            <a:picLocks noChangeAspect="1"/>
          </p:cNvPicPr>
          <p:nvPr/>
        </p:nvPicPr>
        <p:blipFill>
          <a:blip r:embed="rId5"/>
          <a:stretch>
            <a:fillRect/>
          </a:stretch>
        </p:blipFill>
        <p:spPr>
          <a:xfrm>
            <a:off x="7104838" y="1679911"/>
            <a:ext cx="4867954" cy="3791479"/>
          </a:xfrm>
          <a:prstGeom prst="rect">
            <a:avLst/>
          </a:prstGeom>
        </p:spPr>
      </p:pic>
    </p:spTree>
    <p:extLst>
      <p:ext uri="{BB962C8B-B14F-4D97-AF65-F5344CB8AC3E}">
        <p14:creationId xmlns:p14="http://schemas.microsoft.com/office/powerpoint/2010/main" val="2332682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Деструктуризация массивов</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k-MK" sz="1000" b="1" dirty="0">
                <a:solidFill>
                  <a:schemeClr val="bg1"/>
                </a:solidFill>
              </a:rPr>
              <a:t>19</a:t>
            </a: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4" name="TextBox 3">
            <a:extLst>
              <a:ext uri="{FF2B5EF4-FFF2-40B4-BE49-F238E27FC236}">
                <a16:creationId xmlns:a16="http://schemas.microsoft.com/office/drawing/2014/main" id="{FAACDBF2-888B-EF5E-A804-9723C763D490}"/>
              </a:ext>
            </a:extLst>
          </p:cNvPr>
          <p:cNvSpPr txBox="1"/>
          <p:nvPr/>
        </p:nvSpPr>
        <p:spPr>
          <a:xfrm>
            <a:off x="173491" y="702284"/>
            <a:ext cx="5043488" cy="1200329"/>
          </a:xfrm>
          <a:prstGeom prst="rect">
            <a:avLst/>
          </a:prstGeom>
          <a:noFill/>
        </p:spPr>
        <p:txBody>
          <a:bodyPr wrap="square">
            <a:spAutoFit/>
          </a:bodyPr>
          <a:lstStyle/>
          <a:p>
            <a:r>
              <a:rPr lang="ru-RU" b="1" i="0" dirty="0">
                <a:solidFill>
                  <a:srgbClr val="333333"/>
                </a:solidFill>
                <a:effectLst/>
                <a:latin typeface="Arial" panose="020B0604020202020204" pitchFamily="34" charset="0"/>
              </a:rPr>
              <a:t>Если в массиве больше элементов, чем переменных, при необходимости лишние элементы можно записать в массив с помощью оператора </a:t>
            </a:r>
            <a:r>
              <a:rPr lang="ru-RU" b="1" i="0" dirty="0" err="1">
                <a:solidFill>
                  <a:srgbClr val="333333"/>
                </a:solidFill>
                <a:effectLst/>
                <a:latin typeface="Arial" panose="020B0604020202020204" pitchFamily="34" charset="0"/>
              </a:rPr>
              <a:t>rest</a:t>
            </a:r>
            <a:endParaRPr lang="ru-RU" b="1" dirty="0"/>
          </a:p>
        </p:txBody>
      </p:sp>
      <p:pic>
        <p:nvPicPr>
          <p:cNvPr id="5" name="Рисунок 4">
            <a:extLst>
              <a:ext uri="{FF2B5EF4-FFF2-40B4-BE49-F238E27FC236}">
                <a16:creationId xmlns:a16="http://schemas.microsoft.com/office/drawing/2014/main" id="{9027F9FB-BD5D-1A11-183E-7FAF39B6F3B1}"/>
              </a:ext>
            </a:extLst>
          </p:cNvPr>
          <p:cNvPicPr>
            <a:picLocks noChangeAspect="1"/>
          </p:cNvPicPr>
          <p:nvPr/>
        </p:nvPicPr>
        <p:blipFill>
          <a:blip r:embed="rId4"/>
          <a:stretch>
            <a:fillRect/>
          </a:stretch>
        </p:blipFill>
        <p:spPr>
          <a:xfrm>
            <a:off x="303769" y="1923860"/>
            <a:ext cx="5020376" cy="4706007"/>
          </a:xfrm>
          <a:prstGeom prst="rect">
            <a:avLst/>
          </a:prstGeom>
        </p:spPr>
      </p:pic>
      <p:sp>
        <p:nvSpPr>
          <p:cNvPr id="11" name="TextBox 10">
            <a:extLst>
              <a:ext uri="{FF2B5EF4-FFF2-40B4-BE49-F238E27FC236}">
                <a16:creationId xmlns:a16="http://schemas.microsoft.com/office/drawing/2014/main" id="{C1538539-934B-61DE-9BC0-18F269599D81}"/>
              </a:ext>
            </a:extLst>
          </p:cNvPr>
          <p:cNvSpPr txBox="1"/>
          <p:nvPr/>
        </p:nvSpPr>
        <p:spPr>
          <a:xfrm>
            <a:off x="5923871" y="723531"/>
            <a:ext cx="6094638" cy="1200329"/>
          </a:xfrm>
          <a:prstGeom prst="rect">
            <a:avLst/>
          </a:prstGeom>
          <a:noFill/>
        </p:spPr>
        <p:txBody>
          <a:bodyPr wrap="square">
            <a:spAutoFit/>
          </a:bodyPr>
          <a:lstStyle/>
          <a:p>
            <a:r>
              <a:rPr lang="ru-RU" b="1" i="0" dirty="0">
                <a:solidFill>
                  <a:srgbClr val="333333"/>
                </a:solidFill>
                <a:effectLst/>
                <a:latin typeface="Arial" panose="020B0604020202020204" pitchFamily="34" charset="0"/>
              </a:rPr>
              <a:t>Для переменных можно указывать значения по умолчанию. В этом случае, если переменной не хватит элемента массива - возьмется значение по умолчанию. </a:t>
            </a:r>
            <a:endParaRPr lang="ru-RU" b="1" dirty="0"/>
          </a:p>
        </p:txBody>
      </p:sp>
      <p:pic>
        <p:nvPicPr>
          <p:cNvPr id="13" name="Рисунок 12">
            <a:extLst>
              <a:ext uri="{FF2B5EF4-FFF2-40B4-BE49-F238E27FC236}">
                <a16:creationId xmlns:a16="http://schemas.microsoft.com/office/drawing/2014/main" id="{206CC467-F247-F5CE-63DF-7DF1A0436027}"/>
              </a:ext>
            </a:extLst>
          </p:cNvPr>
          <p:cNvPicPr>
            <a:picLocks noChangeAspect="1"/>
          </p:cNvPicPr>
          <p:nvPr/>
        </p:nvPicPr>
        <p:blipFill>
          <a:blip r:embed="rId5"/>
          <a:stretch>
            <a:fillRect/>
          </a:stretch>
        </p:blipFill>
        <p:spPr>
          <a:xfrm>
            <a:off x="5961292" y="2043524"/>
            <a:ext cx="4706007" cy="3848637"/>
          </a:xfrm>
          <a:prstGeom prst="rect">
            <a:avLst/>
          </a:prstGeom>
        </p:spPr>
      </p:pic>
      <p:sp>
        <p:nvSpPr>
          <p:cNvPr id="17" name="TextBox 16">
            <a:extLst>
              <a:ext uri="{FF2B5EF4-FFF2-40B4-BE49-F238E27FC236}">
                <a16:creationId xmlns:a16="http://schemas.microsoft.com/office/drawing/2014/main" id="{40E45CF3-14C2-2807-852B-95038A357A5A}"/>
              </a:ext>
            </a:extLst>
          </p:cNvPr>
          <p:cNvSpPr txBox="1"/>
          <p:nvPr/>
        </p:nvSpPr>
        <p:spPr>
          <a:xfrm>
            <a:off x="5923871" y="5983972"/>
            <a:ext cx="6094638" cy="646331"/>
          </a:xfrm>
          <a:prstGeom prst="rect">
            <a:avLst/>
          </a:prstGeom>
          <a:noFill/>
        </p:spPr>
        <p:txBody>
          <a:bodyPr wrap="square">
            <a:spAutoFit/>
          </a:bodyPr>
          <a:lstStyle/>
          <a:p>
            <a:r>
              <a:rPr lang="ru-RU" b="1" dirty="0">
                <a:solidFill>
                  <a:srgbClr val="333333"/>
                </a:solidFill>
                <a:latin typeface="Arial" panose="020B0604020202020204" pitchFamily="34" charset="0"/>
              </a:rPr>
              <a:t>В качестве значения по умолчанию можно также указывать функцию.</a:t>
            </a:r>
          </a:p>
        </p:txBody>
      </p:sp>
    </p:spTree>
    <p:extLst>
      <p:ext uri="{BB962C8B-B14F-4D97-AF65-F5344CB8AC3E}">
        <p14:creationId xmlns:p14="http://schemas.microsoft.com/office/powerpoint/2010/main" val="2521445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Пример</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19</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6" name="Рисунок 5">
            <a:extLst>
              <a:ext uri="{FF2B5EF4-FFF2-40B4-BE49-F238E27FC236}">
                <a16:creationId xmlns:a16="http://schemas.microsoft.com/office/drawing/2014/main" id="{5136C534-4B40-5B16-D946-A823E1411D40}"/>
              </a:ext>
            </a:extLst>
          </p:cNvPr>
          <p:cNvPicPr>
            <a:picLocks noChangeAspect="1"/>
          </p:cNvPicPr>
          <p:nvPr/>
        </p:nvPicPr>
        <p:blipFill>
          <a:blip r:embed="rId4"/>
          <a:stretch>
            <a:fillRect/>
          </a:stretch>
        </p:blipFill>
        <p:spPr>
          <a:xfrm>
            <a:off x="296139" y="1355869"/>
            <a:ext cx="7125694" cy="1190791"/>
          </a:xfrm>
          <a:prstGeom prst="rect">
            <a:avLst/>
          </a:prstGeom>
        </p:spPr>
      </p:pic>
      <p:sp>
        <p:nvSpPr>
          <p:cNvPr id="12" name="TextBox 11">
            <a:extLst>
              <a:ext uri="{FF2B5EF4-FFF2-40B4-BE49-F238E27FC236}">
                <a16:creationId xmlns:a16="http://schemas.microsoft.com/office/drawing/2014/main" id="{34E68FEB-7CF4-622A-C406-5419B21BBDF8}"/>
              </a:ext>
            </a:extLst>
          </p:cNvPr>
          <p:cNvSpPr txBox="1"/>
          <p:nvPr/>
        </p:nvSpPr>
        <p:spPr>
          <a:xfrm>
            <a:off x="214312" y="835736"/>
            <a:ext cx="6094638" cy="369332"/>
          </a:xfrm>
          <a:prstGeom prst="rect">
            <a:avLst/>
          </a:prstGeom>
          <a:noFill/>
        </p:spPr>
        <p:txBody>
          <a:bodyPr wrap="square">
            <a:spAutoFit/>
          </a:bodyPr>
          <a:lstStyle/>
          <a:p>
            <a:r>
              <a:rPr lang="ru-RU" b="1" dirty="0"/>
              <a:t>Переделать код под деструктуризацию</a:t>
            </a:r>
            <a:endParaRPr lang="ru-RU" dirty="0"/>
          </a:p>
        </p:txBody>
      </p:sp>
      <p:pic>
        <p:nvPicPr>
          <p:cNvPr id="15" name="Рисунок 14">
            <a:extLst>
              <a:ext uri="{FF2B5EF4-FFF2-40B4-BE49-F238E27FC236}">
                <a16:creationId xmlns:a16="http://schemas.microsoft.com/office/drawing/2014/main" id="{FD7B7578-4184-DB81-6382-F49F052A01C8}"/>
              </a:ext>
            </a:extLst>
          </p:cNvPr>
          <p:cNvPicPr>
            <a:picLocks noChangeAspect="1"/>
          </p:cNvPicPr>
          <p:nvPr/>
        </p:nvPicPr>
        <p:blipFill>
          <a:blip r:embed="rId5"/>
          <a:stretch>
            <a:fillRect/>
          </a:stretch>
        </p:blipFill>
        <p:spPr>
          <a:xfrm>
            <a:off x="5001415" y="3195507"/>
            <a:ext cx="6868484" cy="3305636"/>
          </a:xfrm>
          <a:prstGeom prst="rect">
            <a:avLst/>
          </a:prstGeom>
        </p:spPr>
      </p:pic>
    </p:spTree>
    <p:extLst>
      <p:ext uri="{BB962C8B-B14F-4D97-AF65-F5344CB8AC3E}">
        <p14:creationId xmlns:p14="http://schemas.microsoft.com/office/powerpoint/2010/main" val="1845831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Определение функции</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20</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84579425-EFDE-581F-C542-59667AAB9105}"/>
              </a:ext>
            </a:extLst>
          </p:cNvPr>
          <p:cNvSpPr/>
          <p:nvPr/>
        </p:nvSpPr>
        <p:spPr>
          <a:xfrm>
            <a:off x="156030" y="881902"/>
            <a:ext cx="11816762" cy="646331"/>
          </a:xfrm>
          <a:prstGeom prst="rect">
            <a:avLst/>
          </a:prstGeom>
        </p:spPr>
        <p:txBody>
          <a:bodyPr wrap="square">
            <a:spAutoFit/>
          </a:bodyPr>
          <a:lstStyle/>
          <a:p>
            <a:pPr algn="just"/>
            <a:r>
              <a:rPr lang="ru-RU" b="1" dirty="0">
                <a:solidFill>
                  <a:srgbClr val="C00000"/>
                </a:solidFill>
              </a:rPr>
              <a:t>Функция</a:t>
            </a:r>
            <a:r>
              <a:rPr lang="ru-RU" b="1" dirty="0"/>
              <a:t> - это программный код, который определяется один раз и затем может вызываться на выполнение любое количество раз.</a:t>
            </a:r>
          </a:p>
        </p:txBody>
      </p:sp>
      <p:sp>
        <p:nvSpPr>
          <p:cNvPr id="4" name="Прямоугольник 3">
            <a:extLst>
              <a:ext uri="{FF2B5EF4-FFF2-40B4-BE49-F238E27FC236}">
                <a16:creationId xmlns:a16="http://schemas.microsoft.com/office/drawing/2014/main" id="{A65526C2-76D7-8D8E-D04E-DDD550D02EB3}"/>
              </a:ext>
            </a:extLst>
          </p:cNvPr>
          <p:cNvSpPr/>
          <p:nvPr/>
        </p:nvSpPr>
        <p:spPr>
          <a:xfrm>
            <a:off x="4377654" y="1253706"/>
            <a:ext cx="2635658" cy="461665"/>
          </a:xfrm>
          <a:prstGeom prst="rect">
            <a:avLst/>
          </a:prstGeom>
        </p:spPr>
        <p:txBody>
          <a:bodyPr wrap="none">
            <a:spAutoFit/>
          </a:bodyPr>
          <a:lstStyle/>
          <a:p>
            <a:r>
              <a:rPr lang="ru-RU" sz="2400" b="1" dirty="0">
                <a:solidFill>
                  <a:srgbClr val="C00000"/>
                </a:solidFill>
              </a:rPr>
              <a:t>Функция = Объект</a:t>
            </a:r>
            <a:endParaRPr lang="ru-RU" sz="2400" dirty="0">
              <a:solidFill>
                <a:srgbClr val="C00000"/>
              </a:solidFill>
            </a:endParaRPr>
          </a:p>
        </p:txBody>
      </p:sp>
      <p:sp>
        <p:nvSpPr>
          <p:cNvPr id="5" name="Прямоугольник 4">
            <a:extLst>
              <a:ext uri="{FF2B5EF4-FFF2-40B4-BE49-F238E27FC236}">
                <a16:creationId xmlns:a16="http://schemas.microsoft.com/office/drawing/2014/main" id="{E3896E21-B307-EA16-6C78-191D41284E67}"/>
              </a:ext>
            </a:extLst>
          </p:cNvPr>
          <p:cNvSpPr/>
          <p:nvPr/>
        </p:nvSpPr>
        <p:spPr>
          <a:xfrm>
            <a:off x="541268" y="1715371"/>
            <a:ext cx="2556854" cy="646331"/>
          </a:xfrm>
          <a:prstGeom prst="rect">
            <a:avLst/>
          </a:prstGeom>
        </p:spPr>
        <p:txBody>
          <a:bodyPr wrap="none">
            <a:spAutoFit/>
          </a:bodyPr>
          <a:lstStyle/>
          <a:p>
            <a:r>
              <a:rPr lang="ru-RU" b="1" dirty="0"/>
              <a:t>Определение функции:</a:t>
            </a:r>
          </a:p>
          <a:p>
            <a:endParaRPr lang="ru-RU" dirty="0"/>
          </a:p>
        </p:txBody>
      </p:sp>
      <p:sp>
        <p:nvSpPr>
          <p:cNvPr id="6" name="Прямоугольник 5">
            <a:extLst>
              <a:ext uri="{FF2B5EF4-FFF2-40B4-BE49-F238E27FC236}">
                <a16:creationId xmlns:a16="http://schemas.microsoft.com/office/drawing/2014/main" id="{2EFA5292-08F1-824E-4F49-170FC6FDF720}"/>
              </a:ext>
            </a:extLst>
          </p:cNvPr>
          <p:cNvSpPr/>
          <p:nvPr/>
        </p:nvSpPr>
        <p:spPr>
          <a:xfrm>
            <a:off x="156030" y="2104330"/>
            <a:ext cx="5207066" cy="369332"/>
          </a:xfrm>
          <a:prstGeom prst="rect">
            <a:avLst/>
          </a:prstGeom>
        </p:spPr>
        <p:txBody>
          <a:bodyPr wrap="none">
            <a:spAutoFit/>
          </a:bodyPr>
          <a:lstStyle/>
          <a:p>
            <a:r>
              <a:rPr lang="ru-RU" b="1" dirty="0"/>
              <a:t>1. Идентификатор, определяющий имя функции. </a:t>
            </a:r>
          </a:p>
        </p:txBody>
      </p:sp>
      <p:sp>
        <p:nvSpPr>
          <p:cNvPr id="8" name="Прямоугольник 7">
            <a:extLst>
              <a:ext uri="{FF2B5EF4-FFF2-40B4-BE49-F238E27FC236}">
                <a16:creationId xmlns:a16="http://schemas.microsoft.com/office/drawing/2014/main" id="{A3B2979F-A3FE-11F9-4B89-3A6887905EC3}"/>
              </a:ext>
            </a:extLst>
          </p:cNvPr>
          <p:cNvSpPr/>
          <p:nvPr/>
        </p:nvSpPr>
        <p:spPr>
          <a:xfrm>
            <a:off x="156030" y="2539455"/>
            <a:ext cx="6096000" cy="646331"/>
          </a:xfrm>
          <a:prstGeom prst="rect">
            <a:avLst/>
          </a:prstGeom>
        </p:spPr>
        <p:txBody>
          <a:bodyPr>
            <a:spAutoFit/>
          </a:bodyPr>
          <a:lstStyle/>
          <a:p>
            <a:pPr algn="just"/>
            <a:r>
              <a:rPr lang="ru-RU" b="1" dirty="0"/>
              <a:t>2. Пара круглых скобок вокруг списка из нуля или более идентификаторов, разделенных запятыми.</a:t>
            </a:r>
          </a:p>
        </p:txBody>
      </p:sp>
      <p:sp>
        <p:nvSpPr>
          <p:cNvPr id="11" name="Прямоугольник 10">
            <a:extLst>
              <a:ext uri="{FF2B5EF4-FFF2-40B4-BE49-F238E27FC236}">
                <a16:creationId xmlns:a16="http://schemas.microsoft.com/office/drawing/2014/main" id="{475F750D-A49C-CBB1-3AC2-FCE19B874891}"/>
              </a:ext>
            </a:extLst>
          </p:cNvPr>
          <p:cNvSpPr/>
          <p:nvPr/>
        </p:nvSpPr>
        <p:spPr>
          <a:xfrm>
            <a:off x="181220" y="3275230"/>
            <a:ext cx="6096000" cy="646331"/>
          </a:xfrm>
          <a:prstGeom prst="rect">
            <a:avLst/>
          </a:prstGeom>
        </p:spPr>
        <p:txBody>
          <a:bodyPr>
            <a:spAutoFit/>
          </a:bodyPr>
          <a:lstStyle/>
          <a:p>
            <a:pPr algn="just"/>
            <a:r>
              <a:rPr lang="ru-RU" b="1" dirty="0"/>
              <a:t>3. Пара фигурных скобок с нулем или более инструкций JavaScript внутри. </a:t>
            </a:r>
          </a:p>
        </p:txBody>
      </p:sp>
      <p:sp>
        <p:nvSpPr>
          <p:cNvPr id="12" name="Прямоугольник 11">
            <a:extLst>
              <a:ext uri="{FF2B5EF4-FFF2-40B4-BE49-F238E27FC236}">
                <a16:creationId xmlns:a16="http://schemas.microsoft.com/office/drawing/2014/main" id="{DD2F5742-1642-8F9F-EDED-F33B47EDCDCD}"/>
              </a:ext>
            </a:extLst>
          </p:cNvPr>
          <p:cNvSpPr/>
          <p:nvPr/>
        </p:nvSpPr>
        <p:spPr>
          <a:xfrm>
            <a:off x="7922953" y="1332770"/>
            <a:ext cx="4129224" cy="3139321"/>
          </a:xfrm>
          <a:prstGeom prst="rect">
            <a:avLst/>
          </a:prstGeom>
        </p:spPr>
        <p:txBody>
          <a:bodyPr wrap="square">
            <a:spAutoFit/>
          </a:bodyPr>
          <a:lstStyle/>
          <a:p>
            <a:r>
              <a:rPr lang="en-US" b="1" dirty="0"/>
              <a:t>var user = {</a:t>
            </a:r>
          </a:p>
          <a:p>
            <a:r>
              <a:rPr lang="en-US" b="1" dirty="0"/>
              <a:t>      name: '</a:t>
            </a:r>
            <a:r>
              <a:rPr lang="ru-RU" b="1" dirty="0"/>
              <a:t>Вася',</a:t>
            </a:r>
          </a:p>
          <a:p>
            <a:r>
              <a:rPr lang="en-US" b="1" dirty="0"/>
              <a:t>      age: 27,</a:t>
            </a:r>
          </a:p>
          <a:p>
            <a:r>
              <a:rPr lang="en-US" b="1" dirty="0"/>
              <a:t>      city: 'Moscow'</a:t>
            </a:r>
          </a:p>
          <a:p>
            <a:r>
              <a:rPr lang="en-US" b="1" dirty="0"/>
              <a:t>}</a:t>
            </a:r>
          </a:p>
          <a:p>
            <a:r>
              <a:rPr lang="en-US" b="1" dirty="0"/>
              <a:t>   </a:t>
            </a:r>
          </a:p>
          <a:p>
            <a:r>
              <a:rPr lang="en-US" b="1" dirty="0"/>
              <a:t>function printprops(obj) {</a:t>
            </a:r>
          </a:p>
          <a:p>
            <a:r>
              <a:rPr lang="en-US" b="1" dirty="0"/>
              <a:t>     for(var p in obj)</a:t>
            </a:r>
          </a:p>
          <a:p>
            <a:r>
              <a:rPr lang="en-US" b="1" dirty="0"/>
              <a:t>          console.log(p + ": " + obj[p] + "\n");</a:t>
            </a:r>
          </a:p>
          <a:p>
            <a:r>
              <a:rPr lang="en-US" b="1" dirty="0"/>
              <a:t> }</a:t>
            </a:r>
          </a:p>
          <a:p>
            <a:r>
              <a:rPr lang="en-US" b="1" dirty="0"/>
              <a:t>   </a:t>
            </a:r>
            <a:r>
              <a:rPr lang="en-US" b="1" dirty="0" err="1"/>
              <a:t>printprops</a:t>
            </a:r>
            <a:r>
              <a:rPr lang="en-US" b="1" dirty="0"/>
              <a:t>(user);</a:t>
            </a:r>
            <a:endParaRPr lang="ru-RU" b="1" dirty="0"/>
          </a:p>
        </p:txBody>
      </p:sp>
      <p:sp>
        <p:nvSpPr>
          <p:cNvPr id="15" name="TextBox 14">
            <a:extLst>
              <a:ext uri="{FF2B5EF4-FFF2-40B4-BE49-F238E27FC236}">
                <a16:creationId xmlns:a16="http://schemas.microsoft.com/office/drawing/2014/main" id="{AEF92BEA-D3BE-4DAC-98A0-B1F13FE9F396}"/>
              </a:ext>
            </a:extLst>
          </p:cNvPr>
          <p:cNvSpPr txBox="1"/>
          <p:nvPr/>
        </p:nvSpPr>
        <p:spPr>
          <a:xfrm>
            <a:off x="181220" y="4188758"/>
            <a:ext cx="11816761" cy="2585323"/>
          </a:xfrm>
          <a:prstGeom prst="rect">
            <a:avLst/>
          </a:prstGeom>
          <a:noFill/>
        </p:spPr>
        <p:txBody>
          <a:bodyPr wrap="square">
            <a:spAutoFit/>
          </a:bodyPr>
          <a:lstStyle/>
          <a:p>
            <a:pPr marL="342900" indent="-342900">
              <a:buFont typeface="+mj-lt"/>
              <a:buAutoNum type="arabicPeriod"/>
            </a:pPr>
            <a:r>
              <a:rPr lang="ru-RU" b="1" dirty="0"/>
              <a:t>Имена функций должны быть глаголами.</a:t>
            </a:r>
          </a:p>
          <a:p>
            <a:pPr marL="342900" indent="-342900">
              <a:buFont typeface="+mj-lt"/>
              <a:buAutoNum type="arabicPeriod"/>
            </a:pPr>
            <a:r>
              <a:rPr lang="ru-RU" b="1" dirty="0"/>
              <a:t>Имя каждой функции должно точно отражать то, что функция делает.</a:t>
            </a:r>
          </a:p>
          <a:p>
            <a:pPr marL="342900" indent="-342900">
              <a:buFont typeface="+mj-lt"/>
              <a:buAutoNum type="arabicPeriod"/>
            </a:pPr>
            <a:r>
              <a:rPr lang="ru-RU" b="1" dirty="0"/>
              <a:t>Функция должна делать только то, что явно подразумевается её названием, и не делать другого.</a:t>
            </a:r>
          </a:p>
          <a:p>
            <a:pPr marL="342900" indent="-342900">
              <a:buFont typeface="+mj-lt"/>
              <a:buAutoNum type="arabicPeriod"/>
            </a:pPr>
            <a:r>
              <a:rPr lang="ru-RU" b="1" dirty="0"/>
              <a:t>Каждая функция должна выполнять только одно действие.</a:t>
            </a:r>
          </a:p>
          <a:p>
            <a:pPr marL="342900" indent="-342900">
              <a:buFont typeface="+mj-lt"/>
              <a:buAutoNum type="arabicPeriod"/>
            </a:pPr>
            <a:r>
              <a:rPr lang="ru-RU" b="1" dirty="0"/>
              <a:t>Используйте внутри функций вспомогательные функции.</a:t>
            </a:r>
          </a:p>
          <a:p>
            <a:pPr marL="342900" indent="-342900">
              <a:buFont typeface="+mj-lt"/>
              <a:buAutoNum type="arabicPeriod"/>
            </a:pPr>
            <a:r>
              <a:rPr lang="ru-RU" b="1" dirty="0"/>
              <a:t>Код функций лучше не делать длиннее 10-15 строк.</a:t>
            </a:r>
          </a:p>
          <a:p>
            <a:pPr marL="342900" indent="-342900">
              <a:buFont typeface="+mj-lt"/>
              <a:buAutoNum type="arabicPeriod"/>
            </a:pPr>
            <a:r>
              <a:rPr lang="ru-RU" b="1" dirty="0"/>
              <a:t>Длинные функции лучше разбивать на ряд вспомогательных.</a:t>
            </a:r>
          </a:p>
          <a:p>
            <a:pPr marL="342900" indent="-342900">
              <a:buFont typeface="+mj-lt"/>
              <a:buAutoNum type="arabicPeriod"/>
            </a:pPr>
            <a:r>
              <a:rPr lang="ru-RU" b="1" dirty="0"/>
              <a:t>Используйте общепринятые префиксы в именах функций: show, </a:t>
            </a:r>
            <a:r>
              <a:rPr lang="ru-RU" b="1" dirty="0" err="1"/>
              <a:t>get</a:t>
            </a:r>
            <a:r>
              <a:rPr lang="ru-RU" b="1" dirty="0"/>
              <a:t>, set, </a:t>
            </a:r>
            <a:r>
              <a:rPr lang="ru-RU" b="1" dirty="0" err="1"/>
              <a:t>calc</a:t>
            </a:r>
            <a:r>
              <a:rPr lang="ru-RU" b="1" dirty="0"/>
              <a:t>, </a:t>
            </a:r>
            <a:r>
              <a:rPr lang="ru-RU" b="1" dirty="0" err="1"/>
              <a:t>create</a:t>
            </a:r>
            <a:r>
              <a:rPr lang="ru-RU" b="1" dirty="0"/>
              <a:t>, </a:t>
            </a:r>
            <a:r>
              <a:rPr lang="ru-RU" b="1" dirty="0" err="1"/>
              <a:t>change</a:t>
            </a:r>
            <a:r>
              <a:rPr lang="ru-RU" b="1" dirty="0"/>
              <a:t>, check.</a:t>
            </a:r>
          </a:p>
          <a:p>
            <a:pPr marL="342900" indent="-342900">
              <a:buFont typeface="+mj-lt"/>
              <a:buAutoNum type="arabicPeriod"/>
            </a:pPr>
            <a:r>
              <a:rPr lang="ru-RU" b="1" dirty="0"/>
              <a:t>Выносите дублирующийся код в функции.</a:t>
            </a:r>
          </a:p>
        </p:txBody>
      </p:sp>
    </p:spTree>
    <p:extLst>
      <p:ext uri="{BB962C8B-B14F-4D97-AF65-F5344CB8AC3E}">
        <p14:creationId xmlns:p14="http://schemas.microsoft.com/office/powerpoint/2010/main" val="3249699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Определение функции</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21</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0D5927F6-21F7-1057-7B32-0DCEF44D0A98}"/>
              </a:ext>
            </a:extLst>
          </p:cNvPr>
          <p:cNvSpPr/>
          <p:nvPr/>
        </p:nvSpPr>
        <p:spPr>
          <a:xfrm>
            <a:off x="149956" y="912814"/>
            <a:ext cx="11892087" cy="2169825"/>
          </a:xfrm>
          <a:prstGeom prst="rect">
            <a:avLst/>
          </a:prstGeom>
        </p:spPr>
        <p:txBody>
          <a:bodyPr wrap="square">
            <a:spAutoFit/>
          </a:bodyPr>
          <a:lstStyle/>
          <a:p>
            <a:pPr algn="just"/>
            <a:r>
              <a:rPr lang="ru-RU" b="1" dirty="0"/>
              <a:t>Существует три способа определения функции: </a:t>
            </a:r>
            <a:r>
              <a:rPr lang="en-US" b="1" dirty="0">
                <a:solidFill>
                  <a:srgbClr val="C00000"/>
                </a:solidFill>
              </a:rPr>
              <a:t>Function Declaration (FD), Function Expression (FE) </a:t>
            </a:r>
            <a:r>
              <a:rPr lang="ru-RU" b="1" dirty="0">
                <a:solidFill>
                  <a:srgbClr val="C00000"/>
                </a:solidFill>
              </a:rPr>
              <a:t>и </a:t>
            </a:r>
            <a:r>
              <a:rPr lang="en-US" b="1" dirty="0">
                <a:solidFill>
                  <a:srgbClr val="C00000"/>
                </a:solidFill>
              </a:rPr>
              <a:t>Named Function Expression (NFE)</a:t>
            </a:r>
            <a:r>
              <a:rPr lang="en-US" b="1" dirty="0"/>
              <a:t>. </a:t>
            </a:r>
            <a:r>
              <a:rPr lang="ru-RU" b="1" dirty="0"/>
              <a:t>В стандарте </a:t>
            </a:r>
            <a:r>
              <a:rPr lang="en-US" b="1" dirty="0"/>
              <a:t>ESMAScript 6 </a:t>
            </a:r>
            <a:r>
              <a:rPr lang="ru-RU" b="1" dirty="0"/>
              <a:t>были добавлены </a:t>
            </a:r>
            <a:r>
              <a:rPr lang="ru-RU" b="1" dirty="0">
                <a:solidFill>
                  <a:srgbClr val="C00000"/>
                </a:solidFill>
              </a:rPr>
              <a:t>стрелочные функции</a:t>
            </a:r>
            <a:r>
              <a:rPr lang="ru-RU" b="1" dirty="0"/>
              <a:t>, как 4 тип определения.</a:t>
            </a:r>
          </a:p>
          <a:p>
            <a:pPr algn="just"/>
            <a:endParaRPr lang="ru-RU" sz="900" b="1" dirty="0"/>
          </a:p>
          <a:p>
            <a:pPr algn="just"/>
            <a:endParaRPr lang="ru-RU" b="1" dirty="0"/>
          </a:p>
          <a:p>
            <a:pPr algn="just"/>
            <a:endParaRPr lang="ru-RU" b="1" dirty="0"/>
          </a:p>
          <a:p>
            <a:pPr algn="just"/>
            <a:endParaRPr lang="ru-RU" b="1" dirty="0"/>
          </a:p>
          <a:p>
            <a:pPr algn="just"/>
            <a:endParaRPr lang="ru-RU" b="1" dirty="0"/>
          </a:p>
          <a:p>
            <a:pPr algn="just"/>
            <a:endParaRPr lang="ru-RU" b="1" dirty="0"/>
          </a:p>
        </p:txBody>
      </p:sp>
      <p:sp>
        <p:nvSpPr>
          <p:cNvPr id="4" name="Прямоугольник 3">
            <a:extLst>
              <a:ext uri="{FF2B5EF4-FFF2-40B4-BE49-F238E27FC236}">
                <a16:creationId xmlns:a16="http://schemas.microsoft.com/office/drawing/2014/main" id="{AC7F179A-8D68-E8B8-793F-555A15562FAD}"/>
              </a:ext>
            </a:extLst>
          </p:cNvPr>
          <p:cNvSpPr/>
          <p:nvPr/>
        </p:nvSpPr>
        <p:spPr>
          <a:xfrm>
            <a:off x="281802" y="2505670"/>
            <a:ext cx="3778210" cy="923330"/>
          </a:xfrm>
          <a:prstGeom prst="rect">
            <a:avLst/>
          </a:prstGeom>
        </p:spPr>
        <p:txBody>
          <a:bodyPr wrap="square">
            <a:spAutoFit/>
          </a:bodyPr>
          <a:lstStyle/>
          <a:p>
            <a:pPr algn="just"/>
            <a:r>
              <a:rPr lang="ru-RU" b="1" dirty="0"/>
              <a:t>создаются интерпретатором до начала выполнения кода (на этапе анализа)</a:t>
            </a:r>
            <a:endParaRPr lang="ru-RU" dirty="0"/>
          </a:p>
        </p:txBody>
      </p:sp>
      <p:sp>
        <p:nvSpPr>
          <p:cNvPr id="5" name="Прямоугольник 4">
            <a:extLst>
              <a:ext uri="{FF2B5EF4-FFF2-40B4-BE49-F238E27FC236}">
                <a16:creationId xmlns:a16="http://schemas.microsoft.com/office/drawing/2014/main" id="{A9B5D213-6D16-C6EC-A210-DB9AFFE4FFB9}"/>
              </a:ext>
            </a:extLst>
          </p:cNvPr>
          <p:cNvSpPr/>
          <p:nvPr/>
        </p:nvSpPr>
        <p:spPr>
          <a:xfrm>
            <a:off x="281802" y="3475537"/>
            <a:ext cx="3778210" cy="923330"/>
          </a:xfrm>
          <a:prstGeom prst="rect">
            <a:avLst/>
          </a:prstGeom>
        </p:spPr>
        <p:txBody>
          <a:bodyPr wrap="square">
            <a:spAutoFit/>
          </a:bodyPr>
          <a:lstStyle/>
          <a:p>
            <a:pPr algn="just"/>
            <a:r>
              <a:rPr lang="ru-RU" b="1" dirty="0"/>
              <a:t>можно вызывать (в той области видимости где они определены) до определения</a:t>
            </a:r>
            <a:endParaRPr lang="ru-RU" dirty="0"/>
          </a:p>
        </p:txBody>
      </p:sp>
      <p:sp>
        <p:nvSpPr>
          <p:cNvPr id="6" name="Прямоугольник 5">
            <a:extLst>
              <a:ext uri="{FF2B5EF4-FFF2-40B4-BE49-F238E27FC236}">
                <a16:creationId xmlns:a16="http://schemas.microsoft.com/office/drawing/2014/main" id="{9E2D4FF7-FD9B-4AD4-1FBC-20723ED73F1A}"/>
              </a:ext>
            </a:extLst>
          </p:cNvPr>
          <p:cNvSpPr/>
          <p:nvPr/>
        </p:nvSpPr>
        <p:spPr>
          <a:xfrm>
            <a:off x="5745231" y="2716458"/>
            <a:ext cx="4198650" cy="369332"/>
          </a:xfrm>
          <a:prstGeom prst="rect">
            <a:avLst/>
          </a:prstGeom>
        </p:spPr>
        <p:txBody>
          <a:bodyPr wrap="none">
            <a:spAutoFit/>
          </a:bodyPr>
          <a:lstStyle/>
          <a:p>
            <a:r>
              <a:rPr lang="ru-RU" b="1" dirty="0"/>
              <a:t>создаются в процессе выполнения кода</a:t>
            </a:r>
            <a:endParaRPr lang="ru-RU" dirty="0"/>
          </a:p>
        </p:txBody>
      </p:sp>
      <p:sp>
        <p:nvSpPr>
          <p:cNvPr id="8" name="Прямоугольник 7">
            <a:extLst>
              <a:ext uri="{FF2B5EF4-FFF2-40B4-BE49-F238E27FC236}">
                <a16:creationId xmlns:a16="http://schemas.microsoft.com/office/drawing/2014/main" id="{D710A2B2-4713-268D-0CE9-1A47B9FF5B32}"/>
              </a:ext>
            </a:extLst>
          </p:cNvPr>
          <p:cNvSpPr/>
          <p:nvPr/>
        </p:nvSpPr>
        <p:spPr>
          <a:xfrm>
            <a:off x="4944111" y="3082639"/>
            <a:ext cx="5876289" cy="369332"/>
          </a:xfrm>
          <a:prstGeom prst="rect">
            <a:avLst/>
          </a:prstGeom>
        </p:spPr>
        <p:txBody>
          <a:bodyPr wrap="none">
            <a:spAutoFit/>
          </a:bodyPr>
          <a:lstStyle/>
          <a:p>
            <a:r>
              <a:rPr lang="ru-RU" b="1" dirty="0"/>
              <a:t>можно вызывать только после того как они определены</a:t>
            </a:r>
            <a:endParaRPr lang="ru-RU" dirty="0"/>
          </a:p>
        </p:txBody>
      </p:sp>
      <p:sp>
        <p:nvSpPr>
          <p:cNvPr id="11" name="Прямоугольник 10">
            <a:extLst>
              <a:ext uri="{FF2B5EF4-FFF2-40B4-BE49-F238E27FC236}">
                <a16:creationId xmlns:a16="http://schemas.microsoft.com/office/drawing/2014/main" id="{B37BD65C-7A5B-1119-F402-AA23E1E09F54}"/>
              </a:ext>
            </a:extLst>
          </p:cNvPr>
          <p:cNvSpPr/>
          <p:nvPr/>
        </p:nvSpPr>
        <p:spPr>
          <a:xfrm>
            <a:off x="8436780" y="3475537"/>
            <a:ext cx="3605263" cy="923330"/>
          </a:xfrm>
          <a:prstGeom prst="rect">
            <a:avLst/>
          </a:prstGeom>
        </p:spPr>
        <p:txBody>
          <a:bodyPr wrap="square">
            <a:spAutoFit/>
          </a:bodyPr>
          <a:lstStyle/>
          <a:p>
            <a:r>
              <a:rPr lang="ru-RU" b="1" dirty="0"/>
              <a:t>имеет возможность обращаться к себе по имени при рекурсивном вызове</a:t>
            </a:r>
            <a:endParaRPr lang="ru-RU" dirty="0"/>
          </a:p>
        </p:txBody>
      </p:sp>
      <p:sp>
        <p:nvSpPr>
          <p:cNvPr id="12" name="Прямоугольник 11">
            <a:extLst>
              <a:ext uri="{FF2B5EF4-FFF2-40B4-BE49-F238E27FC236}">
                <a16:creationId xmlns:a16="http://schemas.microsoft.com/office/drawing/2014/main" id="{5E2D3B11-E462-DF52-6F60-DE8EC4E59849}"/>
              </a:ext>
            </a:extLst>
          </p:cNvPr>
          <p:cNvSpPr/>
          <p:nvPr/>
        </p:nvSpPr>
        <p:spPr>
          <a:xfrm>
            <a:off x="1377137" y="1351182"/>
            <a:ext cx="1414170" cy="1446550"/>
          </a:xfrm>
          <a:prstGeom prst="rect">
            <a:avLst/>
          </a:prstGeom>
        </p:spPr>
        <p:txBody>
          <a:bodyPr wrap="none">
            <a:spAutoFit/>
          </a:bodyPr>
          <a:lstStyle/>
          <a:p>
            <a:r>
              <a:rPr lang="ru-RU" sz="8800" b="1" dirty="0">
                <a:solidFill>
                  <a:srgbClr val="C00000"/>
                </a:solidFill>
              </a:rPr>
              <a:t>FD</a:t>
            </a:r>
            <a:endParaRPr lang="ru-RU" sz="8800" dirty="0"/>
          </a:p>
        </p:txBody>
      </p:sp>
      <p:sp>
        <p:nvSpPr>
          <p:cNvPr id="13" name="Прямоугольник 12">
            <a:extLst>
              <a:ext uri="{FF2B5EF4-FFF2-40B4-BE49-F238E27FC236}">
                <a16:creationId xmlns:a16="http://schemas.microsoft.com/office/drawing/2014/main" id="{AC0124B1-34CA-83E7-6E45-4CF3BD2657A7}"/>
              </a:ext>
            </a:extLst>
          </p:cNvPr>
          <p:cNvSpPr/>
          <p:nvPr/>
        </p:nvSpPr>
        <p:spPr>
          <a:xfrm>
            <a:off x="5016429" y="1353978"/>
            <a:ext cx="1252266" cy="1446550"/>
          </a:xfrm>
          <a:prstGeom prst="rect">
            <a:avLst/>
          </a:prstGeom>
        </p:spPr>
        <p:txBody>
          <a:bodyPr wrap="none">
            <a:spAutoFit/>
          </a:bodyPr>
          <a:lstStyle/>
          <a:p>
            <a:r>
              <a:rPr lang="ru-RU" sz="8800" b="1" dirty="0">
                <a:solidFill>
                  <a:srgbClr val="C00000"/>
                </a:solidFill>
              </a:rPr>
              <a:t>FE</a:t>
            </a:r>
            <a:endParaRPr lang="ru-RU" sz="8800" dirty="0"/>
          </a:p>
        </p:txBody>
      </p:sp>
      <p:sp>
        <p:nvSpPr>
          <p:cNvPr id="14" name="Прямоугольник 13">
            <a:extLst>
              <a:ext uri="{FF2B5EF4-FFF2-40B4-BE49-F238E27FC236}">
                <a16:creationId xmlns:a16="http://schemas.microsoft.com/office/drawing/2014/main" id="{56CD95DD-FAC8-5069-B257-436B37E374C4}"/>
              </a:ext>
            </a:extLst>
          </p:cNvPr>
          <p:cNvSpPr/>
          <p:nvPr/>
        </p:nvSpPr>
        <p:spPr>
          <a:xfrm>
            <a:off x="8945852" y="1351182"/>
            <a:ext cx="1996059" cy="1446550"/>
          </a:xfrm>
          <a:prstGeom prst="rect">
            <a:avLst/>
          </a:prstGeom>
        </p:spPr>
        <p:txBody>
          <a:bodyPr wrap="none">
            <a:spAutoFit/>
          </a:bodyPr>
          <a:lstStyle/>
          <a:p>
            <a:r>
              <a:rPr lang="ru-RU" sz="8800" b="1" dirty="0">
                <a:solidFill>
                  <a:srgbClr val="C00000"/>
                </a:solidFill>
              </a:rPr>
              <a:t>NFE</a:t>
            </a:r>
            <a:endParaRPr lang="ru-RU" sz="8800" dirty="0"/>
          </a:p>
        </p:txBody>
      </p:sp>
      <p:pic>
        <p:nvPicPr>
          <p:cNvPr id="16" name="Рисунок 15">
            <a:extLst>
              <a:ext uri="{FF2B5EF4-FFF2-40B4-BE49-F238E27FC236}">
                <a16:creationId xmlns:a16="http://schemas.microsoft.com/office/drawing/2014/main" id="{9A1C0993-90BA-97E5-F193-36196F716D44}"/>
              </a:ext>
            </a:extLst>
          </p:cNvPr>
          <p:cNvPicPr>
            <a:picLocks noChangeAspect="1"/>
          </p:cNvPicPr>
          <p:nvPr/>
        </p:nvPicPr>
        <p:blipFill>
          <a:blip r:embed="rId4"/>
          <a:stretch>
            <a:fillRect/>
          </a:stretch>
        </p:blipFill>
        <p:spPr>
          <a:xfrm>
            <a:off x="807001" y="4445403"/>
            <a:ext cx="2613835" cy="2357881"/>
          </a:xfrm>
          <a:prstGeom prst="rect">
            <a:avLst/>
          </a:prstGeom>
        </p:spPr>
      </p:pic>
      <p:pic>
        <p:nvPicPr>
          <p:cNvPr id="18" name="Рисунок 17">
            <a:extLst>
              <a:ext uri="{FF2B5EF4-FFF2-40B4-BE49-F238E27FC236}">
                <a16:creationId xmlns:a16="http://schemas.microsoft.com/office/drawing/2014/main" id="{C7182C8F-B150-D046-DF9E-536B04DFA3D5}"/>
              </a:ext>
            </a:extLst>
          </p:cNvPr>
          <p:cNvPicPr>
            <a:picLocks noChangeAspect="1"/>
          </p:cNvPicPr>
          <p:nvPr/>
        </p:nvPicPr>
        <p:blipFill>
          <a:blip r:embed="rId5"/>
          <a:stretch>
            <a:fillRect/>
          </a:stretch>
        </p:blipFill>
        <p:spPr>
          <a:xfrm>
            <a:off x="4579387" y="3590036"/>
            <a:ext cx="2490442" cy="2246281"/>
          </a:xfrm>
          <a:prstGeom prst="rect">
            <a:avLst/>
          </a:prstGeom>
        </p:spPr>
      </p:pic>
      <p:sp>
        <p:nvSpPr>
          <p:cNvPr id="21" name="TextBox 20">
            <a:extLst>
              <a:ext uri="{FF2B5EF4-FFF2-40B4-BE49-F238E27FC236}">
                <a16:creationId xmlns:a16="http://schemas.microsoft.com/office/drawing/2014/main" id="{8E1A088A-94C5-0348-0A69-F903FE941520}"/>
              </a:ext>
            </a:extLst>
          </p:cNvPr>
          <p:cNvSpPr txBox="1"/>
          <p:nvPr/>
        </p:nvSpPr>
        <p:spPr>
          <a:xfrm>
            <a:off x="3520848" y="6020548"/>
            <a:ext cx="6094638" cy="646331"/>
          </a:xfrm>
          <a:prstGeom prst="rect">
            <a:avLst/>
          </a:prstGeom>
          <a:noFill/>
        </p:spPr>
        <p:txBody>
          <a:bodyPr wrap="square">
            <a:spAutoFit/>
          </a:bodyPr>
          <a:lstStyle/>
          <a:p>
            <a:r>
              <a:rPr lang="ru-RU" b="1" dirty="0">
                <a:solidFill>
                  <a:srgbClr val="C00000"/>
                </a:solidFill>
              </a:rPr>
              <a:t>При объявлении функции как Function </a:t>
            </a:r>
            <a:r>
              <a:rPr lang="ru-RU" b="1" dirty="0" err="1">
                <a:solidFill>
                  <a:srgbClr val="C00000"/>
                </a:solidFill>
              </a:rPr>
              <a:t>Declaration</a:t>
            </a:r>
            <a:r>
              <a:rPr lang="ru-RU" b="1" dirty="0">
                <a:solidFill>
                  <a:srgbClr val="C00000"/>
                </a:solidFill>
              </a:rPr>
              <a:t> после фигурной скобки } точка с запятой не ставится</a:t>
            </a:r>
          </a:p>
        </p:txBody>
      </p:sp>
      <p:sp>
        <p:nvSpPr>
          <p:cNvPr id="24" name="TextBox 23">
            <a:extLst>
              <a:ext uri="{FF2B5EF4-FFF2-40B4-BE49-F238E27FC236}">
                <a16:creationId xmlns:a16="http://schemas.microsoft.com/office/drawing/2014/main" id="{0DE86FD5-404B-308F-909C-A7BE4C746438}"/>
              </a:ext>
            </a:extLst>
          </p:cNvPr>
          <p:cNvSpPr txBox="1"/>
          <p:nvPr/>
        </p:nvSpPr>
        <p:spPr>
          <a:xfrm>
            <a:off x="7267633" y="4698466"/>
            <a:ext cx="4227058" cy="923330"/>
          </a:xfrm>
          <a:prstGeom prst="rect">
            <a:avLst/>
          </a:prstGeom>
          <a:noFill/>
        </p:spPr>
        <p:txBody>
          <a:bodyPr wrap="square">
            <a:spAutoFit/>
          </a:bodyPr>
          <a:lstStyle/>
          <a:p>
            <a:r>
              <a:rPr lang="ru-RU" b="1" dirty="0">
                <a:solidFill>
                  <a:srgbClr val="C00000"/>
                </a:solidFill>
              </a:rPr>
              <a:t>Если же функция объявлена Function </a:t>
            </a:r>
            <a:r>
              <a:rPr lang="ru-RU" b="1" dirty="0" err="1">
                <a:solidFill>
                  <a:srgbClr val="C00000"/>
                </a:solidFill>
              </a:rPr>
              <a:t>Expression</a:t>
            </a:r>
            <a:r>
              <a:rPr lang="ru-RU" b="1" dirty="0">
                <a:solidFill>
                  <a:srgbClr val="C00000"/>
                </a:solidFill>
              </a:rPr>
              <a:t>, то после } ставится точка с запятой</a:t>
            </a:r>
          </a:p>
        </p:txBody>
      </p:sp>
    </p:spTree>
    <p:extLst>
      <p:ext uri="{BB962C8B-B14F-4D97-AF65-F5344CB8AC3E}">
        <p14:creationId xmlns:p14="http://schemas.microsoft.com/office/powerpoint/2010/main" val="3702746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Определение функции</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22</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0CCFE2AD-813D-06F0-85D4-CEBD567CFF3B}"/>
              </a:ext>
            </a:extLst>
          </p:cNvPr>
          <p:cNvSpPr/>
          <p:nvPr/>
        </p:nvSpPr>
        <p:spPr>
          <a:xfrm>
            <a:off x="149956" y="912814"/>
            <a:ext cx="11892087" cy="1708160"/>
          </a:xfrm>
          <a:prstGeom prst="rect">
            <a:avLst/>
          </a:prstGeom>
        </p:spPr>
        <p:txBody>
          <a:bodyPr wrap="square">
            <a:spAutoFit/>
          </a:bodyPr>
          <a:lstStyle/>
          <a:p>
            <a:pPr algn="just"/>
            <a:r>
              <a:rPr lang="ru-RU" b="1" dirty="0">
                <a:solidFill>
                  <a:srgbClr val="C00000"/>
                </a:solidFill>
              </a:rPr>
              <a:t>Function Declaration (сокращённо FD)</a:t>
            </a:r>
            <a:r>
              <a:rPr lang="ru-RU" b="1" dirty="0"/>
              <a:t> – это "классическое" объявление функции. В JavaScript функции объявляются с помощью литерала функции. </a:t>
            </a:r>
          </a:p>
          <a:p>
            <a:pPr algn="just"/>
            <a:endParaRPr lang="ru-RU" b="1" dirty="0"/>
          </a:p>
          <a:p>
            <a:pPr algn="ctr"/>
            <a:r>
              <a:rPr lang="ru-RU" sz="2400" b="1" dirty="0">
                <a:solidFill>
                  <a:srgbClr val="C00000"/>
                </a:solidFill>
              </a:rPr>
              <a:t>function идентификатор (параметры) { инструкции }</a:t>
            </a:r>
          </a:p>
          <a:p>
            <a:pPr algn="just"/>
            <a:endParaRPr lang="ru-RU" sz="900" b="1" dirty="0"/>
          </a:p>
          <a:p>
            <a:pPr algn="just"/>
            <a:endParaRPr lang="ru-RU" b="1" dirty="0"/>
          </a:p>
        </p:txBody>
      </p:sp>
      <p:cxnSp>
        <p:nvCxnSpPr>
          <p:cNvPr id="4" name="Прямая со стрелкой 3">
            <a:extLst>
              <a:ext uri="{FF2B5EF4-FFF2-40B4-BE49-F238E27FC236}">
                <a16:creationId xmlns:a16="http://schemas.microsoft.com/office/drawing/2014/main" id="{F612E23C-3EAB-43E2-2CA9-E4B44EC31DDF}"/>
              </a:ext>
            </a:extLst>
          </p:cNvPr>
          <p:cNvCxnSpPr/>
          <p:nvPr/>
        </p:nvCxnSpPr>
        <p:spPr>
          <a:xfrm flipV="1">
            <a:off x="4020473" y="2298296"/>
            <a:ext cx="630084" cy="81010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 name="Прямая со стрелкой 4">
            <a:extLst>
              <a:ext uri="{FF2B5EF4-FFF2-40B4-BE49-F238E27FC236}">
                <a16:creationId xmlns:a16="http://schemas.microsoft.com/office/drawing/2014/main" id="{6DE057AB-4F91-9165-D7FA-D1F68F70AFA0}"/>
              </a:ext>
            </a:extLst>
          </p:cNvPr>
          <p:cNvCxnSpPr/>
          <p:nvPr/>
        </p:nvCxnSpPr>
        <p:spPr>
          <a:xfrm flipH="1" flipV="1">
            <a:off x="8805389" y="2208284"/>
            <a:ext cx="255756" cy="41269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 name="Прямая со стрелкой 5">
            <a:extLst>
              <a:ext uri="{FF2B5EF4-FFF2-40B4-BE49-F238E27FC236}">
                <a16:creationId xmlns:a16="http://schemas.microsoft.com/office/drawing/2014/main" id="{A71ABF10-3C6E-3E71-F97F-2C8272ACB4BD}"/>
              </a:ext>
            </a:extLst>
          </p:cNvPr>
          <p:cNvCxnSpPr/>
          <p:nvPr/>
        </p:nvCxnSpPr>
        <p:spPr>
          <a:xfrm flipH="1" flipV="1">
            <a:off x="6810845" y="2208284"/>
            <a:ext cx="180024" cy="41269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8" name="Прямоугольник 7">
            <a:extLst>
              <a:ext uri="{FF2B5EF4-FFF2-40B4-BE49-F238E27FC236}">
                <a16:creationId xmlns:a16="http://schemas.microsoft.com/office/drawing/2014/main" id="{AB6A2F5B-23FE-A4A6-3C66-41AE1E2ED695}"/>
              </a:ext>
            </a:extLst>
          </p:cNvPr>
          <p:cNvSpPr/>
          <p:nvPr/>
        </p:nvSpPr>
        <p:spPr>
          <a:xfrm>
            <a:off x="3208239" y="3187761"/>
            <a:ext cx="1442318" cy="369332"/>
          </a:xfrm>
          <a:prstGeom prst="rect">
            <a:avLst/>
          </a:prstGeom>
        </p:spPr>
        <p:txBody>
          <a:bodyPr wrap="none">
            <a:spAutoFit/>
          </a:bodyPr>
          <a:lstStyle/>
          <a:p>
            <a:r>
              <a:rPr lang="ru-RU" b="1" dirty="0"/>
              <a:t>Имя (глагол)</a:t>
            </a:r>
            <a:endParaRPr lang="ru-RU" dirty="0"/>
          </a:p>
        </p:txBody>
      </p:sp>
      <p:sp>
        <p:nvSpPr>
          <p:cNvPr id="11" name="Прямоугольник 10">
            <a:extLst>
              <a:ext uri="{FF2B5EF4-FFF2-40B4-BE49-F238E27FC236}">
                <a16:creationId xmlns:a16="http://schemas.microsoft.com/office/drawing/2014/main" id="{B5314138-F141-4F81-8B1B-5B04B904A02E}"/>
              </a:ext>
            </a:extLst>
          </p:cNvPr>
          <p:cNvSpPr/>
          <p:nvPr/>
        </p:nvSpPr>
        <p:spPr>
          <a:xfrm>
            <a:off x="6360785" y="2647455"/>
            <a:ext cx="2149371" cy="369332"/>
          </a:xfrm>
          <a:prstGeom prst="rect">
            <a:avLst/>
          </a:prstGeom>
        </p:spPr>
        <p:txBody>
          <a:bodyPr wrap="none">
            <a:spAutoFit/>
          </a:bodyPr>
          <a:lstStyle/>
          <a:p>
            <a:r>
              <a:rPr lang="ru-RU" b="1" dirty="0"/>
              <a:t>Список параметров</a:t>
            </a:r>
            <a:endParaRPr lang="ru-RU" dirty="0"/>
          </a:p>
        </p:txBody>
      </p:sp>
      <p:sp>
        <p:nvSpPr>
          <p:cNvPr id="12" name="Прямоугольник 11">
            <a:extLst>
              <a:ext uri="{FF2B5EF4-FFF2-40B4-BE49-F238E27FC236}">
                <a16:creationId xmlns:a16="http://schemas.microsoft.com/office/drawing/2014/main" id="{7D907E67-9D86-41B6-C844-BC7303405993}"/>
              </a:ext>
            </a:extLst>
          </p:cNvPr>
          <p:cNvSpPr/>
          <p:nvPr/>
        </p:nvSpPr>
        <p:spPr>
          <a:xfrm>
            <a:off x="8862256" y="2656785"/>
            <a:ext cx="636713" cy="369332"/>
          </a:xfrm>
          <a:prstGeom prst="rect">
            <a:avLst/>
          </a:prstGeom>
        </p:spPr>
        <p:txBody>
          <a:bodyPr wrap="none">
            <a:spAutoFit/>
          </a:bodyPr>
          <a:lstStyle/>
          <a:p>
            <a:r>
              <a:rPr lang="ru-RU" b="1" dirty="0"/>
              <a:t>Тело</a:t>
            </a:r>
            <a:endParaRPr lang="ru-RU" dirty="0"/>
          </a:p>
        </p:txBody>
      </p:sp>
      <p:sp>
        <p:nvSpPr>
          <p:cNvPr id="13" name="Прямоугольник 12">
            <a:extLst>
              <a:ext uri="{FF2B5EF4-FFF2-40B4-BE49-F238E27FC236}">
                <a16:creationId xmlns:a16="http://schemas.microsoft.com/office/drawing/2014/main" id="{6A45351E-E0B1-B12B-7365-5958C715277C}"/>
              </a:ext>
            </a:extLst>
          </p:cNvPr>
          <p:cNvSpPr/>
          <p:nvPr/>
        </p:nvSpPr>
        <p:spPr>
          <a:xfrm>
            <a:off x="988156" y="3675191"/>
            <a:ext cx="7648878" cy="1477328"/>
          </a:xfrm>
          <a:prstGeom prst="rect">
            <a:avLst/>
          </a:prstGeom>
        </p:spPr>
        <p:txBody>
          <a:bodyPr wrap="square">
            <a:spAutoFit/>
          </a:bodyPr>
          <a:lstStyle/>
          <a:p>
            <a:r>
              <a:rPr lang="ru-RU" b="1" dirty="0"/>
              <a:t>function </a:t>
            </a:r>
            <a:r>
              <a:rPr lang="ru-RU" b="1" dirty="0" err="1"/>
              <a:t>sayH</a:t>
            </a:r>
            <a:r>
              <a:rPr lang="en-US" b="1" dirty="0" err="1"/>
              <a:t>ello</a:t>
            </a:r>
            <a:r>
              <a:rPr lang="ru-RU" b="1" dirty="0"/>
              <a:t>() {</a:t>
            </a:r>
          </a:p>
          <a:p>
            <a:r>
              <a:rPr lang="ru-RU" b="1" dirty="0"/>
              <a:t>     console.log("Hello");</a:t>
            </a:r>
          </a:p>
          <a:p>
            <a:r>
              <a:rPr lang="ru-RU" b="1" dirty="0"/>
              <a:t>}</a:t>
            </a:r>
          </a:p>
          <a:p>
            <a:endParaRPr lang="ru-RU" b="1" dirty="0"/>
          </a:p>
          <a:p>
            <a:r>
              <a:rPr lang="ru-RU" b="1" dirty="0"/>
              <a:t>console.log(</a:t>
            </a:r>
            <a:r>
              <a:rPr lang="ru-RU" b="1" dirty="0" err="1"/>
              <a:t>sayH</a:t>
            </a:r>
            <a:r>
              <a:rPr lang="en-US" b="1" dirty="0" err="1"/>
              <a:t>ello</a:t>
            </a:r>
            <a:r>
              <a:rPr lang="ru-RU" b="1" dirty="0"/>
              <a:t>());   // function </a:t>
            </a:r>
            <a:r>
              <a:rPr lang="ru-RU" b="1" dirty="0" err="1"/>
              <a:t>sayH</a:t>
            </a:r>
            <a:r>
              <a:rPr lang="en-US" b="1" dirty="0" err="1"/>
              <a:t>ello</a:t>
            </a:r>
            <a:r>
              <a:rPr lang="ru-RU" b="1" dirty="0"/>
              <a:t>() {console.log("Hello"); }</a:t>
            </a:r>
          </a:p>
        </p:txBody>
      </p:sp>
    </p:spTree>
    <p:extLst>
      <p:ext uri="{BB962C8B-B14F-4D97-AF65-F5344CB8AC3E}">
        <p14:creationId xmlns:p14="http://schemas.microsoft.com/office/powerpoint/2010/main" val="832734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Определение функции</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23</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20EC4FA4-95F9-8CD3-9B17-A6B3342D3BF5}"/>
              </a:ext>
            </a:extLst>
          </p:cNvPr>
          <p:cNvSpPr/>
          <p:nvPr/>
        </p:nvSpPr>
        <p:spPr>
          <a:xfrm>
            <a:off x="149956" y="912814"/>
            <a:ext cx="11892087" cy="1708160"/>
          </a:xfrm>
          <a:prstGeom prst="rect">
            <a:avLst/>
          </a:prstGeom>
        </p:spPr>
        <p:txBody>
          <a:bodyPr wrap="square">
            <a:spAutoFit/>
          </a:bodyPr>
          <a:lstStyle/>
          <a:p>
            <a:pPr algn="just"/>
            <a:r>
              <a:rPr lang="ru-RU" b="1" dirty="0">
                <a:solidFill>
                  <a:srgbClr val="C00000"/>
                </a:solidFill>
              </a:rPr>
              <a:t>Function Expression (сокращённо FE) </a:t>
            </a:r>
            <a:r>
              <a:rPr lang="ru-RU" b="1" dirty="0"/>
              <a:t>– это объявление функции, которое является частью какого-либо выражения (например присваивания). </a:t>
            </a:r>
          </a:p>
          <a:p>
            <a:pPr algn="just"/>
            <a:endParaRPr lang="ru-RU" b="1" dirty="0"/>
          </a:p>
          <a:p>
            <a:pPr algn="ctr"/>
            <a:r>
              <a:rPr lang="ru-RU" sz="2400" b="1" dirty="0">
                <a:solidFill>
                  <a:srgbClr val="C00000"/>
                </a:solidFill>
              </a:rPr>
              <a:t>function (параметры) { инструкции }</a:t>
            </a:r>
          </a:p>
          <a:p>
            <a:pPr algn="just"/>
            <a:endParaRPr lang="ru-RU" sz="900" b="1" dirty="0"/>
          </a:p>
          <a:p>
            <a:pPr algn="just"/>
            <a:endParaRPr lang="ru-RU" b="1" dirty="0"/>
          </a:p>
        </p:txBody>
      </p:sp>
      <p:cxnSp>
        <p:nvCxnSpPr>
          <p:cNvPr id="4" name="Прямая со стрелкой 3">
            <a:extLst>
              <a:ext uri="{FF2B5EF4-FFF2-40B4-BE49-F238E27FC236}">
                <a16:creationId xmlns:a16="http://schemas.microsoft.com/office/drawing/2014/main" id="{CAFE1850-97EE-D44D-29AD-CB7837BDD427}"/>
              </a:ext>
            </a:extLst>
          </p:cNvPr>
          <p:cNvCxnSpPr/>
          <p:nvPr/>
        </p:nvCxnSpPr>
        <p:spPr>
          <a:xfrm flipH="1" flipV="1">
            <a:off x="7665205" y="2202106"/>
            <a:ext cx="255756" cy="41269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5" name="Прямая со стрелкой 4">
            <a:extLst>
              <a:ext uri="{FF2B5EF4-FFF2-40B4-BE49-F238E27FC236}">
                <a16:creationId xmlns:a16="http://schemas.microsoft.com/office/drawing/2014/main" id="{083B3943-ED9E-AFD0-DD04-4032B7908FF7}"/>
              </a:ext>
            </a:extLst>
          </p:cNvPr>
          <p:cNvCxnSpPr/>
          <p:nvPr/>
        </p:nvCxnSpPr>
        <p:spPr>
          <a:xfrm flipH="1" flipV="1">
            <a:off x="5730701" y="2237917"/>
            <a:ext cx="180024" cy="41269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 name="Прямоугольник 5">
            <a:extLst>
              <a:ext uri="{FF2B5EF4-FFF2-40B4-BE49-F238E27FC236}">
                <a16:creationId xmlns:a16="http://schemas.microsoft.com/office/drawing/2014/main" id="{57C6820D-4CCD-014D-5155-5DD69002D258}"/>
              </a:ext>
            </a:extLst>
          </p:cNvPr>
          <p:cNvSpPr/>
          <p:nvPr/>
        </p:nvSpPr>
        <p:spPr>
          <a:xfrm>
            <a:off x="5280641" y="2677088"/>
            <a:ext cx="2149371" cy="369332"/>
          </a:xfrm>
          <a:prstGeom prst="rect">
            <a:avLst/>
          </a:prstGeom>
        </p:spPr>
        <p:txBody>
          <a:bodyPr wrap="none">
            <a:spAutoFit/>
          </a:bodyPr>
          <a:lstStyle/>
          <a:p>
            <a:r>
              <a:rPr lang="ru-RU" b="1" dirty="0"/>
              <a:t>Список параметров</a:t>
            </a:r>
            <a:endParaRPr lang="ru-RU" dirty="0"/>
          </a:p>
        </p:txBody>
      </p:sp>
      <p:sp>
        <p:nvSpPr>
          <p:cNvPr id="8" name="Прямоугольник 7">
            <a:extLst>
              <a:ext uri="{FF2B5EF4-FFF2-40B4-BE49-F238E27FC236}">
                <a16:creationId xmlns:a16="http://schemas.microsoft.com/office/drawing/2014/main" id="{DA18888A-3C75-D98B-986F-55B6C0084B11}"/>
              </a:ext>
            </a:extLst>
          </p:cNvPr>
          <p:cNvSpPr/>
          <p:nvPr/>
        </p:nvSpPr>
        <p:spPr>
          <a:xfrm>
            <a:off x="7722072" y="2650607"/>
            <a:ext cx="636713" cy="369332"/>
          </a:xfrm>
          <a:prstGeom prst="rect">
            <a:avLst/>
          </a:prstGeom>
        </p:spPr>
        <p:txBody>
          <a:bodyPr wrap="none">
            <a:spAutoFit/>
          </a:bodyPr>
          <a:lstStyle/>
          <a:p>
            <a:r>
              <a:rPr lang="ru-RU" b="1" dirty="0"/>
              <a:t>Тело</a:t>
            </a:r>
            <a:endParaRPr lang="ru-RU" dirty="0"/>
          </a:p>
        </p:txBody>
      </p:sp>
      <p:sp>
        <p:nvSpPr>
          <p:cNvPr id="11" name="Прямоугольник 10">
            <a:extLst>
              <a:ext uri="{FF2B5EF4-FFF2-40B4-BE49-F238E27FC236}">
                <a16:creationId xmlns:a16="http://schemas.microsoft.com/office/drawing/2014/main" id="{AB90F265-C39C-5AAE-9B4B-05BDB8048443}"/>
              </a:ext>
            </a:extLst>
          </p:cNvPr>
          <p:cNvSpPr/>
          <p:nvPr/>
        </p:nvSpPr>
        <p:spPr>
          <a:xfrm>
            <a:off x="329124" y="1911943"/>
            <a:ext cx="3197037" cy="1477328"/>
          </a:xfrm>
          <a:prstGeom prst="rect">
            <a:avLst/>
          </a:prstGeom>
        </p:spPr>
        <p:txBody>
          <a:bodyPr wrap="square">
            <a:spAutoFit/>
          </a:bodyPr>
          <a:lstStyle/>
          <a:p>
            <a:r>
              <a:rPr lang="en-US" b="1" dirty="0"/>
              <a:t>var </a:t>
            </a:r>
            <a:r>
              <a:rPr lang="en-US" b="1" dirty="0" err="1"/>
              <a:t>sayHello</a:t>
            </a:r>
            <a:r>
              <a:rPr lang="en-US" b="1" dirty="0"/>
              <a:t> = function () {</a:t>
            </a:r>
          </a:p>
          <a:p>
            <a:r>
              <a:rPr lang="en-US" b="1" dirty="0"/>
              <a:t>	console.log("Hello");</a:t>
            </a:r>
          </a:p>
          <a:p>
            <a:r>
              <a:rPr lang="en-US" b="1" dirty="0"/>
              <a:t>};</a:t>
            </a:r>
          </a:p>
          <a:p>
            <a:r>
              <a:rPr lang="en-US" b="1" dirty="0"/>
              <a:t>    </a:t>
            </a:r>
          </a:p>
          <a:p>
            <a:r>
              <a:rPr lang="en-US" b="1" dirty="0" err="1"/>
              <a:t>sayHello</a:t>
            </a:r>
            <a:r>
              <a:rPr lang="en-US" b="1" dirty="0"/>
              <a:t>(); </a:t>
            </a:r>
            <a:endParaRPr lang="ru-RU" b="1" dirty="0"/>
          </a:p>
        </p:txBody>
      </p:sp>
      <p:pic>
        <p:nvPicPr>
          <p:cNvPr id="13" name="Рисунок 12">
            <a:extLst>
              <a:ext uri="{FF2B5EF4-FFF2-40B4-BE49-F238E27FC236}">
                <a16:creationId xmlns:a16="http://schemas.microsoft.com/office/drawing/2014/main" id="{7B698F98-CF0E-F5FF-F0B1-3953B181C140}"/>
              </a:ext>
            </a:extLst>
          </p:cNvPr>
          <p:cNvPicPr>
            <a:picLocks noChangeAspect="1"/>
          </p:cNvPicPr>
          <p:nvPr/>
        </p:nvPicPr>
        <p:blipFill>
          <a:blip r:embed="rId4"/>
          <a:stretch>
            <a:fillRect/>
          </a:stretch>
        </p:blipFill>
        <p:spPr>
          <a:xfrm>
            <a:off x="6588756" y="4224621"/>
            <a:ext cx="5439534" cy="2372056"/>
          </a:xfrm>
          <a:prstGeom prst="rect">
            <a:avLst/>
          </a:prstGeom>
        </p:spPr>
      </p:pic>
      <p:sp>
        <p:nvSpPr>
          <p:cNvPr id="15" name="TextBox 14">
            <a:extLst>
              <a:ext uri="{FF2B5EF4-FFF2-40B4-BE49-F238E27FC236}">
                <a16:creationId xmlns:a16="http://schemas.microsoft.com/office/drawing/2014/main" id="{4763BECB-34C4-F4DF-E42F-CE063D48A431}"/>
              </a:ext>
            </a:extLst>
          </p:cNvPr>
          <p:cNvSpPr txBox="1"/>
          <p:nvPr/>
        </p:nvSpPr>
        <p:spPr>
          <a:xfrm>
            <a:off x="1612515" y="5666769"/>
            <a:ext cx="4976241" cy="923330"/>
          </a:xfrm>
          <a:prstGeom prst="rect">
            <a:avLst/>
          </a:prstGeom>
          <a:noFill/>
        </p:spPr>
        <p:txBody>
          <a:bodyPr wrap="square">
            <a:spAutoFit/>
          </a:bodyPr>
          <a:lstStyle/>
          <a:p>
            <a:r>
              <a:rPr lang="ru-RU" b="1" dirty="0"/>
              <a:t>Название функциональное выражение обозначает то, что такая функция принимает участие в каком-нибудь выражении.</a:t>
            </a:r>
          </a:p>
        </p:txBody>
      </p:sp>
      <p:pic>
        <p:nvPicPr>
          <p:cNvPr id="17" name="Рисунок 16">
            <a:extLst>
              <a:ext uri="{FF2B5EF4-FFF2-40B4-BE49-F238E27FC236}">
                <a16:creationId xmlns:a16="http://schemas.microsoft.com/office/drawing/2014/main" id="{97B49179-106F-E68D-7A45-7E2330819BD5}"/>
              </a:ext>
            </a:extLst>
          </p:cNvPr>
          <p:cNvPicPr>
            <a:picLocks noChangeAspect="1"/>
          </p:cNvPicPr>
          <p:nvPr/>
        </p:nvPicPr>
        <p:blipFill>
          <a:blip r:embed="rId5"/>
          <a:stretch>
            <a:fillRect/>
          </a:stretch>
        </p:blipFill>
        <p:spPr>
          <a:xfrm>
            <a:off x="329124" y="3468730"/>
            <a:ext cx="4439270" cy="1962424"/>
          </a:xfrm>
          <a:prstGeom prst="rect">
            <a:avLst/>
          </a:prstGeom>
        </p:spPr>
      </p:pic>
    </p:spTree>
    <p:extLst>
      <p:ext uri="{BB962C8B-B14F-4D97-AF65-F5344CB8AC3E}">
        <p14:creationId xmlns:p14="http://schemas.microsoft.com/office/powerpoint/2010/main" val="4070929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Определение функции</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24</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0C1D819D-227D-0E57-76D9-5ED7FC8C8356}"/>
              </a:ext>
            </a:extLst>
          </p:cNvPr>
          <p:cNvSpPr/>
          <p:nvPr/>
        </p:nvSpPr>
        <p:spPr>
          <a:xfrm>
            <a:off x="126900" y="838200"/>
            <a:ext cx="11892087" cy="1708160"/>
          </a:xfrm>
          <a:prstGeom prst="rect">
            <a:avLst/>
          </a:prstGeom>
        </p:spPr>
        <p:txBody>
          <a:bodyPr wrap="square">
            <a:spAutoFit/>
          </a:bodyPr>
          <a:lstStyle/>
          <a:p>
            <a:pPr algn="just"/>
            <a:r>
              <a:rPr lang="ru-RU" b="1" dirty="0" err="1">
                <a:solidFill>
                  <a:srgbClr val="C00000"/>
                </a:solidFill>
              </a:rPr>
              <a:t>Named</a:t>
            </a:r>
            <a:r>
              <a:rPr lang="ru-RU" b="1" dirty="0">
                <a:solidFill>
                  <a:srgbClr val="C00000"/>
                </a:solidFill>
              </a:rPr>
              <a:t> Function Expression (сокращённо NFE) </a:t>
            </a:r>
            <a:r>
              <a:rPr lang="ru-RU" b="1" dirty="0"/>
              <a:t>– это объявление функции, которое является частью какого-либо выражения (например присваивания). </a:t>
            </a:r>
          </a:p>
          <a:p>
            <a:pPr algn="just"/>
            <a:endParaRPr lang="ru-RU" b="1" dirty="0"/>
          </a:p>
          <a:p>
            <a:pPr algn="ctr"/>
            <a:r>
              <a:rPr lang="ru-RU" sz="2400" b="1" dirty="0">
                <a:solidFill>
                  <a:srgbClr val="C00000"/>
                </a:solidFill>
              </a:rPr>
              <a:t>function идентификатор (параметры) { инструкции }</a:t>
            </a:r>
          </a:p>
          <a:p>
            <a:pPr algn="just"/>
            <a:endParaRPr lang="ru-RU" sz="900" b="1" dirty="0"/>
          </a:p>
          <a:p>
            <a:pPr algn="just"/>
            <a:endParaRPr lang="ru-RU" b="1" dirty="0"/>
          </a:p>
        </p:txBody>
      </p:sp>
      <p:sp>
        <p:nvSpPr>
          <p:cNvPr id="4" name="Прямоугольник 3">
            <a:extLst>
              <a:ext uri="{FF2B5EF4-FFF2-40B4-BE49-F238E27FC236}">
                <a16:creationId xmlns:a16="http://schemas.microsoft.com/office/drawing/2014/main" id="{1C391DB6-59BF-DA9F-05A2-2E9A3B40F0FA}"/>
              </a:ext>
            </a:extLst>
          </p:cNvPr>
          <p:cNvSpPr/>
          <p:nvPr/>
        </p:nvSpPr>
        <p:spPr>
          <a:xfrm>
            <a:off x="293361" y="2852743"/>
            <a:ext cx="3630577" cy="1477328"/>
          </a:xfrm>
          <a:prstGeom prst="rect">
            <a:avLst/>
          </a:prstGeom>
        </p:spPr>
        <p:txBody>
          <a:bodyPr wrap="square">
            <a:spAutoFit/>
          </a:bodyPr>
          <a:lstStyle/>
          <a:p>
            <a:r>
              <a:rPr lang="en-US" b="1" dirty="0"/>
              <a:t>var f = function </a:t>
            </a:r>
            <a:r>
              <a:rPr lang="en-US" b="1" dirty="0" err="1"/>
              <a:t>sayHello</a:t>
            </a:r>
            <a:r>
              <a:rPr lang="en-US" b="1" dirty="0"/>
              <a:t>() {</a:t>
            </a:r>
          </a:p>
          <a:p>
            <a:r>
              <a:rPr lang="en-US" b="1" dirty="0"/>
              <a:t>       console.log("Hello");</a:t>
            </a:r>
          </a:p>
          <a:p>
            <a:r>
              <a:rPr lang="en-US" b="1" dirty="0"/>
              <a:t>};</a:t>
            </a:r>
          </a:p>
          <a:p>
            <a:r>
              <a:rPr lang="en-US" b="1" dirty="0"/>
              <a:t>    </a:t>
            </a:r>
          </a:p>
          <a:p>
            <a:r>
              <a:rPr lang="en-US" b="1" dirty="0"/>
              <a:t>f(); </a:t>
            </a:r>
            <a:endParaRPr lang="ru-RU" b="1" dirty="0"/>
          </a:p>
        </p:txBody>
      </p:sp>
      <p:cxnSp>
        <p:nvCxnSpPr>
          <p:cNvPr id="5" name="Прямая со стрелкой 4">
            <a:extLst>
              <a:ext uri="{FF2B5EF4-FFF2-40B4-BE49-F238E27FC236}">
                <a16:creationId xmlns:a16="http://schemas.microsoft.com/office/drawing/2014/main" id="{5CB872EC-8D1A-A1F2-0951-B84337AAB08B}"/>
              </a:ext>
            </a:extLst>
          </p:cNvPr>
          <p:cNvCxnSpPr>
            <a:cxnSpLocks/>
          </p:cNvCxnSpPr>
          <p:nvPr/>
        </p:nvCxnSpPr>
        <p:spPr>
          <a:xfrm flipV="1">
            <a:off x="4253173" y="2223682"/>
            <a:ext cx="374328" cy="44077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 name="Прямая со стрелкой 5">
            <a:extLst>
              <a:ext uri="{FF2B5EF4-FFF2-40B4-BE49-F238E27FC236}">
                <a16:creationId xmlns:a16="http://schemas.microsoft.com/office/drawing/2014/main" id="{E4D9276C-A6D2-8A50-2A49-8E90DAB857E3}"/>
              </a:ext>
            </a:extLst>
          </p:cNvPr>
          <p:cNvCxnSpPr/>
          <p:nvPr/>
        </p:nvCxnSpPr>
        <p:spPr>
          <a:xfrm flipH="1" flipV="1">
            <a:off x="8782333" y="2133670"/>
            <a:ext cx="255756" cy="41269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8" name="Прямая со стрелкой 7">
            <a:extLst>
              <a:ext uri="{FF2B5EF4-FFF2-40B4-BE49-F238E27FC236}">
                <a16:creationId xmlns:a16="http://schemas.microsoft.com/office/drawing/2014/main" id="{C9E8485A-ED7A-FF13-3AD0-37535D40A4CA}"/>
              </a:ext>
            </a:extLst>
          </p:cNvPr>
          <p:cNvCxnSpPr/>
          <p:nvPr/>
        </p:nvCxnSpPr>
        <p:spPr>
          <a:xfrm flipH="1" flipV="1">
            <a:off x="6787789" y="2133670"/>
            <a:ext cx="180024" cy="41269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1" name="Прямоугольник 10">
            <a:extLst>
              <a:ext uri="{FF2B5EF4-FFF2-40B4-BE49-F238E27FC236}">
                <a16:creationId xmlns:a16="http://schemas.microsoft.com/office/drawing/2014/main" id="{D0238980-F9A5-119D-16B9-B892211C26FF}"/>
              </a:ext>
            </a:extLst>
          </p:cNvPr>
          <p:cNvSpPr/>
          <p:nvPr/>
        </p:nvSpPr>
        <p:spPr>
          <a:xfrm>
            <a:off x="3331888" y="2668077"/>
            <a:ext cx="1442318" cy="369332"/>
          </a:xfrm>
          <a:prstGeom prst="rect">
            <a:avLst/>
          </a:prstGeom>
        </p:spPr>
        <p:txBody>
          <a:bodyPr wrap="none">
            <a:spAutoFit/>
          </a:bodyPr>
          <a:lstStyle/>
          <a:p>
            <a:r>
              <a:rPr lang="ru-RU" b="1" dirty="0"/>
              <a:t>Имя (глагол)</a:t>
            </a:r>
            <a:endParaRPr lang="ru-RU" dirty="0"/>
          </a:p>
        </p:txBody>
      </p:sp>
      <p:sp>
        <p:nvSpPr>
          <p:cNvPr id="12" name="Прямоугольник 11">
            <a:extLst>
              <a:ext uri="{FF2B5EF4-FFF2-40B4-BE49-F238E27FC236}">
                <a16:creationId xmlns:a16="http://schemas.microsoft.com/office/drawing/2014/main" id="{91302A55-1B55-1068-9E6B-03F8925AEDA2}"/>
              </a:ext>
            </a:extLst>
          </p:cNvPr>
          <p:cNvSpPr/>
          <p:nvPr/>
        </p:nvSpPr>
        <p:spPr>
          <a:xfrm>
            <a:off x="6363229" y="2572841"/>
            <a:ext cx="2149371" cy="369332"/>
          </a:xfrm>
          <a:prstGeom prst="rect">
            <a:avLst/>
          </a:prstGeom>
        </p:spPr>
        <p:txBody>
          <a:bodyPr wrap="none">
            <a:spAutoFit/>
          </a:bodyPr>
          <a:lstStyle/>
          <a:p>
            <a:r>
              <a:rPr lang="ru-RU" b="1" dirty="0"/>
              <a:t>Список параметров</a:t>
            </a:r>
            <a:endParaRPr lang="ru-RU" dirty="0"/>
          </a:p>
        </p:txBody>
      </p:sp>
      <p:sp>
        <p:nvSpPr>
          <p:cNvPr id="13" name="Прямоугольник 12">
            <a:extLst>
              <a:ext uri="{FF2B5EF4-FFF2-40B4-BE49-F238E27FC236}">
                <a16:creationId xmlns:a16="http://schemas.microsoft.com/office/drawing/2014/main" id="{DAFB7C13-BE1B-1E48-F0F5-2E58B6753C85}"/>
              </a:ext>
            </a:extLst>
          </p:cNvPr>
          <p:cNvSpPr/>
          <p:nvPr/>
        </p:nvSpPr>
        <p:spPr>
          <a:xfrm>
            <a:off x="8839200" y="2582171"/>
            <a:ext cx="636713" cy="369332"/>
          </a:xfrm>
          <a:prstGeom prst="rect">
            <a:avLst/>
          </a:prstGeom>
        </p:spPr>
        <p:txBody>
          <a:bodyPr wrap="none">
            <a:spAutoFit/>
          </a:bodyPr>
          <a:lstStyle/>
          <a:p>
            <a:r>
              <a:rPr lang="ru-RU" b="1" dirty="0"/>
              <a:t>Тело</a:t>
            </a:r>
            <a:endParaRPr lang="ru-RU" dirty="0"/>
          </a:p>
        </p:txBody>
      </p:sp>
      <p:sp>
        <p:nvSpPr>
          <p:cNvPr id="14" name="Прямоугольник 13">
            <a:extLst>
              <a:ext uri="{FF2B5EF4-FFF2-40B4-BE49-F238E27FC236}">
                <a16:creationId xmlns:a16="http://schemas.microsoft.com/office/drawing/2014/main" id="{86FEE6DB-E224-F8CD-759E-5F0C969CBB3A}"/>
              </a:ext>
            </a:extLst>
          </p:cNvPr>
          <p:cNvSpPr/>
          <p:nvPr/>
        </p:nvSpPr>
        <p:spPr>
          <a:xfrm>
            <a:off x="6620232" y="4427631"/>
            <a:ext cx="5068691" cy="1200329"/>
          </a:xfrm>
          <a:prstGeom prst="rect">
            <a:avLst/>
          </a:prstGeom>
        </p:spPr>
        <p:txBody>
          <a:bodyPr wrap="square">
            <a:spAutoFit/>
          </a:bodyPr>
          <a:lstStyle/>
          <a:p>
            <a:r>
              <a:rPr lang="ru-RU" b="1" dirty="0"/>
              <a:t>(function sayHi(str) {</a:t>
            </a:r>
          </a:p>
          <a:p>
            <a:r>
              <a:rPr lang="ru-RU" b="1" dirty="0"/>
              <a:t>    if (str) { return console.log('Hello'); }</a:t>
            </a:r>
          </a:p>
          <a:p>
            <a:r>
              <a:rPr lang="ru-RU" b="1" dirty="0"/>
              <a:t>    sayHi("</a:t>
            </a:r>
            <a:r>
              <a:rPr lang="ru-RU" b="1" dirty="0" err="1"/>
              <a:t>hi</a:t>
            </a:r>
            <a:r>
              <a:rPr lang="ru-RU" b="1" dirty="0"/>
              <a:t>");   // Имя доступно внутри функции</a:t>
            </a:r>
          </a:p>
          <a:p>
            <a:r>
              <a:rPr lang="ru-RU" b="1" dirty="0"/>
              <a:t>})();</a:t>
            </a:r>
          </a:p>
        </p:txBody>
      </p:sp>
      <p:sp>
        <p:nvSpPr>
          <p:cNvPr id="15" name="Прямоугольник 14">
            <a:extLst>
              <a:ext uri="{FF2B5EF4-FFF2-40B4-BE49-F238E27FC236}">
                <a16:creationId xmlns:a16="http://schemas.microsoft.com/office/drawing/2014/main" id="{9A5E4F75-BB19-C120-7D98-D5B87FC54F8F}"/>
              </a:ext>
            </a:extLst>
          </p:cNvPr>
          <p:cNvSpPr/>
          <p:nvPr/>
        </p:nvSpPr>
        <p:spPr>
          <a:xfrm>
            <a:off x="6564086" y="3661819"/>
            <a:ext cx="5199862" cy="646331"/>
          </a:xfrm>
          <a:prstGeom prst="rect">
            <a:avLst/>
          </a:prstGeom>
        </p:spPr>
        <p:txBody>
          <a:bodyPr wrap="square">
            <a:spAutoFit/>
          </a:bodyPr>
          <a:lstStyle/>
          <a:p>
            <a:pPr algn="just"/>
            <a:r>
              <a:rPr lang="ru-RU" b="1" dirty="0"/>
              <a:t>Для вызова функции можно использовать </a:t>
            </a:r>
            <a:r>
              <a:rPr lang="ru-RU" b="1" dirty="0">
                <a:solidFill>
                  <a:srgbClr val="C00000"/>
                </a:solidFill>
              </a:rPr>
              <a:t>оператор () </a:t>
            </a:r>
            <a:r>
              <a:rPr lang="ru-RU" b="1" dirty="0"/>
              <a:t>(оператор вызова).</a:t>
            </a:r>
            <a:endParaRPr lang="en-US" b="1" dirty="0"/>
          </a:p>
        </p:txBody>
      </p:sp>
      <p:pic>
        <p:nvPicPr>
          <p:cNvPr id="17" name="Рисунок 16">
            <a:extLst>
              <a:ext uri="{FF2B5EF4-FFF2-40B4-BE49-F238E27FC236}">
                <a16:creationId xmlns:a16="http://schemas.microsoft.com/office/drawing/2014/main" id="{5A1E3BCB-B8F4-4BD0-C241-BE46B68482A7}"/>
              </a:ext>
            </a:extLst>
          </p:cNvPr>
          <p:cNvPicPr>
            <a:picLocks noChangeAspect="1"/>
          </p:cNvPicPr>
          <p:nvPr/>
        </p:nvPicPr>
        <p:blipFill>
          <a:blip r:embed="rId4"/>
          <a:stretch>
            <a:fillRect/>
          </a:stretch>
        </p:blipFill>
        <p:spPr>
          <a:xfrm>
            <a:off x="1441026" y="3615600"/>
            <a:ext cx="4794624" cy="3095143"/>
          </a:xfrm>
          <a:prstGeom prst="rect">
            <a:avLst/>
          </a:prstGeom>
        </p:spPr>
      </p:pic>
    </p:spTree>
    <p:extLst>
      <p:ext uri="{BB962C8B-B14F-4D97-AF65-F5344CB8AC3E}">
        <p14:creationId xmlns:p14="http://schemas.microsoft.com/office/powerpoint/2010/main" val="3298284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Пример</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25</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16" name="Рисунок 15">
            <a:extLst>
              <a:ext uri="{FF2B5EF4-FFF2-40B4-BE49-F238E27FC236}">
                <a16:creationId xmlns:a16="http://schemas.microsoft.com/office/drawing/2014/main" id="{F03C778D-F750-4328-B62A-D3746168CC89}"/>
              </a:ext>
            </a:extLst>
          </p:cNvPr>
          <p:cNvPicPr>
            <a:picLocks noChangeAspect="1"/>
          </p:cNvPicPr>
          <p:nvPr/>
        </p:nvPicPr>
        <p:blipFill>
          <a:blip r:embed="rId4"/>
          <a:stretch>
            <a:fillRect/>
          </a:stretch>
        </p:blipFill>
        <p:spPr>
          <a:xfrm>
            <a:off x="4362208" y="2418308"/>
            <a:ext cx="3467584" cy="4163006"/>
          </a:xfrm>
          <a:prstGeom prst="rect">
            <a:avLst/>
          </a:prstGeom>
        </p:spPr>
      </p:pic>
      <p:pic>
        <p:nvPicPr>
          <p:cNvPr id="17" name="Рисунок 16">
            <a:extLst>
              <a:ext uri="{FF2B5EF4-FFF2-40B4-BE49-F238E27FC236}">
                <a16:creationId xmlns:a16="http://schemas.microsoft.com/office/drawing/2014/main" id="{010CE2BC-E412-4D69-B024-45A34F4A5387}"/>
              </a:ext>
            </a:extLst>
          </p:cNvPr>
          <p:cNvPicPr>
            <a:picLocks noChangeAspect="1"/>
          </p:cNvPicPr>
          <p:nvPr/>
        </p:nvPicPr>
        <p:blipFill>
          <a:blip r:embed="rId5"/>
          <a:stretch>
            <a:fillRect/>
          </a:stretch>
        </p:blipFill>
        <p:spPr>
          <a:xfrm>
            <a:off x="304070" y="854824"/>
            <a:ext cx="3258005" cy="2429214"/>
          </a:xfrm>
          <a:prstGeom prst="rect">
            <a:avLst/>
          </a:prstGeom>
        </p:spPr>
      </p:pic>
      <p:pic>
        <p:nvPicPr>
          <p:cNvPr id="18" name="Рисунок 17">
            <a:extLst>
              <a:ext uri="{FF2B5EF4-FFF2-40B4-BE49-F238E27FC236}">
                <a16:creationId xmlns:a16="http://schemas.microsoft.com/office/drawing/2014/main" id="{161762F0-73EA-42E1-9EB7-BA0AE4D00475}"/>
              </a:ext>
            </a:extLst>
          </p:cNvPr>
          <p:cNvPicPr>
            <a:picLocks noChangeAspect="1"/>
          </p:cNvPicPr>
          <p:nvPr/>
        </p:nvPicPr>
        <p:blipFill>
          <a:blip r:embed="rId6"/>
          <a:stretch>
            <a:fillRect/>
          </a:stretch>
        </p:blipFill>
        <p:spPr>
          <a:xfrm>
            <a:off x="8592842" y="940799"/>
            <a:ext cx="3277057" cy="2467319"/>
          </a:xfrm>
          <a:prstGeom prst="rect">
            <a:avLst/>
          </a:prstGeom>
        </p:spPr>
      </p:pic>
    </p:spTree>
    <p:extLst>
      <p:ext uri="{BB962C8B-B14F-4D97-AF65-F5344CB8AC3E}">
        <p14:creationId xmlns:p14="http://schemas.microsoft.com/office/powerpoint/2010/main" val="2903372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Вызов функции</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26</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B5055759-0EF8-FF32-AA21-8E5FDFCF0001}"/>
              </a:ext>
            </a:extLst>
          </p:cNvPr>
          <p:cNvSpPr/>
          <p:nvPr/>
        </p:nvSpPr>
        <p:spPr>
          <a:xfrm>
            <a:off x="152400" y="914400"/>
            <a:ext cx="11899930" cy="646331"/>
          </a:xfrm>
          <a:prstGeom prst="rect">
            <a:avLst/>
          </a:prstGeom>
        </p:spPr>
        <p:txBody>
          <a:bodyPr wrap="square">
            <a:spAutoFit/>
          </a:bodyPr>
          <a:lstStyle/>
          <a:p>
            <a:pPr algn="just"/>
            <a:r>
              <a:rPr lang="ru-RU" b="1" dirty="0"/>
              <a:t>Если функция является свойством объекта или элементом массива (т.е. методом) - тогда выражение вызова является </a:t>
            </a:r>
            <a:r>
              <a:rPr lang="ru-RU" b="1" dirty="0">
                <a:solidFill>
                  <a:srgbClr val="C00000"/>
                </a:solidFill>
              </a:rPr>
              <a:t>выражением вызова метода</a:t>
            </a:r>
            <a:r>
              <a:rPr lang="ru-RU" b="1" dirty="0"/>
              <a:t>.</a:t>
            </a:r>
          </a:p>
        </p:txBody>
      </p:sp>
      <p:sp>
        <p:nvSpPr>
          <p:cNvPr id="4" name="Прямоугольник 3">
            <a:extLst>
              <a:ext uri="{FF2B5EF4-FFF2-40B4-BE49-F238E27FC236}">
                <a16:creationId xmlns:a16="http://schemas.microsoft.com/office/drawing/2014/main" id="{2986A3D3-61A4-E0A6-3DC6-2AF54CAED1F5}"/>
              </a:ext>
            </a:extLst>
          </p:cNvPr>
          <p:cNvSpPr/>
          <p:nvPr/>
        </p:nvSpPr>
        <p:spPr>
          <a:xfrm>
            <a:off x="133132" y="1652779"/>
            <a:ext cx="11919197" cy="369332"/>
          </a:xfrm>
          <a:prstGeom prst="rect">
            <a:avLst/>
          </a:prstGeom>
        </p:spPr>
        <p:txBody>
          <a:bodyPr wrap="square">
            <a:spAutoFit/>
          </a:bodyPr>
          <a:lstStyle/>
          <a:p>
            <a:pPr algn="ctr"/>
            <a:r>
              <a:rPr lang="ru-RU" b="1">
                <a:solidFill>
                  <a:srgbClr val="C00000"/>
                </a:solidFill>
              </a:rPr>
              <a:t>Метод - это не что иное, как функция, которая хранится в виде свойства объекта. </a:t>
            </a:r>
          </a:p>
        </p:txBody>
      </p:sp>
      <p:sp>
        <p:nvSpPr>
          <p:cNvPr id="5" name="Прямоугольник 4">
            <a:extLst>
              <a:ext uri="{FF2B5EF4-FFF2-40B4-BE49-F238E27FC236}">
                <a16:creationId xmlns:a16="http://schemas.microsoft.com/office/drawing/2014/main" id="{A99E2653-4B63-46E9-7F0F-BD0263EB72D9}"/>
              </a:ext>
            </a:extLst>
          </p:cNvPr>
          <p:cNvSpPr/>
          <p:nvPr/>
        </p:nvSpPr>
        <p:spPr>
          <a:xfrm>
            <a:off x="304800" y="2025558"/>
            <a:ext cx="6096000" cy="3108543"/>
          </a:xfrm>
          <a:prstGeom prst="rect">
            <a:avLst/>
          </a:prstGeom>
        </p:spPr>
        <p:txBody>
          <a:bodyPr>
            <a:spAutoFit/>
          </a:bodyPr>
          <a:lstStyle/>
          <a:p>
            <a:r>
              <a:rPr lang="ru-RU" b="1" dirty="0"/>
              <a:t>// Определим простой объект и функцию</a:t>
            </a:r>
          </a:p>
          <a:p>
            <a:r>
              <a:rPr lang="en-US" b="1" dirty="0"/>
              <a:t>var obj = {};</a:t>
            </a:r>
          </a:p>
          <a:p>
            <a:endParaRPr lang="en-US" sz="800" b="1" dirty="0"/>
          </a:p>
          <a:p>
            <a:r>
              <a:rPr lang="en-US" b="1" dirty="0"/>
              <a:t>function func(a, b) { return a+b;}</a:t>
            </a:r>
          </a:p>
          <a:p>
            <a:endParaRPr lang="en-US" b="1" dirty="0"/>
          </a:p>
          <a:p>
            <a:r>
              <a:rPr lang="en-US" b="1" dirty="0"/>
              <a:t>// </a:t>
            </a:r>
            <a:r>
              <a:rPr lang="ru-RU" b="1" dirty="0"/>
              <a:t>Добавим в объект </a:t>
            </a:r>
            <a:r>
              <a:rPr lang="en-US" b="1" dirty="0"/>
              <a:t>obj </a:t>
            </a:r>
            <a:r>
              <a:rPr lang="ru-RU" b="1" dirty="0"/>
              <a:t>метод</a:t>
            </a:r>
          </a:p>
          <a:p>
            <a:r>
              <a:rPr lang="en-US" b="1" dirty="0" err="1"/>
              <a:t>obj.method</a:t>
            </a:r>
            <a:r>
              <a:rPr lang="en-US" b="1" dirty="0"/>
              <a:t> = func;</a:t>
            </a:r>
          </a:p>
          <a:p>
            <a:endParaRPr lang="en-US" b="1" dirty="0"/>
          </a:p>
          <a:p>
            <a:r>
              <a:rPr lang="en-US" b="1" dirty="0"/>
              <a:t>// </a:t>
            </a:r>
            <a:r>
              <a:rPr lang="ru-RU" b="1" dirty="0"/>
              <a:t>Теперь можно вызвать этот метод</a:t>
            </a:r>
          </a:p>
          <a:p>
            <a:r>
              <a:rPr lang="en-US" b="1" dirty="0"/>
              <a:t>var result = </a:t>
            </a:r>
            <a:r>
              <a:rPr lang="en-US" b="1" dirty="0" err="1"/>
              <a:t>obj.method</a:t>
            </a:r>
            <a:r>
              <a:rPr lang="en-US" b="1" dirty="0"/>
              <a:t>(4, 5);</a:t>
            </a:r>
          </a:p>
          <a:p>
            <a:endParaRPr lang="en-US" sz="800" b="1" dirty="0"/>
          </a:p>
          <a:p>
            <a:r>
              <a:rPr lang="en-US" b="1" dirty="0"/>
              <a:t>console.log(result);</a:t>
            </a:r>
            <a:endParaRPr lang="ru-RU" b="1" dirty="0"/>
          </a:p>
        </p:txBody>
      </p:sp>
      <p:sp>
        <p:nvSpPr>
          <p:cNvPr id="6" name="Прямоугольник 5">
            <a:extLst>
              <a:ext uri="{FF2B5EF4-FFF2-40B4-BE49-F238E27FC236}">
                <a16:creationId xmlns:a16="http://schemas.microsoft.com/office/drawing/2014/main" id="{5BC5284C-B4CD-B2C8-6FC7-9D4C2546E7E1}"/>
              </a:ext>
            </a:extLst>
          </p:cNvPr>
          <p:cNvSpPr/>
          <p:nvPr/>
        </p:nvSpPr>
        <p:spPr>
          <a:xfrm>
            <a:off x="5767434" y="2022111"/>
            <a:ext cx="6096000" cy="3416320"/>
          </a:xfrm>
          <a:prstGeom prst="rect">
            <a:avLst/>
          </a:prstGeom>
        </p:spPr>
        <p:txBody>
          <a:bodyPr>
            <a:spAutoFit/>
          </a:bodyPr>
          <a:lstStyle/>
          <a:p>
            <a:r>
              <a:rPr lang="ru-RU" b="1" dirty="0"/>
              <a:t>var obj = {</a:t>
            </a:r>
          </a:p>
          <a:p>
            <a:r>
              <a:rPr lang="ru-RU" b="1" dirty="0"/>
              <a:t>	x: 0, y: 0,</a:t>
            </a:r>
            <a:endParaRPr lang="en-US" b="1" dirty="0"/>
          </a:p>
          <a:p>
            <a:endParaRPr lang="ru-RU" b="1" dirty="0"/>
          </a:p>
          <a:p>
            <a:r>
              <a:rPr lang="ru-RU" b="1" dirty="0"/>
              <a:t>	// Метод</a:t>
            </a:r>
          </a:p>
          <a:p>
            <a:r>
              <a:rPr lang="ru-RU" b="1" dirty="0"/>
              <a:t>	add: function(a, b) {</a:t>
            </a:r>
            <a:r>
              <a:rPr lang="en-US" b="1" dirty="0"/>
              <a:t> </a:t>
            </a:r>
            <a:r>
              <a:rPr lang="ru-RU" b="1" dirty="0"/>
              <a:t>this.x = a; this.y = b;</a:t>
            </a:r>
            <a:r>
              <a:rPr lang="en-US" b="1" dirty="0"/>
              <a:t> </a:t>
            </a:r>
            <a:r>
              <a:rPr lang="ru-RU" b="1" dirty="0"/>
              <a:t>},</a:t>
            </a:r>
            <a:endParaRPr lang="en-US" b="1" dirty="0"/>
          </a:p>
          <a:p>
            <a:endParaRPr lang="ru-RU" b="1" dirty="0"/>
          </a:p>
          <a:p>
            <a:r>
              <a:rPr lang="ru-RU" b="1" dirty="0"/>
              <a:t>	// Еще один метод</a:t>
            </a:r>
          </a:p>
          <a:p>
            <a:r>
              <a:rPr lang="ru-RU" b="1" dirty="0"/>
              <a:t>	sum: function() {</a:t>
            </a:r>
            <a:r>
              <a:rPr lang="en-US" b="1" dirty="0"/>
              <a:t> </a:t>
            </a:r>
            <a:r>
              <a:rPr lang="ru-RU" b="1" dirty="0"/>
              <a:t>return this.x + this.y</a:t>
            </a:r>
            <a:r>
              <a:rPr lang="en-US" b="1" dirty="0"/>
              <a:t> </a:t>
            </a:r>
            <a:r>
              <a:rPr lang="ru-RU" b="1" dirty="0"/>
              <a:t>}</a:t>
            </a:r>
          </a:p>
          <a:p>
            <a:r>
              <a:rPr lang="ru-RU" b="1" dirty="0"/>
              <a:t>};</a:t>
            </a:r>
          </a:p>
          <a:p>
            <a:r>
              <a:rPr lang="ru-RU" b="1" dirty="0"/>
              <a:t>// Вызов методов</a:t>
            </a:r>
          </a:p>
          <a:p>
            <a:r>
              <a:rPr lang="ru-RU" b="1" dirty="0"/>
              <a:t>obj.add(15, 4);</a:t>
            </a:r>
          </a:p>
          <a:p>
            <a:r>
              <a:rPr lang="ru-RU" b="1" dirty="0"/>
              <a:t>console.log(obj.sum());    // 19</a:t>
            </a:r>
          </a:p>
        </p:txBody>
      </p:sp>
    </p:spTree>
    <p:extLst>
      <p:ext uri="{BB962C8B-B14F-4D97-AF65-F5344CB8AC3E}">
        <p14:creationId xmlns:p14="http://schemas.microsoft.com/office/powerpoint/2010/main" val="3695468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Аргументы и параметры функций</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27</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16CA2B66-3E70-DD48-CFA3-D2B7505802E5}"/>
              </a:ext>
            </a:extLst>
          </p:cNvPr>
          <p:cNvSpPr/>
          <p:nvPr/>
        </p:nvSpPr>
        <p:spPr>
          <a:xfrm>
            <a:off x="182629" y="835736"/>
            <a:ext cx="11061761" cy="369332"/>
          </a:xfrm>
          <a:prstGeom prst="rect">
            <a:avLst/>
          </a:prstGeom>
        </p:spPr>
        <p:txBody>
          <a:bodyPr wrap="square">
            <a:spAutoFit/>
          </a:bodyPr>
          <a:lstStyle/>
          <a:p>
            <a:r>
              <a:rPr lang="ru-RU" b="1" dirty="0"/>
              <a:t>Параметры функции играют роль </a:t>
            </a:r>
            <a:r>
              <a:rPr lang="ru-RU" b="1" dirty="0">
                <a:solidFill>
                  <a:srgbClr val="C00000"/>
                </a:solidFill>
              </a:rPr>
              <a:t>локальных переменных </a:t>
            </a:r>
            <a:r>
              <a:rPr lang="ru-RU" b="1" dirty="0"/>
              <a:t>в теле функции. </a:t>
            </a:r>
          </a:p>
        </p:txBody>
      </p:sp>
      <p:sp>
        <p:nvSpPr>
          <p:cNvPr id="4" name="Прямоугольник 3">
            <a:extLst>
              <a:ext uri="{FF2B5EF4-FFF2-40B4-BE49-F238E27FC236}">
                <a16:creationId xmlns:a16="http://schemas.microsoft.com/office/drawing/2014/main" id="{8414B1B4-773A-29A5-0B83-5CCD5DD4FCD0}"/>
              </a:ext>
            </a:extLst>
          </p:cNvPr>
          <p:cNvSpPr/>
          <p:nvPr/>
        </p:nvSpPr>
        <p:spPr>
          <a:xfrm>
            <a:off x="1073035" y="1340506"/>
            <a:ext cx="10081344" cy="707886"/>
          </a:xfrm>
          <a:prstGeom prst="rect">
            <a:avLst/>
          </a:prstGeom>
        </p:spPr>
        <p:txBody>
          <a:bodyPr wrap="square">
            <a:spAutoFit/>
          </a:bodyPr>
          <a:lstStyle/>
          <a:p>
            <a:r>
              <a:rPr lang="ru-RU" sz="2000" b="1" dirty="0">
                <a:solidFill>
                  <a:srgbClr val="C00000"/>
                </a:solidFill>
              </a:rPr>
              <a:t>При указании параметров функции ключевое слово var или let использовать не нужно, JavaScript объявляет их в качестве локальных переменные автоматически.</a:t>
            </a:r>
          </a:p>
        </p:txBody>
      </p:sp>
      <p:sp>
        <p:nvSpPr>
          <p:cNvPr id="5" name="Прямоугольник 4">
            <a:extLst>
              <a:ext uri="{FF2B5EF4-FFF2-40B4-BE49-F238E27FC236}">
                <a16:creationId xmlns:a16="http://schemas.microsoft.com/office/drawing/2014/main" id="{98F0E9CE-861C-6E81-085B-2C9E61741184}"/>
              </a:ext>
            </a:extLst>
          </p:cNvPr>
          <p:cNvSpPr/>
          <p:nvPr/>
        </p:nvSpPr>
        <p:spPr>
          <a:xfrm>
            <a:off x="3202589" y="2271985"/>
            <a:ext cx="5822235" cy="369332"/>
          </a:xfrm>
          <a:prstGeom prst="rect">
            <a:avLst/>
          </a:prstGeom>
        </p:spPr>
        <p:txBody>
          <a:bodyPr wrap="none">
            <a:spAutoFit/>
          </a:bodyPr>
          <a:lstStyle/>
          <a:p>
            <a:pPr algn="just"/>
            <a:r>
              <a:rPr lang="en-US" b="1" dirty="0"/>
              <a:t>function foo(a, b, c) { ... }   // a, b, c – </a:t>
            </a:r>
            <a:r>
              <a:rPr lang="ru-RU" b="1" dirty="0"/>
              <a:t>параметры функции</a:t>
            </a:r>
          </a:p>
        </p:txBody>
      </p:sp>
      <p:sp>
        <p:nvSpPr>
          <p:cNvPr id="6" name="Прямоугольник 5">
            <a:extLst>
              <a:ext uri="{FF2B5EF4-FFF2-40B4-BE49-F238E27FC236}">
                <a16:creationId xmlns:a16="http://schemas.microsoft.com/office/drawing/2014/main" id="{BEAF37BE-D159-3AEB-7FE4-E8A50E587B06}"/>
              </a:ext>
            </a:extLst>
          </p:cNvPr>
          <p:cNvSpPr/>
          <p:nvPr/>
        </p:nvSpPr>
        <p:spPr>
          <a:xfrm>
            <a:off x="182629" y="2864910"/>
            <a:ext cx="11601834" cy="369332"/>
          </a:xfrm>
          <a:prstGeom prst="rect">
            <a:avLst/>
          </a:prstGeom>
        </p:spPr>
        <p:txBody>
          <a:bodyPr wrap="square">
            <a:spAutoFit/>
          </a:bodyPr>
          <a:lstStyle/>
          <a:p>
            <a:r>
              <a:rPr lang="ru-RU" b="1" dirty="0"/>
              <a:t>Значения, которые передаются при вызове функции называются </a:t>
            </a:r>
            <a:r>
              <a:rPr lang="ru-RU" b="1" dirty="0">
                <a:solidFill>
                  <a:srgbClr val="C00000"/>
                </a:solidFill>
              </a:rPr>
              <a:t>аргументами</a:t>
            </a:r>
            <a:r>
              <a:rPr lang="ru-RU" b="1" dirty="0"/>
              <a:t>. </a:t>
            </a:r>
          </a:p>
        </p:txBody>
      </p:sp>
      <p:pic>
        <p:nvPicPr>
          <p:cNvPr id="13" name="Рисунок 12">
            <a:extLst>
              <a:ext uri="{FF2B5EF4-FFF2-40B4-BE49-F238E27FC236}">
                <a16:creationId xmlns:a16="http://schemas.microsoft.com/office/drawing/2014/main" id="{3191E110-3B5C-4DC3-973A-5F40216843CA}"/>
              </a:ext>
            </a:extLst>
          </p:cNvPr>
          <p:cNvPicPr>
            <a:picLocks noChangeAspect="1"/>
          </p:cNvPicPr>
          <p:nvPr/>
        </p:nvPicPr>
        <p:blipFill>
          <a:blip r:embed="rId4"/>
          <a:stretch>
            <a:fillRect/>
          </a:stretch>
        </p:blipFill>
        <p:spPr>
          <a:xfrm>
            <a:off x="2965507" y="3332975"/>
            <a:ext cx="5182323" cy="3086531"/>
          </a:xfrm>
          <a:prstGeom prst="rect">
            <a:avLst/>
          </a:prstGeom>
        </p:spPr>
      </p:pic>
      <p:cxnSp>
        <p:nvCxnSpPr>
          <p:cNvPr id="11" name="Прямая со стрелкой 10">
            <a:extLst>
              <a:ext uri="{FF2B5EF4-FFF2-40B4-BE49-F238E27FC236}">
                <a16:creationId xmlns:a16="http://schemas.microsoft.com/office/drawing/2014/main" id="{F5FD36A2-68A2-D581-339C-149AB354E33A}"/>
              </a:ext>
            </a:extLst>
          </p:cNvPr>
          <p:cNvCxnSpPr>
            <a:cxnSpLocks/>
          </p:cNvCxnSpPr>
          <p:nvPr/>
        </p:nvCxnSpPr>
        <p:spPr>
          <a:xfrm flipH="1">
            <a:off x="4656221" y="4301159"/>
            <a:ext cx="2189747" cy="367094"/>
          </a:xfrm>
          <a:prstGeom prst="straightConnector1">
            <a:avLst/>
          </a:prstGeom>
          <a:ln>
            <a:solidFill>
              <a:schemeClr val="bg1"/>
            </a:solidFill>
            <a:tailEnd type="triangle"/>
          </a:ln>
          <a:effectLst/>
        </p:spPr>
        <p:style>
          <a:lnRef idx="2">
            <a:schemeClr val="accent2"/>
          </a:lnRef>
          <a:fillRef idx="0">
            <a:schemeClr val="accent2"/>
          </a:fillRef>
          <a:effectRef idx="1">
            <a:schemeClr val="accent2"/>
          </a:effectRef>
          <a:fontRef idx="minor">
            <a:schemeClr val="tx1"/>
          </a:fontRef>
        </p:style>
      </p:cxnSp>
      <p:sp>
        <p:nvSpPr>
          <p:cNvPr id="12" name="Прямоугольник 11">
            <a:extLst>
              <a:ext uri="{FF2B5EF4-FFF2-40B4-BE49-F238E27FC236}">
                <a16:creationId xmlns:a16="http://schemas.microsoft.com/office/drawing/2014/main" id="{E40B043E-E4B2-631D-F8C3-AC9E8ECB4F83}"/>
              </a:ext>
            </a:extLst>
          </p:cNvPr>
          <p:cNvSpPr/>
          <p:nvPr/>
        </p:nvSpPr>
        <p:spPr>
          <a:xfrm>
            <a:off x="6845968" y="3931827"/>
            <a:ext cx="1273362" cy="369332"/>
          </a:xfrm>
          <a:prstGeom prst="rect">
            <a:avLst/>
          </a:prstGeom>
        </p:spPr>
        <p:txBody>
          <a:bodyPr wrap="none">
            <a:spAutoFit/>
          </a:bodyPr>
          <a:lstStyle/>
          <a:p>
            <a:r>
              <a:rPr lang="ru-RU" b="1" dirty="0">
                <a:solidFill>
                  <a:schemeClr val="bg1"/>
                </a:solidFill>
              </a:rPr>
              <a:t>аргументы</a:t>
            </a:r>
          </a:p>
        </p:txBody>
      </p:sp>
    </p:spTree>
    <p:extLst>
      <p:ext uri="{BB962C8B-B14F-4D97-AF65-F5344CB8AC3E}">
        <p14:creationId xmlns:p14="http://schemas.microsoft.com/office/powerpoint/2010/main" val="2288050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Аргументы и параметры функций</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28</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1F96C856-561C-B2A2-B073-0FD99E0A4C16}"/>
              </a:ext>
            </a:extLst>
          </p:cNvPr>
          <p:cNvSpPr/>
          <p:nvPr/>
        </p:nvSpPr>
        <p:spPr>
          <a:xfrm>
            <a:off x="286968" y="838200"/>
            <a:ext cx="11712062" cy="4247317"/>
          </a:xfrm>
          <a:prstGeom prst="rect">
            <a:avLst/>
          </a:prstGeom>
        </p:spPr>
        <p:txBody>
          <a:bodyPr wrap="square">
            <a:spAutoFit/>
          </a:bodyPr>
          <a:lstStyle/>
          <a:p>
            <a:pPr algn="just"/>
            <a:r>
              <a:rPr lang="ru-RU" b="1" dirty="0"/>
              <a:t>Если </a:t>
            </a:r>
            <a:r>
              <a:rPr lang="ru-RU" b="1" dirty="0">
                <a:solidFill>
                  <a:srgbClr val="C00000"/>
                </a:solidFill>
              </a:rPr>
              <a:t>число аргументов отличается от числа параметров</a:t>
            </a:r>
            <a:r>
              <a:rPr lang="ru-RU" b="1" dirty="0"/>
              <a:t>, то никакой ошибки не происходит. </a:t>
            </a:r>
          </a:p>
          <a:p>
            <a:pPr algn="just"/>
            <a:endParaRPr lang="ru-RU" b="1" dirty="0"/>
          </a:p>
          <a:p>
            <a:pPr algn="just"/>
            <a:r>
              <a:rPr lang="ru-RU" b="1" dirty="0"/>
              <a:t>В JavaScript подобная ситуация разрешается следующим образом:</a:t>
            </a:r>
          </a:p>
          <a:p>
            <a:pPr algn="just"/>
            <a:endParaRPr lang="ru-RU" b="1" dirty="0"/>
          </a:p>
          <a:p>
            <a:pPr marL="285750" indent="-285750" algn="just">
              <a:buFont typeface="Arial" panose="020B0604020202020204" pitchFamily="34" charset="0"/>
              <a:buChar char="•"/>
            </a:pPr>
            <a:r>
              <a:rPr lang="ru-RU" b="1" dirty="0"/>
              <a:t>Если при вызове функции ей передаётся больше аргументов, чем задано параметров, </a:t>
            </a:r>
            <a:r>
              <a:rPr lang="ru-RU" b="1" dirty="0">
                <a:solidFill>
                  <a:srgbClr val="C00000"/>
                </a:solidFill>
              </a:rPr>
              <a:t>"лишние" аргументы просто не присваиваются параметрам</a:t>
            </a:r>
            <a:r>
              <a:rPr lang="ru-RU" b="1" dirty="0"/>
              <a:t>. </a:t>
            </a:r>
          </a:p>
          <a:p>
            <a:pPr algn="just"/>
            <a:r>
              <a:rPr lang="ru-RU" b="1" dirty="0"/>
              <a:t>     Допустим, имеется следующее объявление функции:</a:t>
            </a:r>
          </a:p>
          <a:p>
            <a:pPr algn="just"/>
            <a:r>
              <a:rPr lang="ru-RU" b="1" dirty="0"/>
              <a:t>    	</a:t>
            </a:r>
          </a:p>
          <a:p>
            <a:pPr algn="just"/>
            <a:r>
              <a:rPr lang="ru-RU" b="1" dirty="0"/>
              <a:t>     function foo(a, b, c) { // ... }</a:t>
            </a:r>
          </a:p>
          <a:p>
            <a:pPr algn="just"/>
            <a:endParaRPr lang="ru-RU" b="1" dirty="0"/>
          </a:p>
          <a:p>
            <a:pPr algn="just"/>
            <a:r>
              <a:rPr lang="ru-RU" b="1" dirty="0"/>
              <a:t>     Если при её вызове указать foo(1, 2, 3, 4), то аргументы 1, 2 и 3 будут присвоены параметрам a, b и c     соответственно. В то же время аргумент 4 не будут присвоен ни одному из параметров данной функции.</a:t>
            </a:r>
          </a:p>
          <a:p>
            <a:pPr algn="just"/>
            <a:endParaRPr lang="ru-RU" b="1" dirty="0"/>
          </a:p>
          <a:p>
            <a:pPr marL="285750" indent="-285750" algn="just">
              <a:buFont typeface="Arial" panose="020B0604020202020204" pitchFamily="34" charset="0"/>
              <a:buChar char="•"/>
            </a:pPr>
            <a:r>
              <a:rPr lang="ru-RU" b="1" dirty="0"/>
              <a:t>Если функция имеет больше параметров, чем передано ей аргументов, то </a:t>
            </a:r>
            <a:r>
              <a:rPr lang="ru-RU" b="1" dirty="0">
                <a:solidFill>
                  <a:srgbClr val="C00000"/>
                </a:solidFill>
              </a:rPr>
              <a:t>параметрам без соответствующих аргументов присваивается значение undefined</a:t>
            </a:r>
            <a:r>
              <a:rPr lang="ru-RU" b="1" dirty="0"/>
              <a:t>.</a:t>
            </a:r>
          </a:p>
        </p:txBody>
      </p:sp>
    </p:spTree>
    <p:extLst>
      <p:ext uri="{BB962C8B-B14F-4D97-AF65-F5344CB8AC3E}">
        <p14:creationId xmlns:p14="http://schemas.microsoft.com/office/powerpoint/2010/main" val="3388646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Списки аргументов переменной длинны</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29</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4178A9E-EB39-20AB-8A08-B157AA2EE3E2}"/>
              </a:ext>
            </a:extLst>
          </p:cNvPr>
          <p:cNvSpPr/>
          <p:nvPr/>
        </p:nvSpPr>
        <p:spPr>
          <a:xfrm>
            <a:off x="152400" y="914400"/>
            <a:ext cx="11928701" cy="646331"/>
          </a:xfrm>
          <a:prstGeom prst="rect">
            <a:avLst/>
          </a:prstGeom>
        </p:spPr>
        <p:txBody>
          <a:bodyPr wrap="square">
            <a:spAutoFit/>
          </a:bodyPr>
          <a:lstStyle/>
          <a:p>
            <a:pPr algn="just"/>
            <a:r>
              <a:rPr lang="ru-RU" b="1" dirty="0"/>
              <a:t>Если число аргументов в вызове функции превышает число имен параметров, функция лишается возможности напрямую обращаться к </a:t>
            </a:r>
            <a:r>
              <a:rPr lang="ru-RU" b="1" dirty="0">
                <a:solidFill>
                  <a:srgbClr val="C00000"/>
                </a:solidFill>
              </a:rPr>
              <a:t>неименованным значениям</a:t>
            </a:r>
            <a:r>
              <a:rPr lang="ru-RU" b="1" dirty="0"/>
              <a:t>. Решение этой проблемы предоставляет объект </a:t>
            </a:r>
            <a:r>
              <a:rPr lang="ru-RU" b="1" dirty="0">
                <a:solidFill>
                  <a:srgbClr val="C00000"/>
                </a:solidFill>
              </a:rPr>
              <a:t>Arguments</a:t>
            </a:r>
            <a:r>
              <a:rPr lang="ru-RU" b="1" dirty="0"/>
              <a:t>. </a:t>
            </a:r>
          </a:p>
        </p:txBody>
      </p:sp>
      <p:sp>
        <p:nvSpPr>
          <p:cNvPr id="4" name="Прямоугольник 3">
            <a:extLst>
              <a:ext uri="{FF2B5EF4-FFF2-40B4-BE49-F238E27FC236}">
                <a16:creationId xmlns:a16="http://schemas.microsoft.com/office/drawing/2014/main" id="{294D979A-8199-2240-D15C-833E3A752C57}"/>
              </a:ext>
            </a:extLst>
          </p:cNvPr>
          <p:cNvSpPr/>
          <p:nvPr/>
        </p:nvSpPr>
        <p:spPr>
          <a:xfrm>
            <a:off x="147623" y="1752179"/>
            <a:ext cx="11832963" cy="923330"/>
          </a:xfrm>
          <a:prstGeom prst="rect">
            <a:avLst/>
          </a:prstGeom>
        </p:spPr>
        <p:txBody>
          <a:bodyPr wrap="square">
            <a:spAutoFit/>
          </a:bodyPr>
          <a:lstStyle/>
          <a:p>
            <a:pPr algn="just"/>
            <a:r>
              <a:rPr lang="ru-RU" b="1" dirty="0"/>
              <a:t>Все функции имеют два неявных параметра: </a:t>
            </a:r>
            <a:r>
              <a:rPr lang="ru-RU" b="1" dirty="0">
                <a:solidFill>
                  <a:srgbClr val="C00000"/>
                </a:solidFill>
              </a:rPr>
              <a:t>arguments</a:t>
            </a:r>
            <a:r>
              <a:rPr lang="ru-RU" b="1" dirty="0"/>
              <a:t> и </a:t>
            </a:r>
            <a:r>
              <a:rPr lang="ru-RU" b="1" dirty="0">
                <a:solidFill>
                  <a:srgbClr val="C00000"/>
                </a:solidFill>
              </a:rPr>
              <a:t>this</a:t>
            </a:r>
            <a:r>
              <a:rPr lang="ru-RU" b="1" dirty="0"/>
              <a:t>. Под словом неявный подразумевается, что эти параметры не перечисляются явно в объявлении функции. Эти параметры также </a:t>
            </a:r>
            <a:r>
              <a:rPr lang="ru-RU" b="1" dirty="0">
                <a:solidFill>
                  <a:srgbClr val="C00000"/>
                </a:solidFill>
              </a:rPr>
              <a:t>неявно инициализируются при вызове функции</a:t>
            </a:r>
            <a:r>
              <a:rPr lang="ru-RU" b="1" dirty="0"/>
              <a:t>.</a:t>
            </a:r>
          </a:p>
        </p:txBody>
      </p:sp>
      <p:sp>
        <p:nvSpPr>
          <p:cNvPr id="5" name="Прямоугольник 4">
            <a:extLst>
              <a:ext uri="{FF2B5EF4-FFF2-40B4-BE49-F238E27FC236}">
                <a16:creationId xmlns:a16="http://schemas.microsoft.com/office/drawing/2014/main" id="{31AE3198-4BA9-E2E0-4745-1159CBD4ED57}"/>
              </a:ext>
            </a:extLst>
          </p:cNvPr>
          <p:cNvSpPr/>
          <p:nvPr/>
        </p:nvSpPr>
        <p:spPr>
          <a:xfrm>
            <a:off x="8290095" y="2844718"/>
            <a:ext cx="3690490" cy="1477328"/>
          </a:xfrm>
          <a:prstGeom prst="rect">
            <a:avLst/>
          </a:prstGeom>
        </p:spPr>
        <p:txBody>
          <a:bodyPr wrap="square">
            <a:spAutoFit/>
          </a:bodyPr>
          <a:lstStyle/>
          <a:p>
            <a:pPr algn="just"/>
            <a:r>
              <a:rPr lang="ru-RU" b="1" dirty="0">
                <a:solidFill>
                  <a:srgbClr val="C00000"/>
                </a:solidFill>
              </a:rPr>
              <a:t>Объект Arguments </a:t>
            </a:r>
            <a:r>
              <a:rPr lang="ru-RU" b="1" dirty="0"/>
              <a:t>- это объект, подобный массиву, позволяющий извлекать переданные функции значения по их номерам, а не по именам</a:t>
            </a:r>
          </a:p>
        </p:txBody>
      </p:sp>
      <p:sp>
        <p:nvSpPr>
          <p:cNvPr id="6" name="Прямоугольник 5">
            <a:extLst>
              <a:ext uri="{FF2B5EF4-FFF2-40B4-BE49-F238E27FC236}">
                <a16:creationId xmlns:a16="http://schemas.microsoft.com/office/drawing/2014/main" id="{E711DA93-238C-9028-C4A9-0FAFB02B0CD7}"/>
              </a:ext>
            </a:extLst>
          </p:cNvPr>
          <p:cNvSpPr/>
          <p:nvPr/>
        </p:nvSpPr>
        <p:spPr>
          <a:xfrm>
            <a:off x="147623" y="2844718"/>
            <a:ext cx="7285963" cy="2585323"/>
          </a:xfrm>
          <a:prstGeom prst="rect">
            <a:avLst/>
          </a:prstGeom>
        </p:spPr>
        <p:txBody>
          <a:bodyPr wrap="square">
            <a:spAutoFit/>
          </a:bodyPr>
          <a:lstStyle/>
          <a:p>
            <a:r>
              <a:rPr lang="ru-RU" b="1" dirty="0"/>
              <a:t>function func(x, y, z) {</a:t>
            </a:r>
          </a:p>
          <a:p>
            <a:r>
              <a:rPr lang="ru-RU" b="1" dirty="0"/>
              <a:t>   // Сначала проверяется, правильное ли количество аргументов передано </a:t>
            </a:r>
          </a:p>
          <a:p>
            <a:r>
              <a:rPr lang="ru-RU" b="1" dirty="0"/>
              <a:t>   if (arguments.length != 3) {</a:t>
            </a:r>
          </a:p>
          <a:p>
            <a:r>
              <a:rPr lang="ru-RU" b="1" dirty="0"/>
              <a:t>	throw new Error("Функция func вызвана с " + arguments.length</a:t>
            </a:r>
          </a:p>
          <a:p>
            <a:r>
              <a:rPr lang="ru-RU" b="1" dirty="0"/>
              <a:t>		+ " аргументами, а требуется 3.");</a:t>
            </a:r>
          </a:p>
          <a:p>
            <a:r>
              <a:rPr lang="ru-RU" b="1" dirty="0"/>
              <a:t>   }	</a:t>
            </a:r>
          </a:p>
          <a:p>
            <a:r>
              <a:rPr lang="ru-RU" b="1" dirty="0"/>
              <a:t>	// А теперь сам код функции...</a:t>
            </a:r>
          </a:p>
          <a:p>
            <a:r>
              <a:rPr lang="ru-RU" b="1" dirty="0"/>
              <a:t>}</a:t>
            </a:r>
          </a:p>
        </p:txBody>
      </p:sp>
      <p:sp>
        <p:nvSpPr>
          <p:cNvPr id="8" name="Прямоугольник 7">
            <a:extLst>
              <a:ext uri="{FF2B5EF4-FFF2-40B4-BE49-F238E27FC236}">
                <a16:creationId xmlns:a16="http://schemas.microsoft.com/office/drawing/2014/main" id="{FE8D79B2-778B-FC24-9D72-F31EBA293AEF}"/>
              </a:ext>
            </a:extLst>
          </p:cNvPr>
          <p:cNvSpPr/>
          <p:nvPr/>
        </p:nvSpPr>
        <p:spPr>
          <a:xfrm>
            <a:off x="8290095" y="4491255"/>
            <a:ext cx="3755688" cy="1200329"/>
          </a:xfrm>
          <a:prstGeom prst="rect">
            <a:avLst/>
          </a:prstGeom>
        </p:spPr>
        <p:txBody>
          <a:bodyPr wrap="square">
            <a:spAutoFit/>
          </a:bodyPr>
          <a:lstStyle/>
          <a:p>
            <a:r>
              <a:rPr lang="ru-RU" b="1" i="1" dirty="0">
                <a:solidFill>
                  <a:srgbClr val="C00000"/>
                </a:solidFill>
                <a:latin typeface="Calibri" panose="020F0502020204030204" pitchFamily="34" charset="0"/>
                <a:ea typeface="Times New Roman" panose="02020603050405020304" pitchFamily="18" charset="0"/>
                <a:cs typeface="Times New Roman" panose="02020603050405020304" pitchFamily="18" charset="0"/>
              </a:rPr>
              <a:t>Функции с переменным числом аргументов</a:t>
            </a:r>
            <a:r>
              <a:rPr lang="en-US" b="1" i="1" dirty="0">
                <a:solidFill>
                  <a:srgbClr val="C00000"/>
                </a:solidFill>
                <a:latin typeface="Calibri" panose="020F0502020204030204" pitchFamily="34" charset="0"/>
                <a:ea typeface="Times New Roman" panose="02020603050405020304" pitchFamily="18" charset="0"/>
                <a:cs typeface="Times New Roman" panose="02020603050405020304" pitchFamily="18" charset="0"/>
              </a:rPr>
              <a:t> (variadic functions, variable arity functions </a:t>
            </a:r>
            <a:r>
              <a:rPr lang="ru-RU" b="1" i="1" dirty="0">
                <a:solidFill>
                  <a:srgbClr val="C00000"/>
                </a:solidFill>
                <a:latin typeface="Calibri" panose="020F0502020204030204" pitchFamily="34" charset="0"/>
                <a:ea typeface="Times New Roman" panose="02020603050405020304" pitchFamily="18" charset="0"/>
                <a:cs typeface="Times New Roman" panose="02020603050405020304" pitchFamily="18" charset="0"/>
              </a:rPr>
              <a:t>или</a:t>
            </a:r>
            <a:r>
              <a:rPr lang="en-US" b="1" i="1" dirty="0">
                <a:solidFill>
                  <a:srgbClr val="C00000"/>
                </a:solidFill>
                <a:latin typeface="Calibri" panose="020F0502020204030204" pitchFamily="34" charset="0"/>
                <a:ea typeface="Times New Roman" panose="02020603050405020304" pitchFamily="18" charset="0"/>
                <a:cs typeface="Times New Roman" panose="02020603050405020304" pitchFamily="18" charset="0"/>
              </a:rPr>
              <a:t> varargs functions)</a:t>
            </a:r>
            <a:endParaRPr lang="ru-RU" dirty="0">
              <a:solidFill>
                <a:srgbClr val="C00000"/>
              </a:solidFill>
            </a:endParaRPr>
          </a:p>
        </p:txBody>
      </p:sp>
    </p:spTree>
    <p:extLst>
      <p:ext uri="{BB962C8B-B14F-4D97-AF65-F5344CB8AC3E}">
        <p14:creationId xmlns:p14="http://schemas.microsoft.com/office/powerpoint/2010/main" val="1392303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Параметры по умолчанию</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30</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DC4633C-7D66-5EE0-94E3-5CA66456045C}"/>
              </a:ext>
            </a:extLst>
          </p:cNvPr>
          <p:cNvSpPr/>
          <p:nvPr/>
        </p:nvSpPr>
        <p:spPr>
          <a:xfrm>
            <a:off x="79263" y="811638"/>
            <a:ext cx="11790636" cy="646331"/>
          </a:xfrm>
          <a:prstGeom prst="rect">
            <a:avLst/>
          </a:prstGeom>
        </p:spPr>
        <p:txBody>
          <a:bodyPr wrap="square">
            <a:spAutoFit/>
          </a:bodyPr>
          <a:lstStyle/>
          <a:p>
            <a:pPr algn="just"/>
            <a:r>
              <a:rPr lang="ru-RU" b="1" dirty="0"/>
              <a:t>Параметры функции можно инициализировать </a:t>
            </a:r>
            <a:r>
              <a:rPr lang="ru-RU" b="1" dirty="0">
                <a:solidFill>
                  <a:srgbClr val="C00000"/>
                </a:solidFill>
              </a:rPr>
              <a:t>значениями по умолчанию</a:t>
            </a:r>
            <a:r>
              <a:rPr lang="ru-RU" b="1" dirty="0"/>
              <a:t>, которые будут использоваться в том случае, если параметры не были инициализированы аргументами при вызове функции.</a:t>
            </a:r>
          </a:p>
        </p:txBody>
      </p:sp>
      <p:sp>
        <p:nvSpPr>
          <p:cNvPr id="5" name="Прямоугольник 4">
            <a:extLst>
              <a:ext uri="{FF2B5EF4-FFF2-40B4-BE49-F238E27FC236}">
                <a16:creationId xmlns:a16="http://schemas.microsoft.com/office/drawing/2014/main" id="{2DD3CF96-E172-02E4-A8E2-7A5116EE04A2}"/>
              </a:ext>
            </a:extLst>
          </p:cNvPr>
          <p:cNvSpPr/>
          <p:nvPr/>
        </p:nvSpPr>
        <p:spPr>
          <a:xfrm>
            <a:off x="1505388" y="4874015"/>
            <a:ext cx="9181224" cy="646331"/>
          </a:xfrm>
          <a:prstGeom prst="rect">
            <a:avLst/>
          </a:prstGeom>
        </p:spPr>
        <p:txBody>
          <a:bodyPr wrap="square">
            <a:spAutoFit/>
          </a:bodyPr>
          <a:lstStyle/>
          <a:p>
            <a:r>
              <a:rPr lang="ru-RU" b="1" dirty="0">
                <a:solidFill>
                  <a:srgbClr val="C00000"/>
                </a:solidFill>
              </a:rPr>
              <a:t>Параметры создаются в момент вызова функции в том порядке, в котором они следуют в определении функции.</a:t>
            </a:r>
          </a:p>
        </p:txBody>
      </p:sp>
      <p:pic>
        <p:nvPicPr>
          <p:cNvPr id="6" name="Рисунок 5">
            <a:extLst>
              <a:ext uri="{FF2B5EF4-FFF2-40B4-BE49-F238E27FC236}">
                <a16:creationId xmlns:a16="http://schemas.microsoft.com/office/drawing/2014/main" id="{F3DEB011-D8E0-4D7B-BBF9-806D1532C3F6}"/>
              </a:ext>
            </a:extLst>
          </p:cNvPr>
          <p:cNvPicPr>
            <a:picLocks noChangeAspect="1"/>
          </p:cNvPicPr>
          <p:nvPr/>
        </p:nvPicPr>
        <p:blipFill>
          <a:blip r:embed="rId4"/>
          <a:stretch>
            <a:fillRect/>
          </a:stretch>
        </p:blipFill>
        <p:spPr>
          <a:xfrm>
            <a:off x="2138892" y="1556112"/>
            <a:ext cx="7671378" cy="3099443"/>
          </a:xfrm>
          <a:prstGeom prst="rect">
            <a:avLst/>
          </a:prstGeom>
        </p:spPr>
      </p:pic>
    </p:spTree>
    <p:extLst>
      <p:ext uri="{BB962C8B-B14F-4D97-AF65-F5344CB8AC3E}">
        <p14:creationId xmlns:p14="http://schemas.microsoft.com/office/powerpoint/2010/main" val="2503536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Параметры функций</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31</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B5055759-0EF8-FF32-AA21-8E5FDFCF0001}"/>
              </a:ext>
            </a:extLst>
          </p:cNvPr>
          <p:cNvSpPr/>
          <p:nvPr/>
        </p:nvSpPr>
        <p:spPr>
          <a:xfrm>
            <a:off x="152400" y="914400"/>
            <a:ext cx="7463589" cy="646331"/>
          </a:xfrm>
          <a:prstGeom prst="rect">
            <a:avLst/>
          </a:prstGeom>
        </p:spPr>
        <p:txBody>
          <a:bodyPr wrap="square">
            <a:spAutoFit/>
          </a:bodyPr>
          <a:lstStyle/>
          <a:p>
            <a:pPr algn="just"/>
            <a:r>
              <a:rPr lang="ru-RU" b="1" dirty="0"/>
              <a:t>Функции могут принимать параметрами данные. Для примера давайте сделаем функцию, которая параметром будет принимать число:</a:t>
            </a:r>
          </a:p>
        </p:txBody>
      </p:sp>
      <p:pic>
        <p:nvPicPr>
          <p:cNvPr id="8" name="Рисунок 7">
            <a:extLst>
              <a:ext uri="{FF2B5EF4-FFF2-40B4-BE49-F238E27FC236}">
                <a16:creationId xmlns:a16="http://schemas.microsoft.com/office/drawing/2014/main" id="{25C5A651-8FE6-416F-800F-EED3FDF2ABE7}"/>
              </a:ext>
            </a:extLst>
          </p:cNvPr>
          <p:cNvPicPr>
            <a:picLocks noChangeAspect="1"/>
          </p:cNvPicPr>
          <p:nvPr/>
        </p:nvPicPr>
        <p:blipFill>
          <a:blip r:embed="rId4"/>
          <a:stretch>
            <a:fillRect/>
          </a:stretch>
        </p:blipFill>
        <p:spPr>
          <a:xfrm>
            <a:off x="241472" y="1681605"/>
            <a:ext cx="2811484" cy="1025500"/>
          </a:xfrm>
          <a:prstGeom prst="rect">
            <a:avLst/>
          </a:prstGeom>
        </p:spPr>
      </p:pic>
      <p:pic>
        <p:nvPicPr>
          <p:cNvPr id="11" name="Рисунок 10">
            <a:extLst>
              <a:ext uri="{FF2B5EF4-FFF2-40B4-BE49-F238E27FC236}">
                <a16:creationId xmlns:a16="http://schemas.microsoft.com/office/drawing/2014/main" id="{3FF227C0-FFC6-47DD-9620-C72665329F37}"/>
              </a:ext>
            </a:extLst>
          </p:cNvPr>
          <p:cNvPicPr>
            <a:picLocks noChangeAspect="1"/>
          </p:cNvPicPr>
          <p:nvPr/>
        </p:nvPicPr>
        <p:blipFill>
          <a:blip r:embed="rId5"/>
          <a:stretch>
            <a:fillRect/>
          </a:stretch>
        </p:blipFill>
        <p:spPr>
          <a:xfrm>
            <a:off x="241472" y="2944344"/>
            <a:ext cx="5249008" cy="3362794"/>
          </a:xfrm>
          <a:prstGeom prst="rect">
            <a:avLst/>
          </a:prstGeom>
        </p:spPr>
      </p:pic>
      <p:sp>
        <p:nvSpPr>
          <p:cNvPr id="13" name="TextBox 12">
            <a:extLst>
              <a:ext uri="{FF2B5EF4-FFF2-40B4-BE49-F238E27FC236}">
                <a16:creationId xmlns:a16="http://schemas.microsoft.com/office/drawing/2014/main" id="{58C4D209-BCE9-4219-AE62-BFB8D0054EF8}"/>
              </a:ext>
            </a:extLst>
          </p:cNvPr>
          <p:cNvSpPr txBox="1"/>
          <p:nvPr/>
        </p:nvSpPr>
        <p:spPr>
          <a:xfrm>
            <a:off x="5975744" y="1794094"/>
            <a:ext cx="6216256" cy="646331"/>
          </a:xfrm>
          <a:prstGeom prst="rect">
            <a:avLst/>
          </a:prstGeom>
          <a:noFill/>
        </p:spPr>
        <p:txBody>
          <a:bodyPr wrap="square">
            <a:spAutoFit/>
          </a:bodyPr>
          <a:lstStyle/>
          <a:p>
            <a:r>
              <a:rPr lang="ru-RU" b="1" dirty="0"/>
              <a:t>Функция может принимать не один параметр, а несколько. В этом случае их нужно перечислить через запятую.</a:t>
            </a:r>
          </a:p>
        </p:txBody>
      </p:sp>
      <p:pic>
        <p:nvPicPr>
          <p:cNvPr id="14" name="Рисунок 13">
            <a:extLst>
              <a:ext uri="{FF2B5EF4-FFF2-40B4-BE49-F238E27FC236}">
                <a16:creationId xmlns:a16="http://schemas.microsoft.com/office/drawing/2014/main" id="{8720BC82-0980-47C7-8C66-031595F2655E}"/>
              </a:ext>
            </a:extLst>
          </p:cNvPr>
          <p:cNvPicPr>
            <a:picLocks noChangeAspect="1"/>
          </p:cNvPicPr>
          <p:nvPr/>
        </p:nvPicPr>
        <p:blipFill>
          <a:blip r:embed="rId6"/>
          <a:stretch>
            <a:fillRect/>
          </a:stretch>
        </p:blipFill>
        <p:spPr>
          <a:xfrm>
            <a:off x="6096000" y="2554245"/>
            <a:ext cx="5229955" cy="3000794"/>
          </a:xfrm>
          <a:prstGeom prst="rect">
            <a:avLst/>
          </a:prstGeom>
        </p:spPr>
      </p:pic>
    </p:spTree>
    <p:extLst>
      <p:ext uri="{BB962C8B-B14F-4D97-AF65-F5344CB8AC3E}">
        <p14:creationId xmlns:p14="http://schemas.microsoft.com/office/powerpoint/2010/main" val="20165069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Параметры-переменные и необязательные параметры функций</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32</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B5055759-0EF8-FF32-AA21-8E5FDFCF0001}"/>
              </a:ext>
            </a:extLst>
          </p:cNvPr>
          <p:cNvSpPr/>
          <p:nvPr/>
        </p:nvSpPr>
        <p:spPr>
          <a:xfrm>
            <a:off x="152400" y="914400"/>
            <a:ext cx="7463589" cy="369332"/>
          </a:xfrm>
          <a:prstGeom prst="rect">
            <a:avLst/>
          </a:prstGeom>
        </p:spPr>
        <p:txBody>
          <a:bodyPr wrap="square">
            <a:spAutoFit/>
          </a:bodyPr>
          <a:lstStyle/>
          <a:p>
            <a:pPr algn="just"/>
            <a:r>
              <a:rPr lang="ru-RU" b="1" dirty="0"/>
              <a:t>В параметры функции можно передавать переменные.</a:t>
            </a:r>
          </a:p>
        </p:txBody>
      </p:sp>
      <p:sp>
        <p:nvSpPr>
          <p:cNvPr id="13" name="TextBox 12">
            <a:extLst>
              <a:ext uri="{FF2B5EF4-FFF2-40B4-BE49-F238E27FC236}">
                <a16:creationId xmlns:a16="http://schemas.microsoft.com/office/drawing/2014/main" id="{58C4D209-BCE9-4219-AE62-BFB8D0054EF8}"/>
              </a:ext>
            </a:extLst>
          </p:cNvPr>
          <p:cNvSpPr txBox="1"/>
          <p:nvPr/>
        </p:nvSpPr>
        <p:spPr>
          <a:xfrm>
            <a:off x="5756536" y="1625652"/>
            <a:ext cx="6216256" cy="923330"/>
          </a:xfrm>
          <a:prstGeom prst="rect">
            <a:avLst/>
          </a:prstGeom>
          <a:noFill/>
        </p:spPr>
        <p:txBody>
          <a:bodyPr wrap="square">
            <a:spAutoFit/>
          </a:bodyPr>
          <a:lstStyle/>
          <a:p>
            <a:r>
              <a:rPr lang="ru-RU" b="1" dirty="0"/>
              <a:t>Параметры функций можно делать не обязательными. </a:t>
            </a:r>
          </a:p>
          <a:p>
            <a:r>
              <a:rPr lang="ru-RU" b="1" dirty="0"/>
              <a:t>Для этого параметрам нужно задать значения по умолчанию. </a:t>
            </a:r>
          </a:p>
        </p:txBody>
      </p:sp>
      <p:pic>
        <p:nvPicPr>
          <p:cNvPr id="5" name="Рисунок 4">
            <a:extLst>
              <a:ext uri="{FF2B5EF4-FFF2-40B4-BE49-F238E27FC236}">
                <a16:creationId xmlns:a16="http://schemas.microsoft.com/office/drawing/2014/main" id="{42CB5D39-42D4-4AE9-97D0-F72AA089AA57}"/>
              </a:ext>
            </a:extLst>
          </p:cNvPr>
          <p:cNvPicPr>
            <a:picLocks noChangeAspect="1"/>
          </p:cNvPicPr>
          <p:nvPr/>
        </p:nvPicPr>
        <p:blipFill>
          <a:blip r:embed="rId4"/>
          <a:stretch>
            <a:fillRect/>
          </a:stretch>
        </p:blipFill>
        <p:spPr>
          <a:xfrm>
            <a:off x="214895" y="1407223"/>
            <a:ext cx="5398637" cy="3248998"/>
          </a:xfrm>
          <a:prstGeom prst="rect">
            <a:avLst/>
          </a:prstGeom>
        </p:spPr>
      </p:pic>
      <p:pic>
        <p:nvPicPr>
          <p:cNvPr id="6" name="Рисунок 5">
            <a:extLst>
              <a:ext uri="{FF2B5EF4-FFF2-40B4-BE49-F238E27FC236}">
                <a16:creationId xmlns:a16="http://schemas.microsoft.com/office/drawing/2014/main" id="{27AB14B8-C484-46DB-B90F-1F615DA9ABB2}"/>
              </a:ext>
            </a:extLst>
          </p:cNvPr>
          <p:cNvPicPr>
            <a:picLocks noChangeAspect="1"/>
          </p:cNvPicPr>
          <p:nvPr/>
        </p:nvPicPr>
        <p:blipFill>
          <a:blip r:embed="rId5"/>
          <a:stretch>
            <a:fillRect/>
          </a:stretch>
        </p:blipFill>
        <p:spPr>
          <a:xfrm>
            <a:off x="5838858" y="2689914"/>
            <a:ext cx="5460906" cy="3617224"/>
          </a:xfrm>
          <a:prstGeom prst="rect">
            <a:avLst/>
          </a:prstGeom>
        </p:spPr>
      </p:pic>
    </p:spTree>
    <p:extLst>
      <p:ext uri="{BB962C8B-B14F-4D97-AF65-F5344CB8AC3E}">
        <p14:creationId xmlns:p14="http://schemas.microsoft.com/office/powerpoint/2010/main" val="1282106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en-US" sz="2400" b="1" dirty="0">
                <a:effectLst>
                  <a:outerShdw blurRad="38100" dist="38100" dir="2700000" algn="tl">
                    <a:srgbClr val="000000">
                      <a:alpha val="43137"/>
                    </a:srgbClr>
                  </a:outerShdw>
                </a:effectLst>
              </a:rPr>
              <a:t>Return </a:t>
            </a:r>
            <a:r>
              <a:rPr lang="ru-RU" sz="2400" b="1" dirty="0">
                <a:effectLst>
                  <a:outerShdw blurRad="38100" dist="38100" dir="2700000" algn="tl">
                    <a:srgbClr val="000000">
                      <a:alpha val="43137"/>
                    </a:srgbClr>
                  </a:outerShdw>
                </a:effectLst>
              </a:rPr>
              <a:t>в функциях</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33</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B5055759-0EF8-FF32-AA21-8E5FDFCF0001}"/>
              </a:ext>
            </a:extLst>
          </p:cNvPr>
          <p:cNvSpPr/>
          <p:nvPr/>
        </p:nvSpPr>
        <p:spPr>
          <a:xfrm>
            <a:off x="152400" y="782053"/>
            <a:ext cx="7463589" cy="1200329"/>
          </a:xfrm>
          <a:prstGeom prst="rect">
            <a:avLst/>
          </a:prstGeom>
        </p:spPr>
        <p:txBody>
          <a:bodyPr wrap="square">
            <a:spAutoFit/>
          </a:bodyPr>
          <a:lstStyle/>
          <a:p>
            <a:pPr algn="just"/>
            <a:r>
              <a:rPr lang="ru-RU" b="1" dirty="0"/>
              <a:t>В JavaScript существует специальная инструкция return, которая позволяет указать значение, которое возвращает функция. Под словом "возвращает" понимают то значение, которое запишется в переменную, если ей присвоить вызванную функцию.</a:t>
            </a:r>
          </a:p>
        </p:txBody>
      </p:sp>
      <p:sp>
        <p:nvSpPr>
          <p:cNvPr id="13" name="TextBox 12">
            <a:extLst>
              <a:ext uri="{FF2B5EF4-FFF2-40B4-BE49-F238E27FC236}">
                <a16:creationId xmlns:a16="http://schemas.microsoft.com/office/drawing/2014/main" id="{58C4D209-BCE9-4219-AE62-BFB8D0054EF8}"/>
              </a:ext>
            </a:extLst>
          </p:cNvPr>
          <p:cNvSpPr txBox="1"/>
          <p:nvPr/>
        </p:nvSpPr>
        <p:spPr>
          <a:xfrm>
            <a:off x="7784432" y="1520717"/>
            <a:ext cx="4636108" cy="923330"/>
          </a:xfrm>
          <a:prstGeom prst="rect">
            <a:avLst/>
          </a:prstGeom>
          <a:noFill/>
        </p:spPr>
        <p:txBody>
          <a:bodyPr wrap="square">
            <a:spAutoFit/>
          </a:bodyPr>
          <a:lstStyle/>
          <a:p>
            <a:r>
              <a:rPr lang="ru-RU" b="1" dirty="0"/>
              <a:t>После того, как выполнится инструкция return - функция закончит свою работу и никакой код дальше не выполнится.</a:t>
            </a:r>
          </a:p>
        </p:txBody>
      </p:sp>
      <p:pic>
        <p:nvPicPr>
          <p:cNvPr id="4" name="Рисунок 3">
            <a:extLst>
              <a:ext uri="{FF2B5EF4-FFF2-40B4-BE49-F238E27FC236}">
                <a16:creationId xmlns:a16="http://schemas.microsoft.com/office/drawing/2014/main" id="{DE46E231-5964-4F51-933E-727CA3154AA1}"/>
              </a:ext>
            </a:extLst>
          </p:cNvPr>
          <p:cNvPicPr>
            <a:picLocks noChangeAspect="1"/>
          </p:cNvPicPr>
          <p:nvPr/>
        </p:nvPicPr>
        <p:blipFill>
          <a:blip r:embed="rId4"/>
          <a:stretch>
            <a:fillRect/>
          </a:stretch>
        </p:blipFill>
        <p:spPr>
          <a:xfrm>
            <a:off x="199298" y="2083397"/>
            <a:ext cx="5687752" cy="3535349"/>
          </a:xfrm>
          <a:prstGeom prst="rect">
            <a:avLst/>
          </a:prstGeom>
        </p:spPr>
      </p:pic>
      <p:pic>
        <p:nvPicPr>
          <p:cNvPr id="11" name="Рисунок 10">
            <a:extLst>
              <a:ext uri="{FF2B5EF4-FFF2-40B4-BE49-F238E27FC236}">
                <a16:creationId xmlns:a16="http://schemas.microsoft.com/office/drawing/2014/main" id="{84956A99-B0E8-4FED-9893-FDF9E5A7B603}"/>
              </a:ext>
            </a:extLst>
          </p:cNvPr>
          <p:cNvPicPr>
            <a:picLocks noChangeAspect="1"/>
          </p:cNvPicPr>
          <p:nvPr/>
        </p:nvPicPr>
        <p:blipFill>
          <a:blip r:embed="rId5"/>
          <a:stretch>
            <a:fillRect/>
          </a:stretch>
        </p:blipFill>
        <p:spPr>
          <a:xfrm>
            <a:off x="7210453" y="2545062"/>
            <a:ext cx="4762339" cy="4144193"/>
          </a:xfrm>
          <a:prstGeom prst="rect">
            <a:avLst/>
          </a:prstGeom>
        </p:spPr>
      </p:pic>
    </p:spTree>
    <p:extLst>
      <p:ext uri="{BB962C8B-B14F-4D97-AF65-F5344CB8AC3E}">
        <p14:creationId xmlns:p14="http://schemas.microsoft.com/office/powerpoint/2010/main" val="2281420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Примеры</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34</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5" name="Рисунок 4">
            <a:extLst>
              <a:ext uri="{FF2B5EF4-FFF2-40B4-BE49-F238E27FC236}">
                <a16:creationId xmlns:a16="http://schemas.microsoft.com/office/drawing/2014/main" id="{881C3879-A5A4-4692-8909-D143E6090464}"/>
              </a:ext>
            </a:extLst>
          </p:cNvPr>
          <p:cNvPicPr>
            <a:picLocks noChangeAspect="1"/>
          </p:cNvPicPr>
          <p:nvPr/>
        </p:nvPicPr>
        <p:blipFill>
          <a:blip r:embed="rId4"/>
          <a:stretch>
            <a:fillRect/>
          </a:stretch>
        </p:blipFill>
        <p:spPr>
          <a:xfrm>
            <a:off x="141383" y="754510"/>
            <a:ext cx="3657162" cy="2674490"/>
          </a:xfrm>
          <a:prstGeom prst="rect">
            <a:avLst/>
          </a:prstGeom>
        </p:spPr>
      </p:pic>
      <p:pic>
        <p:nvPicPr>
          <p:cNvPr id="6" name="Рисунок 5">
            <a:extLst>
              <a:ext uri="{FF2B5EF4-FFF2-40B4-BE49-F238E27FC236}">
                <a16:creationId xmlns:a16="http://schemas.microsoft.com/office/drawing/2014/main" id="{547B6B34-452D-405B-A009-1E886131B5F3}"/>
              </a:ext>
            </a:extLst>
          </p:cNvPr>
          <p:cNvPicPr>
            <a:picLocks noChangeAspect="1"/>
          </p:cNvPicPr>
          <p:nvPr/>
        </p:nvPicPr>
        <p:blipFill>
          <a:blip r:embed="rId5"/>
          <a:stretch>
            <a:fillRect/>
          </a:stretch>
        </p:blipFill>
        <p:spPr>
          <a:xfrm>
            <a:off x="3924771" y="1670841"/>
            <a:ext cx="4067743" cy="3086869"/>
          </a:xfrm>
          <a:prstGeom prst="rect">
            <a:avLst/>
          </a:prstGeom>
        </p:spPr>
      </p:pic>
      <p:pic>
        <p:nvPicPr>
          <p:cNvPr id="8" name="Рисунок 7">
            <a:extLst>
              <a:ext uri="{FF2B5EF4-FFF2-40B4-BE49-F238E27FC236}">
                <a16:creationId xmlns:a16="http://schemas.microsoft.com/office/drawing/2014/main" id="{FD8011F2-639A-4133-BB8D-1DCA4612D9B6}"/>
              </a:ext>
            </a:extLst>
          </p:cNvPr>
          <p:cNvPicPr>
            <a:picLocks noChangeAspect="1"/>
          </p:cNvPicPr>
          <p:nvPr/>
        </p:nvPicPr>
        <p:blipFill>
          <a:blip r:embed="rId6"/>
          <a:stretch>
            <a:fillRect/>
          </a:stretch>
        </p:blipFill>
        <p:spPr>
          <a:xfrm>
            <a:off x="8118740" y="3773899"/>
            <a:ext cx="3938273" cy="2951399"/>
          </a:xfrm>
          <a:prstGeom prst="rect">
            <a:avLst/>
          </a:prstGeom>
        </p:spPr>
      </p:pic>
    </p:spTree>
    <p:extLst>
      <p:ext uri="{BB962C8B-B14F-4D97-AF65-F5344CB8AC3E}">
        <p14:creationId xmlns:p14="http://schemas.microsoft.com/office/powerpoint/2010/main" val="6027143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Доступ к внешним переменным</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35</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7EB20F8-8311-F592-FA72-C73A4C776414}"/>
              </a:ext>
            </a:extLst>
          </p:cNvPr>
          <p:cNvSpPr/>
          <p:nvPr/>
        </p:nvSpPr>
        <p:spPr>
          <a:xfrm>
            <a:off x="146035" y="838200"/>
            <a:ext cx="6687902" cy="1200329"/>
          </a:xfrm>
          <a:prstGeom prst="rect">
            <a:avLst/>
          </a:prstGeom>
        </p:spPr>
        <p:txBody>
          <a:bodyPr wrap="square">
            <a:spAutoFit/>
          </a:bodyPr>
          <a:lstStyle/>
          <a:p>
            <a:pPr algn="just"/>
            <a:r>
              <a:rPr lang="ru-RU" b="1" dirty="0"/>
              <a:t>Значение переменной не обязательно должно быть перед определением функции, главное, чтобы оно стояло перед ее вызовом. На самом деле это не совсем так. Наша функция даже до своего вызова знает значение переменной num:</a:t>
            </a:r>
          </a:p>
        </p:txBody>
      </p:sp>
      <p:pic>
        <p:nvPicPr>
          <p:cNvPr id="5" name="Рисунок 4">
            <a:extLst>
              <a:ext uri="{FF2B5EF4-FFF2-40B4-BE49-F238E27FC236}">
                <a16:creationId xmlns:a16="http://schemas.microsoft.com/office/drawing/2014/main" id="{998E45D2-ED21-41B3-814D-DC8E9F019228}"/>
              </a:ext>
            </a:extLst>
          </p:cNvPr>
          <p:cNvPicPr>
            <a:picLocks noChangeAspect="1"/>
          </p:cNvPicPr>
          <p:nvPr/>
        </p:nvPicPr>
        <p:blipFill>
          <a:blip r:embed="rId4"/>
          <a:stretch>
            <a:fillRect/>
          </a:stretch>
        </p:blipFill>
        <p:spPr>
          <a:xfrm>
            <a:off x="227877" y="2159597"/>
            <a:ext cx="5182323" cy="3067478"/>
          </a:xfrm>
          <a:prstGeom prst="rect">
            <a:avLst/>
          </a:prstGeom>
        </p:spPr>
      </p:pic>
      <p:pic>
        <p:nvPicPr>
          <p:cNvPr id="6" name="Рисунок 5">
            <a:extLst>
              <a:ext uri="{FF2B5EF4-FFF2-40B4-BE49-F238E27FC236}">
                <a16:creationId xmlns:a16="http://schemas.microsoft.com/office/drawing/2014/main" id="{E655AB9A-2498-41CD-9AF0-DB6F563FDEFF}"/>
              </a:ext>
            </a:extLst>
          </p:cNvPr>
          <p:cNvPicPr>
            <a:picLocks noChangeAspect="1"/>
          </p:cNvPicPr>
          <p:nvPr/>
        </p:nvPicPr>
        <p:blipFill>
          <a:blip r:embed="rId5"/>
          <a:stretch>
            <a:fillRect/>
          </a:stretch>
        </p:blipFill>
        <p:spPr>
          <a:xfrm>
            <a:off x="5562243" y="2195692"/>
            <a:ext cx="6410549" cy="4154985"/>
          </a:xfrm>
          <a:prstGeom prst="rect">
            <a:avLst/>
          </a:prstGeom>
        </p:spPr>
      </p:pic>
      <p:sp>
        <p:nvSpPr>
          <p:cNvPr id="11" name="TextBox 10">
            <a:extLst>
              <a:ext uri="{FF2B5EF4-FFF2-40B4-BE49-F238E27FC236}">
                <a16:creationId xmlns:a16="http://schemas.microsoft.com/office/drawing/2014/main" id="{274DC99B-2680-4DD5-8736-8D78073CBD14}"/>
              </a:ext>
            </a:extLst>
          </p:cNvPr>
          <p:cNvSpPr txBox="1"/>
          <p:nvPr/>
        </p:nvSpPr>
        <p:spPr>
          <a:xfrm>
            <a:off x="7440879" y="1115199"/>
            <a:ext cx="4605086" cy="923330"/>
          </a:xfrm>
          <a:prstGeom prst="rect">
            <a:avLst/>
          </a:prstGeom>
          <a:noFill/>
        </p:spPr>
        <p:txBody>
          <a:bodyPr wrap="square">
            <a:spAutoFit/>
          </a:bodyPr>
          <a:lstStyle/>
          <a:p>
            <a:r>
              <a:rPr lang="ru-RU" b="1" dirty="0"/>
              <a:t>на самом деле функция знает значения внешних переменных, даже не будучи вызванной.</a:t>
            </a:r>
          </a:p>
        </p:txBody>
      </p:sp>
    </p:spTree>
    <p:extLst>
      <p:ext uri="{BB962C8B-B14F-4D97-AF65-F5344CB8AC3E}">
        <p14:creationId xmlns:p14="http://schemas.microsoft.com/office/powerpoint/2010/main" val="1657545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Лексическое окружение функций</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36</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7EB20F8-8311-F592-FA72-C73A4C776414}"/>
              </a:ext>
            </a:extLst>
          </p:cNvPr>
          <p:cNvSpPr/>
          <p:nvPr/>
        </p:nvSpPr>
        <p:spPr>
          <a:xfrm>
            <a:off x="146035" y="822431"/>
            <a:ext cx="6687902" cy="1754326"/>
          </a:xfrm>
          <a:prstGeom prst="rect">
            <a:avLst/>
          </a:prstGeom>
        </p:spPr>
        <p:txBody>
          <a:bodyPr wrap="square">
            <a:spAutoFit/>
          </a:bodyPr>
          <a:lstStyle/>
          <a:p>
            <a:pPr algn="just"/>
            <a:r>
              <a:rPr lang="ru-RU" b="1" dirty="0"/>
              <a:t>Все внешние, доступные функции переменные, называются ее лексическим окружением (</a:t>
            </a:r>
            <a:r>
              <a:rPr lang="ru-RU" b="1" dirty="0" err="1"/>
              <a:t>LexicalEnvironment</a:t>
            </a:r>
            <a:r>
              <a:rPr lang="ru-RU" b="1" dirty="0"/>
              <a:t>).</a:t>
            </a:r>
          </a:p>
          <a:p>
            <a:pPr algn="just"/>
            <a:endParaRPr lang="ru-RU" b="1" dirty="0"/>
          </a:p>
          <a:p>
            <a:pPr algn="just"/>
            <a:r>
              <a:rPr lang="ru-RU" b="1" dirty="0"/>
              <a:t>В следующем примере функции доступны две переменные: num1 и num2, которые и являются лексическим окружением нашей функции:</a:t>
            </a:r>
          </a:p>
        </p:txBody>
      </p:sp>
      <p:sp>
        <p:nvSpPr>
          <p:cNvPr id="11" name="TextBox 10">
            <a:extLst>
              <a:ext uri="{FF2B5EF4-FFF2-40B4-BE49-F238E27FC236}">
                <a16:creationId xmlns:a16="http://schemas.microsoft.com/office/drawing/2014/main" id="{274DC99B-2680-4DD5-8736-8D78073CBD14}"/>
              </a:ext>
            </a:extLst>
          </p:cNvPr>
          <p:cNvSpPr txBox="1"/>
          <p:nvPr/>
        </p:nvSpPr>
        <p:spPr>
          <a:xfrm>
            <a:off x="6424863" y="2651953"/>
            <a:ext cx="5445035" cy="923330"/>
          </a:xfrm>
          <a:prstGeom prst="rect">
            <a:avLst/>
          </a:prstGeom>
          <a:noFill/>
        </p:spPr>
        <p:txBody>
          <a:bodyPr wrap="square">
            <a:spAutoFit/>
          </a:bodyPr>
          <a:lstStyle/>
          <a:p>
            <a:r>
              <a:rPr lang="ru-RU" b="1" dirty="0"/>
              <a:t>Значение любой переменной лексического окружения всегда равно текущему значению этой переменной:</a:t>
            </a:r>
          </a:p>
        </p:txBody>
      </p:sp>
      <p:pic>
        <p:nvPicPr>
          <p:cNvPr id="4" name="Рисунок 3">
            <a:extLst>
              <a:ext uri="{FF2B5EF4-FFF2-40B4-BE49-F238E27FC236}">
                <a16:creationId xmlns:a16="http://schemas.microsoft.com/office/drawing/2014/main" id="{520A7824-6FD3-4161-B5BE-168D9489DC59}"/>
              </a:ext>
            </a:extLst>
          </p:cNvPr>
          <p:cNvPicPr>
            <a:picLocks noChangeAspect="1"/>
          </p:cNvPicPr>
          <p:nvPr/>
        </p:nvPicPr>
        <p:blipFill>
          <a:blip r:embed="rId4"/>
          <a:stretch>
            <a:fillRect/>
          </a:stretch>
        </p:blipFill>
        <p:spPr>
          <a:xfrm>
            <a:off x="219209" y="2576757"/>
            <a:ext cx="5876792" cy="1860213"/>
          </a:xfrm>
          <a:prstGeom prst="rect">
            <a:avLst/>
          </a:prstGeom>
        </p:spPr>
      </p:pic>
      <p:sp>
        <p:nvSpPr>
          <p:cNvPr id="12" name="TextBox 11">
            <a:extLst>
              <a:ext uri="{FF2B5EF4-FFF2-40B4-BE49-F238E27FC236}">
                <a16:creationId xmlns:a16="http://schemas.microsoft.com/office/drawing/2014/main" id="{65B32C77-C3C3-453D-86F7-6586AD12FD46}"/>
              </a:ext>
            </a:extLst>
          </p:cNvPr>
          <p:cNvSpPr txBox="1"/>
          <p:nvPr/>
        </p:nvSpPr>
        <p:spPr>
          <a:xfrm>
            <a:off x="146035" y="4687851"/>
            <a:ext cx="6093994" cy="1477328"/>
          </a:xfrm>
          <a:prstGeom prst="rect">
            <a:avLst/>
          </a:prstGeom>
          <a:noFill/>
        </p:spPr>
        <p:txBody>
          <a:bodyPr wrap="square">
            <a:spAutoFit/>
          </a:bodyPr>
          <a:lstStyle/>
          <a:p>
            <a:r>
              <a:rPr lang="ru-RU" b="1" dirty="0"/>
              <a:t>Само лексическое окружение представляет собой некий внутренний объект JavaScript, привязанный к нашей функции.</a:t>
            </a:r>
          </a:p>
          <a:p>
            <a:endParaRPr lang="ru-RU" b="1" dirty="0"/>
          </a:p>
          <a:p>
            <a:r>
              <a:rPr lang="en-US" b="1" dirty="0"/>
              <a:t>{num1: 1, num2: 2}</a:t>
            </a:r>
            <a:endParaRPr lang="ru-RU" b="1" dirty="0"/>
          </a:p>
        </p:txBody>
      </p:sp>
      <p:pic>
        <p:nvPicPr>
          <p:cNvPr id="13" name="Рисунок 12">
            <a:extLst>
              <a:ext uri="{FF2B5EF4-FFF2-40B4-BE49-F238E27FC236}">
                <a16:creationId xmlns:a16="http://schemas.microsoft.com/office/drawing/2014/main" id="{A3C66F6A-AB81-4E8C-9ED3-5891C51DB550}"/>
              </a:ext>
            </a:extLst>
          </p:cNvPr>
          <p:cNvPicPr>
            <a:picLocks noChangeAspect="1"/>
          </p:cNvPicPr>
          <p:nvPr/>
        </p:nvPicPr>
        <p:blipFill>
          <a:blip r:embed="rId5"/>
          <a:stretch>
            <a:fillRect/>
          </a:stretch>
        </p:blipFill>
        <p:spPr>
          <a:xfrm>
            <a:off x="6192217" y="3867537"/>
            <a:ext cx="5899834" cy="2813478"/>
          </a:xfrm>
          <a:prstGeom prst="rect">
            <a:avLst/>
          </a:prstGeom>
        </p:spPr>
      </p:pic>
    </p:spTree>
    <p:extLst>
      <p:ext uri="{BB962C8B-B14F-4D97-AF65-F5344CB8AC3E}">
        <p14:creationId xmlns:p14="http://schemas.microsoft.com/office/powerpoint/2010/main" val="3511716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Замыкания в </a:t>
            </a:r>
            <a:r>
              <a:rPr lang="en-US" sz="2400" b="1" dirty="0">
                <a:effectLst>
                  <a:outerShdw blurRad="38100" dist="38100" dir="2700000" algn="tl">
                    <a:srgbClr val="000000">
                      <a:alpha val="43137"/>
                    </a:srgbClr>
                  </a:outerShdw>
                </a:effectLst>
              </a:rPr>
              <a:t>JavaScript</a:t>
            </a:r>
            <a:endParaRPr lang="ru-RU" sz="2400" b="1"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rPr>
              <a:t>37</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7EB20F8-8311-F592-FA72-C73A4C776414}"/>
              </a:ext>
            </a:extLst>
          </p:cNvPr>
          <p:cNvSpPr/>
          <p:nvPr/>
        </p:nvSpPr>
        <p:spPr>
          <a:xfrm>
            <a:off x="146034" y="822431"/>
            <a:ext cx="11464439" cy="1287532"/>
          </a:xfrm>
          <a:prstGeom prst="rect">
            <a:avLst/>
          </a:prstGeom>
        </p:spPr>
        <p:txBody>
          <a:bodyPr wrap="square">
            <a:spAutoFit/>
          </a:bodyPr>
          <a:lstStyle/>
          <a:p>
            <a:pPr algn="just">
              <a:lnSpc>
                <a:spcPct val="150000"/>
              </a:lnSpc>
            </a:pPr>
            <a:r>
              <a:rPr lang="ru-RU" b="1" dirty="0">
                <a:latin typeface="Arial" panose="020B0604020202020204" pitchFamily="34" charset="0"/>
              </a:rPr>
              <a:t>З</a:t>
            </a:r>
            <a:r>
              <a:rPr lang="ru-RU" b="1" dirty="0">
                <a:effectLst/>
                <a:latin typeface="Arial" panose="020B0604020202020204" pitchFamily="34" charset="0"/>
              </a:rPr>
              <a:t>амыкание</a:t>
            </a:r>
            <a:r>
              <a:rPr lang="ru-RU" b="1" i="0" dirty="0">
                <a:effectLst/>
                <a:latin typeface="Arial" panose="020B0604020202020204" pitchFamily="34" charset="0"/>
              </a:rPr>
              <a:t> (</a:t>
            </a:r>
            <a:r>
              <a:rPr lang="ru-RU" b="1" i="0" dirty="0" err="1">
                <a:effectLst/>
                <a:latin typeface="Arial" panose="020B0604020202020204" pitchFamily="34" charset="0"/>
              </a:rPr>
              <a:t>closure</a:t>
            </a:r>
            <a:r>
              <a:rPr lang="ru-RU" b="1" i="0" dirty="0">
                <a:effectLst/>
                <a:latin typeface="Arial" panose="020B0604020202020204" pitchFamily="34" charset="0"/>
              </a:rPr>
              <a:t>) - это функция вместе со всеми внешними переменными, которые ей доступны. Или, другими словами, замыкание - это функция вместе со своим лексическим окружением.</a:t>
            </a:r>
          </a:p>
        </p:txBody>
      </p:sp>
      <p:sp>
        <p:nvSpPr>
          <p:cNvPr id="14" name="TextBox 13">
            <a:extLst>
              <a:ext uri="{FF2B5EF4-FFF2-40B4-BE49-F238E27FC236}">
                <a16:creationId xmlns:a16="http://schemas.microsoft.com/office/drawing/2014/main" id="{119676C2-C3CE-4319-AB8E-8743EEF6A417}"/>
              </a:ext>
            </a:extLst>
          </p:cNvPr>
          <p:cNvSpPr txBox="1"/>
          <p:nvPr/>
        </p:nvSpPr>
        <p:spPr>
          <a:xfrm>
            <a:off x="7531768" y="2109963"/>
            <a:ext cx="4441024" cy="3365024"/>
          </a:xfrm>
          <a:prstGeom prst="rect">
            <a:avLst/>
          </a:prstGeom>
          <a:noFill/>
        </p:spPr>
        <p:txBody>
          <a:bodyPr wrap="square">
            <a:spAutoFit/>
          </a:bodyPr>
          <a:lstStyle/>
          <a:p>
            <a:pPr>
              <a:lnSpc>
                <a:spcPct val="150000"/>
              </a:lnSpc>
            </a:pPr>
            <a:r>
              <a:rPr lang="ru-RU" b="1" dirty="0">
                <a:latin typeface="Arial" panose="020B0604020202020204" pitchFamily="34" charset="0"/>
              </a:rPr>
              <a:t>В JavaScript чаще всего, говоря "замыкание функции", имеют ввиду не саму эту функцию, а именно ее внешние переменные. Если же какая-то функция получает переменную из своего лексического окружения, то говорят "переменная берется из замыкания".</a:t>
            </a:r>
          </a:p>
        </p:txBody>
      </p:sp>
      <p:pic>
        <p:nvPicPr>
          <p:cNvPr id="6" name="Рисунок 5">
            <a:extLst>
              <a:ext uri="{FF2B5EF4-FFF2-40B4-BE49-F238E27FC236}">
                <a16:creationId xmlns:a16="http://schemas.microsoft.com/office/drawing/2014/main" id="{B7607E7A-3E98-476E-81FC-7806F87F2BFE}"/>
              </a:ext>
            </a:extLst>
          </p:cNvPr>
          <p:cNvPicPr>
            <a:picLocks noChangeAspect="1"/>
          </p:cNvPicPr>
          <p:nvPr/>
        </p:nvPicPr>
        <p:blipFill>
          <a:blip r:embed="rId4"/>
          <a:stretch>
            <a:fillRect/>
          </a:stretch>
        </p:blipFill>
        <p:spPr>
          <a:xfrm>
            <a:off x="208824" y="2251357"/>
            <a:ext cx="5201376" cy="4382112"/>
          </a:xfrm>
          <a:prstGeom prst="rect">
            <a:avLst/>
          </a:prstGeom>
        </p:spPr>
      </p:pic>
    </p:spTree>
    <p:extLst>
      <p:ext uri="{BB962C8B-B14F-4D97-AF65-F5344CB8AC3E}">
        <p14:creationId xmlns:p14="http://schemas.microsoft.com/office/powerpoint/2010/main" val="1427878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Счетчики на замыканиях</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38</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7EB20F8-8311-F592-FA72-C73A4C776414}"/>
              </a:ext>
            </a:extLst>
          </p:cNvPr>
          <p:cNvSpPr/>
          <p:nvPr/>
        </p:nvSpPr>
        <p:spPr>
          <a:xfrm>
            <a:off x="4649855" y="610773"/>
            <a:ext cx="6290861" cy="1287532"/>
          </a:xfrm>
          <a:prstGeom prst="rect">
            <a:avLst/>
          </a:prstGeom>
        </p:spPr>
        <p:txBody>
          <a:bodyPr wrap="square">
            <a:spAutoFit/>
          </a:bodyPr>
          <a:lstStyle/>
          <a:p>
            <a:pPr algn="just">
              <a:lnSpc>
                <a:spcPct val="150000"/>
              </a:lnSpc>
            </a:pPr>
            <a:r>
              <a:rPr lang="ru-RU" b="1" dirty="0">
                <a:latin typeface="Arial" panose="020B0604020202020204" pitchFamily="34" charset="0"/>
              </a:rPr>
              <a:t>Перепишем рассмотренный нами код так, чтобы возвращаемая функция каждый раз увеличивала значение переменной num на единицу:</a:t>
            </a:r>
            <a:endParaRPr lang="ru-RU" b="1" i="0" dirty="0">
              <a:effectLst/>
              <a:latin typeface="Arial" panose="020B0604020202020204" pitchFamily="34" charset="0"/>
            </a:endParaRPr>
          </a:p>
        </p:txBody>
      </p:sp>
      <p:pic>
        <p:nvPicPr>
          <p:cNvPr id="4" name="Рисунок 3">
            <a:extLst>
              <a:ext uri="{FF2B5EF4-FFF2-40B4-BE49-F238E27FC236}">
                <a16:creationId xmlns:a16="http://schemas.microsoft.com/office/drawing/2014/main" id="{58F37FDD-A3BC-454F-89DC-888FB4ABC791}"/>
              </a:ext>
            </a:extLst>
          </p:cNvPr>
          <p:cNvPicPr>
            <a:picLocks noChangeAspect="1"/>
          </p:cNvPicPr>
          <p:nvPr/>
        </p:nvPicPr>
        <p:blipFill>
          <a:blip r:embed="rId4"/>
          <a:stretch>
            <a:fillRect/>
          </a:stretch>
        </p:blipFill>
        <p:spPr>
          <a:xfrm>
            <a:off x="108283" y="718809"/>
            <a:ext cx="4451685" cy="6027645"/>
          </a:xfrm>
          <a:prstGeom prst="rect">
            <a:avLst/>
          </a:prstGeom>
        </p:spPr>
      </p:pic>
      <p:pic>
        <p:nvPicPr>
          <p:cNvPr id="5" name="Рисунок 4">
            <a:extLst>
              <a:ext uri="{FF2B5EF4-FFF2-40B4-BE49-F238E27FC236}">
                <a16:creationId xmlns:a16="http://schemas.microsoft.com/office/drawing/2014/main" id="{495E1F22-DEDF-4608-BA3C-05E202A014AB}"/>
              </a:ext>
            </a:extLst>
          </p:cNvPr>
          <p:cNvPicPr>
            <a:picLocks noChangeAspect="1"/>
          </p:cNvPicPr>
          <p:nvPr/>
        </p:nvPicPr>
        <p:blipFill>
          <a:blip r:embed="rId5"/>
          <a:stretch>
            <a:fillRect/>
          </a:stretch>
        </p:blipFill>
        <p:spPr>
          <a:xfrm>
            <a:off x="6973366" y="2078553"/>
            <a:ext cx="4896533" cy="4667901"/>
          </a:xfrm>
          <a:prstGeom prst="rect">
            <a:avLst/>
          </a:prstGeom>
        </p:spPr>
      </p:pic>
    </p:spTree>
    <p:extLst>
      <p:ext uri="{BB962C8B-B14F-4D97-AF65-F5344CB8AC3E}">
        <p14:creationId xmlns:p14="http://schemas.microsoft.com/office/powerpoint/2010/main" val="589027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Локальная переменная счетчика</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39</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6" name="Рисунок 5">
            <a:extLst>
              <a:ext uri="{FF2B5EF4-FFF2-40B4-BE49-F238E27FC236}">
                <a16:creationId xmlns:a16="http://schemas.microsoft.com/office/drawing/2014/main" id="{28D3BE79-8832-4A81-BBA5-886F1868E289}"/>
              </a:ext>
            </a:extLst>
          </p:cNvPr>
          <p:cNvPicPr>
            <a:picLocks noChangeAspect="1"/>
          </p:cNvPicPr>
          <p:nvPr/>
        </p:nvPicPr>
        <p:blipFill>
          <a:blip r:embed="rId4"/>
          <a:stretch>
            <a:fillRect/>
          </a:stretch>
        </p:blipFill>
        <p:spPr>
          <a:xfrm>
            <a:off x="189771" y="916092"/>
            <a:ext cx="5220429" cy="4496427"/>
          </a:xfrm>
          <a:prstGeom prst="rect">
            <a:avLst/>
          </a:prstGeom>
        </p:spPr>
      </p:pic>
      <p:pic>
        <p:nvPicPr>
          <p:cNvPr id="8" name="Рисунок 7">
            <a:extLst>
              <a:ext uri="{FF2B5EF4-FFF2-40B4-BE49-F238E27FC236}">
                <a16:creationId xmlns:a16="http://schemas.microsoft.com/office/drawing/2014/main" id="{F0C5294D-7627-4AE9-BB48-99BF0D125DDD}"/>
              </a:ext>
            </a:extLst>
          </p:cNvPr>
          <p:cNvPicPr>
            <a:picLocks noChangeAspect="1"/>
          </p:cNvPicPr>
          <p:nvPr/>
        </p:nvPicPr>
        <p:blipFill>
          <a:blip r:embed="rId5"/>
          <a:stretch>
            <a:fillRect/>
          </a:stretch>
        </p:blipFill>
        <p:spPr>
          <a:xfrm>
            <a:off x="6096000" y="916091"/>
            <a:ext cx="5435356" cy="4496427"/>
          </a:xfrm>
          <a:prstGeom prst="rect">
            <a:avLst/>
          </a:prstGeom>
        </p:spPr>
      </p:pic>
      <p:sp>
        <p:nvSpPr>
          <p:cNvPr id="12" name="TextBox 11">
            <a:extLst>
              <a:ext uri="{FF2B5EF4-FFF2-40B4-BE49-F238E27FC236}">
                <a16:creationId xmlns:a16="http://schemas.microsoft.com/office/drawing/2014/main" id="{CC4F62A3-8638-443B-B32C-001B6C696468}"/>
              </a:ext>
            </a:extLst>
          </p:cNvPr>
          <p:cNvSpPr txBox="1"/>
          <p:nvPr/>
        </p:nvSpPr>
        <p:spPr>
          <a:xfrm>
            <a:off x="1855870" y="5647572"/>
            <a:ext cx="8094245" cy="707886"/>
          </a:xfrm>
          <a:prstGeom prst="rect">
            <a:avLst/>
          </a:prstGeom>
          <a:noFill/>
        </p:spPr>
        <p:txBody>
          <a:bodyPr wrap="square">
            <a:spAutoFit/>
          </a:bodyPr>
          <a:lstStyle/>
          <a:p>
            <a:r>
              <a:rPr lang="ru-RU" sz="2000" b="1" dirty="0"/>
              <a:t>Каждый вызов функции test таким образом: test()(), создает свою функцию со своим замыканием и сразу же вызывает эту функцию.</a:t>
            </a:r>
          </a:p>
        </p:txBody>
      </p:sp>
    </p:spTree>
    <p:extLst>
      <p:ext uri="{BB962C8B-B14F-4D97-AF65-F5344CB8AC3E}">
        <p14:creationId xmlns:p14="http://schemas.microsoft.com/office/powerpoint/2010/main" val="2372079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Примеры</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40</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5" name="Рисунок 4">
            <a:extLst>
              <a:ext uri="{FF2B5EF4-FFF2-40B4-BE49-F238E27FC236}">
                <a16:creationId xmlns:a16="http://schemas.microsoft.com/office/drawing/2014/main" id="{A40EE48E-E65C-47A8-BC55-CE4812A9C952}"/>
              </a:ext>
            </a:extLst>
          </p:cNvPr>
          <p:cNvPicPr>
            <a:picLocks noChangeAspect="1"/>
          </p:cNvPicPr>
          <p:nvPr/>
        </p:nvPicPr>
        <p:blipFill>
          <a:blip r:embed="rId4"/>
          <a:stretch>
            <a:fillRect/>
          </a:stretch>
        </p:blipFill>
        <p:spPr>
          <a:xfrm>
            <a:off x="131202" y="849595"/>
            <a:ext cx="5246914" cy="2638681"/>
          </a:xfrm>
          <a:prstGeom prst="rect">
            <a:avLst/>
          </a:prstGeom>
        </p:spPr>
      </p:pic>
      <p:pic>
        <p:nvPicPr>
          <p:cNvPr id="11" name="Рисунок 10">
            <a:extLst>
              <a:ext uri="{FF2B5EF4-FFF2-40B4-BE49-F238E27FC236}">
                <a16:creationId xmlns:a16="http://schemas.microsoft.com/office/drawing/2014/main" id="{72AFD3E3-2C15-4056-AD5E-05FE136AC69C}"/>
              </a:ext>
            </a:extLst>
          </p:cNvPr>
          <p:cNvPicPr>
            <a:picLocks noChangeAspect="1"/>
          </p:cNvPicPr>
          <p:nvPr/>
        </p:nvPicPr>
        <p:blipFill>
          <a:blip r:embed="rId5"/>
          <a:stretch>
            <a:fillRect/>
          </a:stretch>
        </p:blipFill>
        <p:spPr>
          <a:xfrm>
            <a:off x="7026351" y="849596"/>
            <a:ext cx="5034447" cy="5934365"/>
          </a:xfrm>
          <a:prstGeom prst="rect">
            <a:avLst/>
          </a:prstGeom>
        </p:spPr>
      </p:pic>
      <p:sp>
        <p:nvSpPr>
          <p:cNvPr id="14" name="TextBox 13">
            <a:extLst>
              <a:ext uri="{FF2B5EF4-FFF2-40B4-BE49-F238E27FC236}">
                <a16:creationId xmlns:a16="http://schemas.microsoft.com/office/drawing/2014/main" id="{C3D55391-C632-4A59-8801-714CBD0C1091}"/>
              </a:ext>
            </a:extLst>
          </p:cNvPr>
          <p:cNvSpPr txBox="1"/>
          <p:nvPr/>
        </p:nvSpPr>
        <p:spPr>
          <a:xfrm>
            <a:off x="627648" y="3816778"/>
            <a:ext cx="6093994" cy="923330"/>
          </a:xfrm>
          <a:prstGeom prst="rect">
            <a:avLst/>
          </a:prstGeom>
          <a:noFill/>
        </p:spPr>
        <p:txBody>
          <a:bodyPr wrap="square">
            <a:spAutoFit/>
          </a:bodyPr>
          <a:lstStyle/>
          <a:p>
            <a:r>
              <a:rPr lang="ru-RU" b="1" dirty="0"/>
              <a:t>Все возвращаемые функции будут изменять эту глобальную переменную и счетчики будут работать уже зависимо друг от друга:</a:t>
            </a:r>
          </a:p>
        </p:txBody>
      </p:sp>
    </p:spTree>
    <p:extLst>
      <p:ext uri="{BB962C8B-B14F-4D97-AF65-F5344CB8AC3E}">
        <p14:creationId xmlns:p14="http://schemas.microsoft.com/office/powerpoint/2010/main" val="2102433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Примеры</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41</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pic>
        <p:nvPicPr>
          <p:cNvPr id="3" name="Рисунок 2">
            <a:extLst>
              <a:ext uri="{FF2B5EF4-FFF2-40B4-BE49-F238E27FC236}">
                <a16:creationId xmlns:a16="http://schemas.microsoft.com/office/drawing/2014/main" id="{6359D2E5-8EF5-413E-B097-099F8296562E}"/>
              </a:ext>
            </a:extLst>
          </p:cNvPr>
          <p:cNvPicPr>
            <a:picLocks noChangeAspect="1"/>
          </p:cNvPicPr>
          <p:nvPr/>
        </p:nvPicPr>
        <p:blipFill>
          <a:blip r:embed="rId4"/>
          <a:stretch>
            <a:fillRect/>
          </a:stretch>
        </p:blipFill>
        <p:spPr>
          <a:xfrm>
            <a:off x="209798" y="764841"/>
            <a:ext cx="3724795" cy="3958814"/>
          </a:xfrm>
          <a:prstGeom prst="rect">
            <a:avLst/>
          </a:prstGeom>
        </p:spPr>
      </p:pic>
      <p:pic>
        <p:nvPicPr>
          <p:cNvPr id="4" name="Рисунок 3">
            <a:extLst>
              <a:ext uri="{FF2B5EF4-FFF2-40B4-BE49-F238E27FC236}">
                <a16:creationId xmlns:a16="http://schemas.microsoft.com/office/drawing/2014/main" id="{BFD1EAC7-5301-4204-91FE-39F21B02E0C7}"/>
              </a:ext>
            </a:extLst>
          </p:cNvPr>
          <p:cNvPicPr>
            <a:picLocks noChangeAspect="1"/>
          </p:cNvPicPr>
          <p:nvPr/>
        </p:nvPicPr>
        <p:blipFill>
          <a:blip r:embed="rId5"/>
          <a:stretch>
            <a:fillRect/>
          </a:stretch>
        </p:blipFill>
        <p:spPr>
          <a:xfrm>
            <a:off x="4017503" y="1779429"/>
            <a:ext cx="3566581" cy="3958814"/>
          </a:xfrm>
          <a:prstGeom prst="rect">
            <a:avLst/>
          </a:prstGeom>
        </p:spPr>
      </p:pic>
      <p:pic>
        <p:nvPicPr>
          <p:cNvPr id="5" name="Рисунок 4">
            <a:extLst>
              <a:ext uri="{FF2B5EF4-FFF2-40B4-BE49-F238E27FC236}">
                <a16:creationId xmlns:a16="http://schemas.microsoft.com/office/drawing/2014/main" id="{619334B8-117F-4C5D-9A9B-D54D4A9E6AB2}"/>
              </a:ext>
            </a:extLst>
          </p:cNvPr>
          <p:cNvPicPr>
            <a:picLocks noChangeAspect="1"/>
          </p:cNvPicPr>
          <p:nvPr/>
        </p:nvPicPr>
        <p:blipFill>
          <a:blip r:embed="rId6"/>
          <a:stretch>
            <a:fillRect/>
          </a:stretch>
        </p:blipFill>
        <p:spPr>
          <a:xfrm>
            <a:off x="7666994" y="1442204"/>
            <a:ext cx="4337167" cy="5259386"/>
          </a:xfrm>
          <a:prstGeom prst="rect">
            <a:avLst/>
          </a:prstGeom>
        </p:spPr>
      </p:pic>
    </p:spTree>
    <p:extLst>
      <p:ext uri="{BB962C8B-B14F-4D97-AF65-F5344CB8AC3E}">
        <p14:creationId xmlns:p14="http://schemas.microsoft.com/office/powerpoint/2010/main" val="1044204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Аргументы и параметры функций</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42</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16CA2B66-3E70-DD48-CFA3-D2B7505802E5}"/>
              </a:ext>
            </a:extLst>
          </p:cNvPr>
          <p:cNvSpPr/>
          <p:nvPr/>
        </p:nvSpPr>
        <p:spPr>
          <a:xfrm>
            <a:off x="182629" y="835736"/>
            <a:ext cx="11061761" cy="369332"/>
          </a:xfrm>
          <a:prstGeom prst="rect">
            <a:avLst/>
          </a:prstGeom>
        </p:spPr>
        <p:txBody>
          <a:bodyPr wrap="square">
            <a:spAutoFit/>
          </a:bodyPr>
          <a:lstStyle/>
          <a:p>
            <a:r>
              <a:rPr lang="ru-RU" b="1" dirty="0"/>
              <a:t>Параметры функции играют роль </a:t>
            </a:r>
            <a:r>
              <a:rPr lang="ru-RU" b="1" dirty="0">
                <a:solidFill>
                  <a:srgbClr val="C00000"/>
                </a:solidFill>
              </a:rPr>
              <a:t>локальных переменных </a:t>
            </a:r>
            <a:r>
              <a:rPr lang="ru-RU" b="1" dirty="0"/>
              <a:t>в теле функции. </a:t>
            </a:r>
          </a:p>
        </p:txBody>
      </p:sp>
      <p:sp>
        <p:nvSpPr>
          <p:cNvPr id="4" name="Прямоугольник 3">
            <a:extLst>
              <a:ext uri="{FF2B5EF4-FFF2-40B4-BE49-F238E27FC236}">
                <a16:creationId xmlns:a16="http://schemas.microsoft.com/office/drawing/2014/main" id="{8414B1B4-773A-29A5-0B83-5CCD5DD4FCD0}"/>
              </a:ext>
            </a:extLst>
          </p:cNvPr>
          <p:cNvSpPr/>
          <p:nvPr/>
        </p:nvSpPr>
        <p:spPr>
          <a:xfrm>
            <a:off x="1073035" y="1340506"/>
            <a:ext cx="10081344" cy="707886"/>
          </a:xfrm>
          <a:prstGeom prst="rect">
            <a:avLst/>
          </a:prstGeom>
        </p:spPr>
        <p:txBody>
          <a:bodyPr wrap="square">
            <a:spAutoFit/>
          </a:bodyPr>
          <a:lstStyle/>
          <a:p>
            <a:r>
              <a:rPr lang="ru-RU" sz="2000" b="1" dirty="0">
                <a:solidFill>
                  <a:srgbClr val="C00000"/>
                </a:solidFill>
              </a:rPr>
              <a:t>При указании параметров функции ключевое слово var или let использовать не нужно, JavaScript объявляет их в качестве локальных переменные автоматически.</a:t>
            </a:r>
          </a:p>
        </p:txBody>
      </p:sp>
      <p:sp>
        <p:nvSpPr>
          <p:cNvPr id="5" name="Прямоугольник 4">
            <a:extLst>
              <a:ext uri="{FF2B5EF4-FFF2-40B4-BE49-F238E27FC236}">
                <a16:creationId xmlns:a16="http://schemas.microsoft.com/office/drawing/2014/main" id="{98F0E9CE-861C-6E81-085B-2C9E61741184}"/>
              </a:ext>
            </a:extLst>
          </p:cNvPr>
          <p:cNvSpPr/>
          <p:nvPr/>
        </p:nvSpPr>
        <p:spPr>
          <a:xfrm>
            <a:off x="3202589" y="2271985"/>
            <a:ext cx="5822235" cy="369332"/>
          </a:xfrm>
          <a:prstGeom prst="rect">
            <a:avLst/>
          </a:prstGeom>
        </p:spPr>
        <p:txBody>
          <a:bodyPr wrap="none">
            <a:spAutoFit/>
          </a:bodyPr>
          <a:lstStyle/>
          <a:p>
            <a:pPr algn="just"/>
            <a:r>
              <a:rPr lang="en-US" b="1" dirty="0"/>
              <a:t>function foo(a, b, c) { ... }   // a, b, c – </a:t>
            </a:r>
            <a:r>
              <a:rPr lang="ru-RU" b="1" dirty="0"/>
              <a:t>параметры функции</a:t>
            </a:r>
          </a:p>
        </p:txBody>
      </p:sp>
      <p:sp>
        <p:nvSpPr>
          <p:cNvPr id="6" name="Прямоугольник 5">
            <a:extLst>
              <a:ext uri="{FF2B5EF4-FFF2-40B4-BE49-F238E27FC236}">
                <a16:creationId xmlns:a16="http://schemas.microsoft.com/office/drawing/2014/main" id="{BEAF37BE-D159-3AEB-7FE4-E8A50E587B06}"/>
              </a:ext>
            </a:extLst>
          </p:cNvPr>
          <p:cNvSpPr/>
          <p:nvPr/>
        </p:nvSpPr>
        <p:spPr>
          <a:xfrm>
            <a:off x="182629" y="2864910"/>
            <a:ext cx="11601834" cy="369332"/>
          </a:xfrm>
          <a:prstGeom prst="rect">
            <a:avLst/>
          </a:prstGeom>
        </p:spPr>
        <p:txBody>
          <a:bodyPr wrap="square">
            <a:spAutoFit/>
          </a:bodyPr>
          <a:lstStyle/>
          <a:p>
            <a:r>
              <a:rPr lang="ru-RU" b="1" dirty="0"/>
              <a:t>Значения, которые передаются при вызове функции называются </a:t>
            </a:r>
            <a:r>
              <a:rPr lang="ru-RU" b="1" dirty="0">
                <a:solidFill>
                  <a:srgbClr val="C00000"/>
                </a:solidFill>
              </a:rPr>
              <a:t>аргументами</a:t>
            </a:r>
            <a:r>
              <a:rPr lang="ru-RU" b="1" dirty="0"/>
              <a:t>. </a:t>
            </a:r>
          </a:p>
        </p:txBody>
      </p:sp>
      <p:sp>
        <p:nvSpPr>
          <p:cNvPr id="8" name="Прямоугольник 7">
            <a:extLst>
              <a:ext uri="{FF2B5EF4-FFF2-40B4-BE49-F238E27FC236}">
                <a16:creationId xmlns:a16="http://schemas.microsoft.com/office/drawing/2014/main" id="{9BC20E6E-2FC4-0CF2-B987-9D5A39825D95}"/>
              </a:ext>
            </a:extLst>
          </p:cNvPr>
          <p:cNvSpPr/>
          <p:nvPr/>
        </p:nvSpPr>
        <p:spPr>
          <a:xfrm>
            <a:off x="2423215" y="3562495"/>
            <a:ext cx="2610348" cy="1477328"/>
          </a:xfrm>
          <a:prstGeom prst="rect">
            <a:avLst/>
          </a:prstGeom>
        </p:spPr>
        <p:txBody>
          <a:bodyPr wrap="square">
            <a:spAutoFit/>
          </a:bodyPr>
          <a:lstStyle/>
          <a:p>
            <a:r>
              <a:rPr lang="ru-RU" b="1" dirty="0"/>
              <a:t>function foo(a, b) {</a:t>
            </a:r>
          </a:p>
          <a:p>
            <a:r>
              <a:rPr lang="ru-RU" b="1" dirty="0"/>
              <a:t>     var sum = a + b;</a:t>
            </a:r>
          </a:p>
          <a:p>
            <a:r>
              <a:rPr lang="ru-RU" b="1" dirty="0"/>
              <a:t>     console.log(sum);</a:t>
            </a:r>
          </a:p>
          <a:p>
            <a:r>
              <a:rPr lang="ru-RU" b="1" dirty="0"/>
              <a:t>}</a:t>
            </a:r>
          </a:p>
          <a:p>
            <a:r>
              <a:rPr lang="ru-RU" b="1" dirty="0"/>
              <a:t> foo(5, 7);   </a:t>
            </a:r>
          </a:p>
        </p:txBody>
      </p:sp>
      <p:cxnSp>
        <p:nvCxnSpPr>
          <p:cNvPr id="11" name="Прямая со стрелкой 10">
            <a:extLst>
              <a:ext uri="{FF2B5EF4-FFF2-40B4-BE49-F238E27FC236}">
                <a16:creationId xmlns:a16="http://schemas.microsoft.com/office/drawing/2014/main" id="{F5FD36A2-68A2-D581-339C-149AB354E33A}"/>
              </a:ext>
            </a:extLst>
          </p:cNvPr>
          <p:cNvCxnSpPr/>
          <p:nvPr/>
        </p:nvCxnSpPr>
        <p:spPr>
          <a:xfrm flipH="1" flipV="1">
            <a:off x="3202589" y="5039823"/>
            <a:ext cx="300770" cy="29651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Прямоугольник 11">
            <a:extLst>
              <a:ext uri="{FF2B5EF4-FFF2-40B4-BE49-F238E27FC236}">
                <a16:creationId xmlns:a16="http://schemas.microsoft.com/office/drawing/2014/main" id="{E40B043E-E4B2-631D-F8C3-AC9E8ECB4F83}"/>
              </a:ext>
            </a:extLst>
          </p:cNvPr>
          <p:cNvSpPr/>
          <p:nvPr/>
        </p:nvSpPr>
        <p:spPr>
          <a:xfrm>
            <a:off x="3545544" y="5202807"/>
            <a:ext cx="1273362" cy="369332"/>
          </a:xfrm>
          <a:prstGeom prst="rect">
            <a:avLst/>
          </a:prstGeom>
        </p:spPr>
        <p:txBody>
          <a:bodyPr wrap="none">
            <a:spAutoFit/>
          </a:bodyPr>
          <a:lstStyle/>
          <a:p>
            <a:r>
              <a:rPr lang="ru-RU" b="1" dirty="0"/>
              <a:t>аргументы</a:t>
            </a:r>
          </a:p>
        </p:txBody>
      </p:sp>
    </p:spTree>
    <p:extLst>
      <p:ext uri="{BB962C8B-B14F-4D97-AF65-F5344CB8AC3E}">
        <p14:creationId xmlns:p14="http://schemas.microsoft.com/office/powerpoint/2010/main" val="29078822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Аргументы и параметры функций</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43</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1F96C856-561C-B2A2-B073-0FD99E0A4C16}"/>
              </a:ext>
            </a:extLst>
          </p:cNvPr>
          <p:cNvSpPr/>
          <p:nvPr/>
        </p:nvSpPr>
        <p:spPr>
          <a:xfrm>
            <a:off x="286968" y="838200"/>
            <a:ext cx="11712062" cy="4247317"/>
          </a:xfrm>
          <a:prstGeom prst="rect">
            <a:avLst/>
          </a:prstGeom>
        </p:spPr>
        <p:txBody>
          <a:bodyPr wrap="square">
            <a:spAutoFit/>
          </a:bodyPr>
          <a:lstStyle/>
          <a:p>
            <a:pPr algn="just"/>
            <a:r>
              <a:rPr lang="ru-RU" b="1" dirty="0"/>
              <a:t>Если </a:t>
            </a:r>
            <a:r>
              <a:rPr lang="ru-RU" b="1" dirty="0">
                <a:solidFill>
                  <a:srgbClr val="C00000"/>
                </a:solidFill>
              </a:rPr>
              <a:t>число аргументов отличается от числа параметров</a:t>
            </a:r>
            <a:r>
              <a:rPr lang="ru-RU" b="1" dirty="0"/>
              <a:t>, то никакой ошибки не происходит. </a:t>
            </a:r>
          </a:p>
          <a:p>
            <a:pPr algn="just"/>
            <a:endParaRPr lang="ru-RU" b="1" dirty="0"/>
          </a:p>
          <a:p>
            <a:pPr algn="just"/>
            <a:r>
              <a:rPr lang="ru-RU" b="1" dirty="0"/>
              <a:t>В JavaScript подобная ситуация разрешается следующим образом:</a:t>
            </a:r>
          </a:p>
          <a:p>
            <a:pPr algn="just"/>
            <a:endParaRPr lang="ru-RU" b="1" dirty="0"/>
          </a:p>
          <a:p>
            <a:pPr marL="285750" indent="-285750" algn="just">
              <a:buFont typeface="Arial" panose="020B0604020202020204" pitchFamily="34" charset="0"/>
              <a:buChar char="•"/>
            </a:pPr>
            <a:r>
              <a:rPr lang="ru-RU" b="1" dirty="0"/>
              <a:t>Если при вызове функции ей передаётся больше аргументов, чем задано параметров, </a:t>
            </a:r>
            <a:r>
              <a:rPr lang="ru-RU" b="1" dirty="0">
                <a:solidFill>
                  <a:srgbClr val="C00000"/>
                </a:solidFill>
              </a:rPr>
              <a:t>"лишние" аргументы просто не присваиваются параметрам</a:t>
            </a:r>
            <a:r>
              <a:rPr lang="ru-RU" b="1" dirty="0"/>
              <a:t>. </a:t>
            </a:r>
          </a:p>
          <a:p>
            <a:pPr algn="just"/>
            <a:r>
              <a:rPr lang="ru-RU" b="1" dirty="0"/>
              <a:t>     Допустим, имеется следующее объявление функции:</a:t>
            </a:r>
          </a:p>
          <a:p>
            <a:pPr algn="just"/>
            <a:r>
              <a:rPr lang="ru-RU" b="1" dirty="0"/>
              <a:t>    	</a:t>
            </a:r>
          </a:p>
          <a:p>
            <a:pPr algn="just"/>
            <a:r>
              <a:rPr lang="ru-RU" b="1" dirty="0"/>
              <a:t>     function foo(a, b, c) { // ... }</a:t>
            </a:r>
          </a:p>
          <a:p>
            <a:pPr algn="just"/>
            <a:endParaRPr lang="ru-RU" b="1" dirty="0"/>
          </a:p>
          <a:p>
            <a:pPr algn="just"/>
            <a:r>
              <a:rPr lang="ru-RU" b="1" dirty="0"/>
              <a:t>     Если при её вызове указать foo(1, 2, 3, 4), то аргументы 1, 2 и 3 будут присвоены параметрам a, b и c     соответственно. В то же время аргумент 4 не будут присвоен ни одному из параметров данной функции.</a:t>
            </a:r>
          </a:p>
          <a:p>
            <a:pPr algn="just"/>
            <a:endParaRPr lang="ru-RU" b="1" dirty="0"/>
          </a:p>
          <a:p>
            <a:pPr marL="285750" indent="-285750" algn="just">
              <a:buFont typeface="Arial" panose="020B0604020202020204" pitchFamily="34" charset="0"/>
              <a:buChar char="•"/>
            </a:pPr>
            <a:r>
              <a:rPr lang="ru-RU" b="1" dirty="0"/>
              <a:t>Если функция имеет больше параметров, чем передано ей аргументов, то </a:t>
            </a:r>
            <a:r>
              <a:rPr lang="ru-RU" b="1" dirty="0">
                <a:solidFill>
                  <a:srgbClr val="C00000"/>
                </a:solidFill>
              </a:rPr>
              <a:t>параметрам без соответствующих аргументов присваивается значение undefined</a:t>
            </a:r>
            <a:r>
              <a:rPr lang="ru-RU" b="1" dirty="0"/>
              <a:t>.</a:t>
            </a:r>
          </a:p>
        </p:txBody>
      </p:sp>
    </p:spTree>
    <p:extLst>
      <p:ext uri="{BB962C8B-B14F-4D97-AF65-F5344CB8AC3E}">
        <p14:creationId xmlns:p14="http://schemas.microsoft.com/office/powerpoint/2010/main" val="247244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Вызов функции</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44</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B5055759-0EF8-FF32-AA21-8E5FDFCF0001}"/>
              </a:ext>
            </a:extLst>
          </p:cNvPr>
          <p:cNvSpPr/>
          <p:nvPr/>
        </p:nvSpPr>
        <p:spPr>
          <a:xfrm>
            <a:off x="152400" y="914400"/>
            <a:ext cx="11899930" cy="646331"/>
          </a:xfrm>
          <a:prstGeom prst="rect">
            <a:avLst/>
          </a:prstGeom>
        </p:spPr>
        <p:txBody>
          <a:bodyPr wrap="square">
            <a:spAutoFit/>
          </a:bodyPr>
          <a:lstStyle/>
          <a:p>
            <a:pPr algn="just"/>
            <a:r>
              <a:rPr lang="ru-RU" b="1" dirty="0"/>
              <a:t>Если функция является свойством объекта или элементом массива (т.е. методом) - тогда выражение вызова является </a:t>
            </a:r>
            <a:r>
              <a:rPr lang="ru-RU" b="1" dirty="0">
                <a:solidFill>
                  <a:srgbClr val="C00000"/>
                </a:solidFill>
              </a:rPr>
              <a:t>выражением вызова метода</a:t>
            </a:r>
            <a:r>
              <a:rPr lang="ru-RU" b="1" dirty="0"/>
              <a:t>.</a:t>
            </a:r>
          </a:p>
        </p:txBody>
      </p:sp>
      <p:sp>
        <p:nvSpPr>
          <p:cNvPr id="4" name="Прямоугольник 3">
            <a:extLst>
              <a:ext uri="{FF2B5EF4-FFF2-40B4-BE49-F238E27FC236}">
                <a16:creationId xmlns:a16="http://schemas.microsoft.com/office/drawing/2014/main" id="{2986A3D3-61A4-E0A6-3DC6-2AF54CAED1F5}"/>
              </a:ext>
            </a:extLst>
          </p:cNvPr>
          <p:cNvSpPr/>
          <p:nvPr/>
        </p:nvSpPr>
        <p:spPr>
          <a:xfrm>
            <a:off x="133132" y="1652779"/>
            <a:ext cx="11919197" cy="369332"/>
          </a:xfrm>
          <a:prstGeom prst="rect">
            <a:avLst/>
          </a:prstGeom>
        </p:spPr>
        <p:txBody>
          <a:bodyPr wrap="square">
            <a:spAutoFit/>
          </a:bodyPr>
          <a:lstStyle/>
          <a:p>
            <a:pPr algn="ctr"/>
            <a:r>
              <a:rPr lang="ru-RU" b="1">
                <a:solidFill>
                  <a:srgbClr val="C00000"/>
                </a:solidFill>
              </a:rPr>
              <a:t>Метод - это не что иное, как функция, которая хранится в виде свойства объекта. </a:t>
            </a:r>
          </a:p>
        </p:txBody>
      </p:sp>
      <p:sp>
        <p:nvSpPr>
          <p:cNvPr id="5" name="Прямоугольник 4">
            <a:extLst>
              <a:ext uri="{FF2B5EF4-FFF2-40B4-BE49-F238E27FC236}">
                <a16:creationId xmlns:a16="http://schemas.microsoft.com/office/drawing/2014/main" id="{A99E2653-4B63-46E9-7F0F-BD0263EB72D9}"/>
              </a:ext>
            </a:extLst>
          </p:cNvPr>
          <p:cNvSpPr/>
          <p:nvPr/>
        </p:nvSpPr>
        <p:spPr>
          <a:xfrm>
            <a:off x="304800" y="2025558"/>
            <a:ext cx="6096000" cy="3108543"/>
          </a:xfrm>
          <a:prstGeom prst="rect">
            <a:avLst/>
          </a:prstGeom>
        </p:spPr>
        <p:txBody>
          <a:bodyPr>
            <a:spAutoFit/>
          </a:bodyPr>
          <a:lstStyle/>
          <a:p>
            <a:r>
              <a:rPr lang="ru-RU" b="1" dirty="0"/>
              <a:t>// Определим простой объект и функцию</a:t>
            </a:r>
          </a:p>
          <a:p>
            <a:r>
              <a:rPr lang="en-US" b="1" dirty="0"/>
              <a:t>var obj = {};</a:t>
            </a:r>
          </a:p>
          <a:p>
            <a:endParaRPr lang="en-US" sz="800" b="1" dirty="0"/>
          </a:p>
          <a:p>
            <a:r>
              <a:rPr lang="en-US" b="1" dirty="0"/>
              <a:t>function func(a, b) { return a+b;}</a:t>
            </a:r>
          </a:p>
          <a:p>
            <a:endParaRPr lang="en-US" b="1" dirty="0"/>
          </a:p>
          <a:p>
            <a:r>
              <a:rPr lang="en-US" b="1" dirty="0"/>
              <a:t>// </a:t>
            </a:r>
            <a:r>
              <a:rPr lang="ru-RU" b="1" dirty="0"/>
              <a:t>Добавим в объект </a:t>
            </a:r>
            <a:r>
              <a:rPr lang="en-US" b="1" dirty="0"/>
              <a:t>obj </a:t>
            </a:r>
            <a:r>
              <a:rPr lang="ru-RU" b="1" dirty="0"/>
              <a:t>метод</a:t>
            </a:r>
          </a:p>
          <a:p>
            <a:r>
              <a:rPr lang="en-US" b="1" dirty="0" err="1"/>
              <a:t>obj.method</a:t>
            </a:r>
            <a:r>
              <a:rPr lang="en-US" b="1" dirty="0"/>
              <a:t> = func;</a:t>
            </a:r>
          </a:p>
          <a:p>
            <a:endParaRPr lang="en-US" b="1" dirty="0"/>
          </a:p>
          <a:p>
            <a:r>
              <a:rPr lang="en-US" b="1" dirty="0"/>
              <a:t>// </a:t>
            </a:r>
            <a:r>
              <a:rPr lang="ru-RU" b="1" dirty="0"/>
              <a:t>Теперь можно вызвать этот метод</a:t>
            </a:r>
          </a:p>
          <a:p>
            <a:r>
              <a:rPr lang="en-US" b="1" dirty="0"/>
              <a:t>var result = </a:t>
            </a:r>
            <a:r>
              <a:rPr lang="en-US" b="1" dirty="0" err="1"/>
              <a:t>obj.method</a:t>
            </a:r>
            <a:r>
              <a:rPr lang="en-US" b="1" dirty="0"/>
              <a:t>(4, 5);</a:t>
            </a:r>
          </a:p>
          <a:p>
            <a:endParaRPr lang="en-US" sz="800" b="1" dirty="0"/>
          </a:p>
          <a:p>
            <a:r>
              <a:rPr lang="en-US" b="1" dirty="0"/>
              <a:t>console.log(result);</a:t>
            </a:r>
            <a:endParaRPr lang="ru-RU" b="1" dirty="0"/>
          </a:p>
        </p:txBody>
      </p:sp>
      <p:sp>
        <p:nvSpPr>
          <p:cNvPr id="6" name="Прямоугольник 5">
            <a:extLst>
              <a:ext uri="{FF2B5EF4-FFF2-40B4-BE49-F238E27FC236}">
                <a16:creationId xmlns:a16="http://schemas.microsoft.com/office/drawing/2014/main" id="{5BC5284C-B4CD-B2C8-6FC7-9D4C2546E7E1}"/>
              </a:ext>
            </a:extLst>
          </p:cNvPr>
          <p:cNvSpPr/>
          <p:nvPr/>
        </p:nvSpPr>
        <p:spPr>
          <a:xfrm>
            <a:off x="5767434" y="2022111"/>
            <a:ext cx="6096000" cy="3416320"/>
          </a:xfrm>
          <a:prstGeom prst="rect">
            <a:avLst/>
          </a:prstGeom>
        </p:spPr>
        <p:txBody>
          <a:bodyPr>
            <a:spAutoFit/>
          </a:bodyPr>
          <a:lstStyle/>
          <a:p>
            <a:r>
              <a:rPr lang="ru-RU" b="1" dirty="0"/>
              <a:t>var obj = {</a:t>
            </a:r>
          </a:p>
          <a:p>
            <a:r>
              <a:rPr lang="ru-RU" b="1" dirty="0"/>
              <a:t>	x: 0, y: 0,</a:t>
            </a:r>
            <a:endParaRPr lang="en-US" b="1" dirty="0"/>
          </a:p>
          <a:p>
            <a:endParaRPr lang="ru-RU" b="1" dirty="0"/>
          </a:p>
          <a:p>
            <a:r>
              <a:rPr lang="ru-RU" b="1" dirty="0"/>
              <a:t>	// Метод</a:t>
            </a:r>
          </a:p>
          <a:p>
            <a:r>
              <a:rPr lang="ru-RU" b="1" dirty="0"/>
              <a:t>	add: function(a, b) {</a:t>
            </a:r>
            <a:r>
              <a:rPr lang="en-US" b="1" dirty="0"/>
              <a:t> </a:t>
            </a:r>
            <a:r>
              <a:rPr lang="ru-RU" b="1" dirty="0"/>
              <a:t>this.x = a; this.y = b;</a:t>
            </a:r>
            <a:r>
              <a:rPr lang="en-US" b="1" dirty="0"/>
              <a:t> </a:t>
            </a:r>
            <a:r>
              <a:rPr lang="ru-RU" b="1" dirty="0"/>
              <a:t>},</a:t>
            </a:r>
            <a:endParaRPr lang="en-US" b="1" dirty="0"/>
          </a:p>
          <a:p>
            <a:endParaRPr lang="ru-RU" b="1" dirty="0"/>
          </a:p>
          <a:p>
            <a:r>
              <a:rPr lang="ru-RU" b="1" dirty="0"/>
              <a:t>	// Еще один метод</a:t>
            </a:r>
          </a:p>
          <a:p>
            <a:r>
              <a:rPr lang="ru-RU" b="1" dirty="0"/>
              <a:t>	sum: function() {</a:t>
            </a:r>
            <a:r>
              <a:rPr lang="en-US" b="1" dirty="0"/>
              <a:t> </a:t>
            </a:r>
            <a:r>
              <a:rPr lang="ru-RU" b="1" dirty="0"/>
              <a:t>return this.x + this.y</a:t>
            </a:r>
            <a:r>
              <a:rPr lang="en-US" b="1" dirty="0"/>
              <a:t> </a:t>
            </a:r>
            <a:r>
              <a:rPr lang="ru-RU" b="1" dirty="0"/>
              <a:t>}</a:t>
            </a:r>
          </a:p>
          <a:p>
            <a:r>
              <a:rPr lang="ru-RU" b="1" dirty="0"/>
              <a:t>};</a:t>
            </a:r>
          </a:p>
          <a:p>
            <a:r>
              <a:rPr lang="ru-RU" b="1" dirty="0"/>
              <a:t>// Вызов методов</a:t>
            </a:r>
          </a:p>
          <a:p>
            <a:r>
              <a:rPr lang="ru-RU" b="1" dirty="0"/>
              <a:t>obj.add(15, 4);</a:t>
            </a:r>
          </a:p>
          <a:p>
            <a:r>
              <a:rPr lang="ru-RU" b="1" dirty="0"/>
              <a:t>console.log(obj.sum());    // 19</a:t>
            </a:r>
          </a:p>
        </p:txBody>
      </p:sp>
    </p:spTree>
    <p:extLst>
      <p:ext uri="{BB962C8B-B14F-4D97-AF65-F5344CB8AC3E}">
        <p14:creationId xmlns:p14="http://schemas.microsoft.com/office/powerpoint/2010/main" val="1554871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Списки аргументов переменной длинны</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45</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4178A9E-EB39-20AB-8A08-B157AA2EE3E2}"/>
              </a:ext>
            </a:extLst>
          </p:cNvPr>
          <p:cNvSpPr/>
          <p:nvPr/>
        </p:nvSpPr>
        <p:spPr>
          <a:xfrm>
            <a:off x="152400" y="914400"/>
            <a:ext cx="11928701" cy="646331"/>
          </a:xfrm>
          <a:prstGeom prst="rect">
            <a:avLst/>
          </a:prstGeom>
        </p:spPr>
        <p:txBody>
          <a:bodyPr wrap="square">
            <a:spAutoFit/>
          </a:bodyPr>
          <a:lstStyle/>
          <a:p>
            <a:pPr algn="just"/>
            <a:r>
              <a:rPr lang="ru-RU" b="1" dirty="0"/>
              <a:t>Если число аргументов в вызове функции превышает число имен параметров, функция лишается возможности напрямую обращаться к </a:t>
            </a:r>
            <a:r>
              <a:rPr lang="ru-RU" b="1" dirty="0">
                <a:solidFill>
                  <a:srgbClr val="C00000"/>
                </a:solidFill>
              </a:rPr>
              <a:t>неименованным значениям</a:t>
            </a:r>
            <a:r>
              <a:rPr lang="ru-RU" b="1" dirty="0"/>
              <a:t>. Решение этой проблемы предоставляет объект </a:t>
            </a:r>
            <a:r>
              <a:rPr lang="ru-RU" b="1" dirty="0">
                <a:solidFill>
                  <a:srgbClr val="C00000"/>
                </a:solidFill>
              </a:rPr>
              <a:t>Arguments</a:t>
            </a:r>
            <a:r>
              <a:rPr lang="ru-RU" b="1" dirty="0"/>
              <a:t>. </a:t>
            </a:r>
          </a:p>
        </p:txBody>
      </p:sp>
      <p:sp>
        <p:nvSpPr>
          <p:cNvPr id="4" name="Прямоугольник 3">
            <a:extLst>
              <a:ext uri="{FF2B5EF4-FFF2-40B4-BE49-F238E27FC236}">
                <a16:creationId xmlns:a16="http://schemas.microsoft.com/office/drawing/2014/main" id="{294D979A-8199-2240-D15C-833E3A752C57}"/>
              </a:ext>
            </a:extLst>
          </p:cNvPr>
          <p:cNvSpPr/>
          <p:nvPr/>
        </p:nvSpPr>
        <p:spPr>
          <a:xfrm>
            <a:off x="147623" y="1752179"/>
            <a:ext cx="11832963" cy="923330"/>
          </a:xfrm>
          <a:prstGeom prst="rect">
            <a:avLst/>
          </a:prstGeom>
        </p:spPr>
        <p:txBody>
          <a:bodyPr wrap="square">
            <a:spAutoFit/>
          </a:bodyPr>
          <a:lstStyle/>
          <a:p>
            <a:pPr algn="just"/>
            <a:r>
              <a:rPr lang="ru-RU" b="1" dirty="0"/>
              <a:t>Все функции имеют два неявных параметра: </a:t>
            </a:r>
            <a:r>
              <a:rPr lang="ru-RU" b="1" dirty="0">
                <a:solidFill>
                  <a:srgbClr val="C00000"/>
                </a:solidFill>
              </a:rPr>
              <a:t>arguments</a:t>
            </a:r>
            <a:r>
              <a:rPr lang="ru-RU" b="1" dirty="0"/>
              <a:t> и </a:t>
            </a:r>
            <a:r>
              <a:rPr lang="ru-RU" b="1" dirty="0">
                <a:solidFill>
                  <a:srgbClr val="C00000"/>
                </a:solidFill>
              </a:rPr>
              <a:t>this</a:t>
            </a:r>
            <a:r>
              <a:rPr lang="ru-RU" b="1" dirty="0"/>
              <a:t>. Под словом неявный подразумевается, что эти параметры не перечисляются явно в объявлении функции. Эти параметры также </a:t>
            </a:r>
            <a:r>
              <a:rPr lang="ru-RU" b="1" dirty="0">
                <a:solidFill>
                  <a:srgbClr val="C00000"/>
                </a:solidFill>
              </a:rPr>
              <a:t>неявно инициализируются при вызове функции</a:t>
            </a:r>
            <a:r>
              <a:rPr lang="ru-RU" b="1" dirty="0"/>
              <a:t>.</a:t>
            </a:r>
          </a:p>
        </p:txBody>
      </p:sp>
      <p:sp>
        <p:nvSpPr>
          <p:cNvPr id="5" name="Прямоугольник 4">
            <a:extLst>
              <a:ext uri="{FF2B5EF4-FFF2-40B4-BE49-F238E27FC236}">
                <a16:creationId xmlns:a16="http://schemas.microsoft.com/office/drawing/2014/main" id="{31AE3198-4BA9-E2E0-4745-1159CBD4ED57}"/>
              </a:ext>
            </a:extLst>
          </p:cNvPr>
          <p:cNvSpPr/>
          <p:nvPr/>
        </p:nvSpPr>
        <p:spPr>
          <a:xfrm>
            <a:off x="8290095" y="2844718"/>
            <a:ext cx="3690490" cy="1477328"/>
          </a:xfrm>
          <a:prstGeom prst="rect">
            <a:avLst/>
          </a:prstGeom>
        </p:spPr>
        <p:txBody>
          <a:bodyPr wrap="square">
            <a:spAutoFit/>
          </a:bodyPr>
          <a:lstStyle/>
          <a:p>
            <a:pPr algn="just"/>
            <a:r>
              <a:rPr lang="ru-RU" b="1" dirty="0">
                <a:solidFill>
                  <a:srgbClr val="C00000"/>
                </a:solidFill>
              </a:rPr>
              <a:t>Объект Arguments </a:t>
            </a:r>
            <a:r>
              <a:rPr lang="ru-RU" b="1" dirty="0"/>
              <a:t>- это объект, подобный массиву, позволяющий извлекать переданные функции значения по их номерам, а не по именам</a:t>
            </a:r>
          </a:p>
        </p:txBody>
      </p:sp>
      <p:sp>
        <p:nvSpPr>
          <p:cNvPr id="6" name="Прямоугольник 5">
            <a:extLst>
              <a:ext uri="{FF2B5EF4-FFF2-40B4-BE49-F238E27FC236}">
                <a16:creationId xmlns:a16="http://schemas.microsoft.com/office/drawing/2014/main" id="{E711DA93-238C-9028-C4A9-0FAFB02B0CD7}"/>
              </a:ext>
            </a:extLst>
          </p:cNvPr>
          <p:cNvSpPr/>
          <p:nvPr/>
        </p:nvSpPr>
        <p:spPr>
          <a:xfrm>
            <a:off x="147623" y="2844718"/>
            <a:ext cx="7285963" cy="2585323"/>
          </a:xfrm>
          <a:prstGeom prst="rect">
            <a:avLst/>
          </a:prstGeom>
        </p:spPr>
        <p:txBody>
          <a:bodyPr wrap="square">
            <a:spAutoFit/>
          </a:bodyPr>
          <a:lstStyle/>
          <a:p>
            <a:r>
              <a:rPr lang="ru-RU" b="1" dirty="0"/>
              <a:t>function func(x, y, z) {</a:t>
            </a:r>
          </a:p>
          <a:p>
            <a:r>
              <a:rPr lang="ru-RU" b="1" dirty="0"/>
              <a:t>   // Сначала проверяется, правильное ли количество аргументов передано </a:t>
            </a:r>
          </a:p>
          <a:p>
            <a:r>
              <a:rPr lang="ru-RU" b="1" dirty="0"/>
              <a:t>   if (arguments.length != 3) {</a:t>
            </a:r>
          </a:p>
          <a:p>
            <a:r>
              <a:rPr lang="ru-RU" b="1" dirty="0"/>
              <a:t>	throw new Error("Функция func вызвана с " + arguments.length</a:t>
            </a:r>
          </a:p>
          <a:p>
            <a:r>
              <a:rPr lang="ru-RU" b="1" dirty="0"/>
              <a:t>		+ " аргументами, а требуется 3.");</a:t>
            </a:r>
          </a:p>
          <a:p>
            <a:r>
              <a:rPr lang="ru-RU" b="1" dirty="0"/>
              <a:t>   }	</a:t>
            </a:r>
          </a:p>
          <a:p>
            <a:r>
              <a:rPr lang="ru-RU" b="1" dirty="0"/>
              <a:t>	// А теперь сам код функции...</a:t>
            </a:r>
          </a:p>
          <a:p>
            <a:r>
              <a:rPr lang="ru-RU" b="1" dirty="0"/>
              <a:t>}</a:t>
            </a:r>
          </a:p>
        </p:txBody>
      </p:sp>
      <p:sp>
        <p:nvSpPr>
          <p:cNvPr id="8" name="Прямоугольник 7">
            <a:extLst>
              <a:ext uri="{FF2B5EF4-FFF2-40B4-BE49-F238E27FC236}">
                <a16:creationId xmlns:a16="http://schemas.microsoft.com/office/drawing/2014/main" id="{FE8D79B2-778B-FC24-9D72-F31EBA293AEF}"/>
              </a:ext>
            </a:extLst>
          </p:cNvPr>
          <p:cNvSpPr/>
          <p:nvPr/>
        </p:nvSpPr>
        <p:spPr>
          <a:xfrm>
            <a:off x="8290095" y="4491255"/>
            <a:ext cx="3755688" cy="1200329"/>
          </a:xfrm>
          <a:prstGeom prst="rect">
            <a:avLst/>
          </a:prstGeom>
        </p:spPr>
        <p:txBody>
          <a:bodyPr wrap="square">
            <a:spAutoFit/>
          </a:bodyPr>
          <a:lstStyle/>
          <a:p>
            <a:r>
              <a:rPr lang="ru-RU" b="1" i="1" dirty="0">
                <a:solidFill>
                  <a:srgbClr val="C00000"/>
                </a:solidFill>
                <a:latin typeface="Calibri" panose="020F0502020204030204" pitchFamily="34" charset="0"/>
                <a:ea typeface="Times New Roman" panose="02020603050405020304" pitchFamily="18" charset="0"/>
                <a:cs typeface="Times New Roman" panose="02020603050405020304" pitchFamily="18" charset="0"/>
              </a:rPr>
              <a:t>Функции с переменным числом аргументов</a:t>
            </a:r>
            <a:r>
              <a:rPr lang="en-US" b="1" i="1" dirty="0">
                <a:solidFill>
                  <a:srgbClr val="C00000"/>
                </a:solidFill>
                <a:latin typeface="Calibri" panose="020F0502020204030204" pitchFamily="34" charset="0"/>
                <a:ea typeface="Times New Roman" panose="02020603050405020304" pitchFamily="18" charset="0"/>
                <a:cs typeface="Times New Roman" panose="02020603050405020304" pitchFamily="18" charset="0"/>
              </a:rPr>
              <a:t> (variadic functions, variable arity functions </a:t>
            </a:r>
            <a:r>
              <a:rPr lang="ru-RU" b="1" i="1" dirty="0">
                <a:solidFill>
                  <a:srgbClr val="C00000"/>
                </a:solidFill>
                <a:latin typeface="Calibri" panose="020F0502020204030204" pitchFamily="34" charset="0"/>
                <a:ea typeface="Times New Roman" panose="02020603050405020304" pitchFamily="18" charset="0"/>
                <a:cs typeface="Times New Roman" panose="02020603050405020304" pitchFamily="18" charset="0"/>
              </a:rPr>
              <a:t>или</a:t>
            </a:r>
            <a:r>
              <a:rPr lang="en-US" b="1" i="1" dirty="0">
                <a:solidFill>
                  <a:srgbClr val="C00000"/>
                </a:solidFill>
                <a:latin typeface="Calibri" panose="020F0502020204030204" pitchFamily="34" charset="0"/>
                <a:ea typeface="Times New Roman" panose="02020603050405020304" pitchFamily="18" charset="0"/>
                <a:cs typeface="Times New Roman" panose="02020603050405020304" pitchFamily="18" charset="0"/>
              </a:rPr>
              <a:t> varargs functions)</a:t>
            </a:r>
            <a:endParaRPr lang="ru-RU" dirty="0">
              <a:solidFill>
                <a:srgbClr val="C00000"/>
              </a:solidFill>
            </a:endParaRPr>
          </a:p>
        </p:txBody>
      </p:sp>
    </p:spTree>
    <p:extLst>
      <p:ext uri="{BB962C8B-B14F-4D97-AF65-F5344CB8AC3E}">
        <p14:creationId xmlns:p14="http://schemas.microsoft.com/office/powerpoint/2010/main" val="7600782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Деструктуризация параметров функции</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46</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3F152DF2-7056-099D-A9B5-5638533F7D89}"/>
              </a:ext>
            </a:extLst>
          </p:cNvPr>
          <p:cNvSpPr/>
          <p:nvPr/>
        </p:nvSpPr>
        <p:spPr>
          <a:xfrm>
            <a:off x="180114" y="835736"/>
            <a:ext cx="11689785" cy="369332"/>
          </a:xfrm>
          <a:prstGeom prst="rect">
            <a:avLst/>
          </a:prstGeom>
        </p:spPr>
        <p:txBody>
          <a:bodyPr wrap="square">
            <a:spAutoFit/>
          </a:bodyPr>
          <a:lstStyle/>
          <a:p>
            <a:r>
              <a:rPr lang="ru-RU" b="1" dirty="0">
                <a:solidFill>
                  <a:srgbClr val="C00000"/>
                </a:solidFill>
              </a:rPr>
              <a:t>Деструктуризация</a:t>
            </a:r>
            <a:r>
              <a:rPr lang="ru-RU" b="1" dirty="0"/>
              <a:t>  - если функция получает объект, то она может его тут же разбить в переменные.</a:t>
            </a:r>
          </a:p>
        </p:txBody>
      </p:sp>
      <p:sp>
        <p:nvSpPr>
          <p:cNvPr id="4" name="Прямоугольник 3">
            <a:extLst>
              <a:ext uri="{FF2B5EF4-FFF2-40B4-BE49-F238E27FC236}">
                <a16:creationId xmlns:a16="http://schemas.microsoft.com/office/drawing/2014/main" id="{49DE0DD9-110F-8C54-BF38-3799FBBEC1BC}"/>
              </a:ext>
            </a:extLst>
          </p:cNvPr>
          <p:cNvSpPr/>
          <p:nvPr/>
        </p:nvSpPr>
        <p:spPr>
          <a:xfrm>
            <a:off x="185123" y="1396516"/>
            <a:ext cx="6096000" cy="3139321"/>
          </a:xfrm>
          <a:prstGeom prst="rect">
            <a:avLst/>
          </a:prstGeom>
        </p:spPr>
        <p:txBody>
          <a:bodyPr>
            <a:spAutoFit/>
          </a:bodyPr>
          <a:lstStyle/>
          <a:p>
            <a:r>
              <a:rPr lang="ru-RU" b="1" dirty="0"/>
              <a:t>let options = {</a:t>
            </a:r>
          </a:p>
          <a:p>
            <a:r>
              <a:rPr lang="ru-RU" b="1" dirty="0"/>
              <a:t>	title: "Меню",</a:t>
            </a:r>
          </a:p>
          <a:p>
            <a:r>
              <a:rPr lang="ru-RU" b="1" dirty="0"/>
              <a:t>	width: 100,</a:t>
            </a:r>
          </a:p>
          <a:p>
            <a:r>
              <a:rPr lang="ru-RU" b="1" dirty="0"/>
              <a:t>	height: 200</a:t>
            </a:r>
          </a:p>
          <a:p>
            <a:r>
              <a:rPr lang="ru-RU" b="1" dirty="0"/>
              <a:t>};</a:t>
            </a:r>
          </a:p>
          <a:p>
            <a:endParaRPr lang="ru-RU" b="1" dirty="0"/>
          </a:p>
          <a:p>
            <a:r>
              <a:rPr lang="ru-RU" b="1" dirty="0"/>
              <a:t>function showMenu({title, width, height}) {</a:t>
            </a:r>
          </a:p>
          <a:p>
            <a:r>
              <a:rPr lang="ru-RU" b="1" dirty="0"/>
              <a:t>	console.log(title + ' ' + width + ' ' + height); </a:t>
            </a:r>
          </a:p>
          <a:p>
            <a:r>
              <a:rPr lang="ru-RU" b="1" dirty="0"/>
              <a:t>}</a:t>
            </a:r>
          </a:p>
          <a:p>
            <a:endParaRPr lang="ru-RU" b="1" dirty="0"/>
          </a:p>
          <a:p>
            <a:r>
              <a:rPr lang="ru-RU" b="1" dirty="0"/>
              <a:t>showMenu(options);</a:t>
            </a:r>
            <a:r>
              <a:rPr lang="en-US" b="1" dirty="0"/>
              <a:t> //</a:t>
            </a:r>
            <a:r>
              <a:rPr lang="ru-RU" b="1" dirty="0"/>
              <a:t>Меню</a:t>
            </a:r>
            <a:r>
              <a:rPr lang="en-US" b="1" dirty="0"/>
              <a:t> 100 200</a:t>
            </a:r>
            <a:endParaRPr lang="ru-RU" b="1" dirty="0"/>
          </a:p>
        </p:txBody>
      </p:sp>
      <p:sp>
        <p:nvSpPr>
          <p:cNvPr id="5" name="Прямоугольник 4">
            <a:extLst>
              <a:ext uri="{FF2B5EF4-FFF2-40B4-BE49-F238E27FC236}">
                <a16:creationId xmlns:a16="http://schemas.microsoft.com/office/drawing/2014/main" id="{EC2F6F63-5D94-A8E1-CE1D-F5D2A7C17BFA}"/>
              </a:ext>
            </a:extLst>
          </p:cNvPr>
          <p:cNvSpPr/>
          <p:nvPr/>
        </p:nvSpPr>
        <p:spPr>
          <a:xfrm>
            <a:off x="5764618" y="1407121"/>
            <a:ext cx="5668884" cy="2862322"/>
          </a:xfrm>
          <a:prstGeom prst="rect">
            <a:avLst/>
          </a:prstGeom>
        </p:spPr>
        <p:txBody>
          <a:bodyPr wrap="square">
            <a:spAutoFit/>
          </a:bodyPr>
          <a:lstStyle/>
          <a:p>
            <a:r>
              <a:rPr lang="ru-RU" b="1" dirty="0"/>
              <a:t>let options = {</a:t>
            </a:r>
          </a:p>
          <a:p>
            <a:r>
              <a:rPr lang="ru-RU" b="1" dirty="0"/>
              <a:t>	title: "Меню"</a:t>
            </a:r>
          </a:p>
          <a:p>
            <a:r>
              <a:rPr lang="ru-RU" b="1" dirty="0"/>
              <a:t>};</a:t>
            </a:r>
          </a:p>
          <a:p>
            <a:r>
              <a:rPr lang="ru-RU" b="1" dirty="0"/>
              <a:t>function showMenu({title="Заголовок", </a:t>
            </a:r>
          </a:p>
          <a:p>
            <a:r>
              <a:rPr lang="ru-RU" b="1" dirty="0"/>
              <a:t>	width:w=100, </a:t>
            </a:r>
          </a:p>
          <a:p>
            <a:r>
              <a:rPr lang="ru-RU" b="1" dirty="0"/>
              <a:t>	height:h=200}={}) {</a:t>
            </a:r>
          </a:p>
          <a:p>
            <a:r>
              <a:rPr lang="ru-RU" b="1" dirty="0"/>
              <a:t>	console.log(title + ' ' + w + ' ' + h);</a:t>
            </a:r>
          </a:p>
          <a:p>
            <a:r>
              <a:rPr lang="ru-RU" b="1" dirty="0"/>
              <a:t>}</a:t>
            </a:r>
          </a:p>
          <a:p>
            <a:endParaRPr lang="ru-RU" b="1" dirty="0"/>
          </a:p>
          <a:p>
            <a:r>
              <a:rPr lang="ru-RU" b="1" dirty="0"/>
              <a:t>showMenu(); // Заголовок 100 200</a:t>
            </a:r>
          </a:p>
        </p:txBody>
      </p:sp>
    </p:spTree>
    <p:extLst>
      <p:ext uri="{BB962C8B-B14F-4D97-AF65-F5344CB8AC3E}">
        <p14:creationId xmlns:p14="http://schemas.microsoft.com/office/powerpoint/2010/main" val="17835060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Свойства и методы функций</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47</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B42CFDEC-52B9-DE91-CBC0-C52137AB3BCB}"/>
              </a:ext>
            </a:extLst>
          </p:cNvPr>
          <p:cNvSpPr/>
          <p:nvPr/>
        </p:nvSpPr>
        <p:spPr>
          <a:xfrm>
            <a:off x="304800" y="990600"/>
            <a:ext cx="2750689" cy="2308324"/>
          </a:xfrm>
          <a:prstGeom prst="rect">
            <a:avLst/>
          </a:prstGeom>
        </p:spPr>
        <p:txBody>
          <a:bodyPr wrap="none">
            <a:spAutoFit/>
          </a:bodyPr>
          <a:lstStyle/>
          <a:p>
            <a:r>
              <a:rPr lang="ru-RU" sz="2400" b="1" dirty="0">
                <a:solidFill>
                  <a:srgbClr val="C00000"/>
                </a:solidFill>
              </a:rPr>
              <a:t>Свойство name</a:t>
            </a:r>
            <a:endParaRPr lang="en-US" sz="2400" b="1" dirty="0">
              <a:solidFill>
                <a:srgbClr val="C00000"/>
              </a:solidFill>
            </a:endParaRPr>
          </a:p>
          <a:p>
            <a:endParaRPr lang="en-US" sz="2400" b="1" dirty="0">
              <a:solidFill>
                <a:srgbClr val="C00000"/>
              </a:solidFill>
            </a:endParaRPr>
          </a:p>
          <a:p>
            <a:r>
              <a:rPr lang="ru-RU" sz="2400" b="1" dirty="0">
                <a:solidFill>
                  <a:srgbClr val="C00000"/>
                </a:solidFill>
              </a:rPr>
              <a:t>Свойство </a:t>
            </a:r>
            <a:r>
              <a:rPr lang="en-US" sz="2400" b="1" dirty="0">
                <a:solidFill>
                  <a:srgbClr val="C00000"/>
                </a:solidFill>
              </a:rPr>
              <a:t>length</a:t>
            </a:r>
          </a:p>
          <a:p>
            <a:endParaRPr lang="en-US" sz="2400" b="1" dirty="0">
              <a:solidFill>
                <a:srgbClr val="C00000"/>
              </a:solidFill>
            </a:endParaRPr>
          </a:p>
          <a:p>
            <a:r>
              <a:rPr lang="ru-RU" sz="2400" b="1" dirty="0">
                <a:solidFill>
                  <a:srgbClr val="C00000"/>
                </a:solidFill>
              </a:rPr>
              <a:t>Свойство </a:t>
            </a:r>
            <a:r>
              <a:rPr lang="en-US" sz="2400" b="1" dirty="0">
                <a:solidFill>
                  <a:srgbClr val="C00000"/>
                </a:solidFill>
              </a:rPr>
              <a:t>prototype</a:t>
            </a:r>
          </a:p>
          <a:p>
            <a:endParaRPr lang="ru-RU" sz="2400" b="1" dirty="0">
              <a:solidFill>
                <a:srgbClr val="C00000"/>
              </a:solidFill>
            </a:endParaRPr>
          </a:p>
        </p:txBody>
      </p:sp>
      <p:sp>
        <p:nvSpPr>
          <p:cNvPr id="4" name="Прямоугольник 3">
            <a:extLst>
              <a:ext uri="{FF2B5EF4-FFF2-40B4-BE49-F238E27FC236}">
                <a16:creationId xmlns:a16="http://schemas.microsoft.com/office/drawing/2014/main" id="{8BB6912B-2E26-F7B0-AE22-AF7695ED2C4A}"/>
              </a:ext>
            </a:extLst>
          </p:cNvPr>
          <p:cNvSpPr/>
          <p:nvPr/>
        </p:nvSpPr>
        <p:spPr>
          <a:xfrm>
            <a:off x="8360874" y="990998"/>
            <a:ext cx="3285438" cy="646331"/>
          </a:xfrm>
          <a:prstGeom prst="rect">
            <a:avLst/>
          </a:prstGeom>
        </p:spPr>
        <p:txBody>
          <a:bodyPr wrap="square">
            <a:spAutoFit/>
          </a:bodyPr>
          <a:lstStyle/>
          <a:p>
            <a:r>
              <a:rPr lang="ru-RU" b="1" dirty="0"/>
              <a:t>function f() {};</a:t>
            </a:r>
          </a:p>
          <a:p>
            <a:r>
              <a:rPr lang="ru-RU" b="1" dirty="0"/>
              <a:t>console.log(f.name); //f</a:t>
            </a:r>
          </a:p>
        </p:txBody>
      </p:sp>
      <p:sp>
        <p:nvSpPr>
          <p:cNvPr id="5" name="Прямоугольник 4">
            <a:extLst>
              <a:ext uri="{FF2B5EF4-FFF2-40B4-BE49-F238E27FC236}">
                <a16:creationId xmlns:a16="http://schemas.microsoft.com/office/drawing/2014/main" id="{9F1BD061-1127-A0C1-A243-161E1B017C2D}"/>
              </a:ext>
            </a:extLst>
          </p:cNvPr>
          <p:cNvSpPr/>
          <p:nvPr/>
        </p:nvSpPr>
        <p:spPr>
          <a:xfrm>
            <a:off x="3082762" y="1071328"/>
            <a:ext cx="2794804" cy="369332"/>
          </a:xfrm>
          <a:prstGeom prst="rect">
            <a:avLst/>
          </a:prstGeom>
        </p:spPr>
        <p:txBody>
          <a:bodyPr wrap="none">
            <a:spAutoFit/>
          </a:bodyPr>
          <a:lstStyle/>
          <a:p>
            <a:r>
              <a:rPr lang="ru-RU" b="1" dirty="0"/>
              <a:t>содержится имя функции</a:t>
            </a:r>
            <a:endParaRPr lang="ru-RU" dirty="0"/>
          </a:p>
        </p:txBody>
      </p:sp>
      <p:sp>
        <p:nvSpPr>
          <p:cNvPr id="6" name="Прямоугольник 5">
            <a:extLst>
              <a:ext uri="{FF2B5EF4-FFF2-40B4-BE49-F238E27FC236}">
                <a16:creationId xmlns:a16="http://schemas.microsoft.com/office/drawing/2014/main" id="{A38D4950-7478-0446-582E-4EF0E1456F5C}"/>
              </a:ext>
            </a:extLst>
          </p:cNvPr>
          <p:cNvSpPr/>
          <p:nvPr/>
        </p:nvSpPr>
        <p:spPr>
          <a:xfrm>
            <a:off x="3055489" y="1791424"/>
            <a:ext cx="4827540" cy="369332"/>
          </a:xfrm>
          <a:prstGeom prst="rect">
            <a:avLst/>
          </a:prstGeom>
        </p:spPr>
        <p:txBody>
          <a:bodyPr wrap="none">
            <a:spAutoFit/>
          </a:bodyPr>
          <a:lstStyle/>
          <a:p>
            <a:r>
              <a:rPr lang="ru-RU" b="1" dirty="0"/>
              <a:t>количество аргументов, переданных функции</a:t>
            </a:r>
          </a:p>
        </p:txBody>
      </p:sp>
      <p:sp>
        <p:nvSpPr>
          <p:cNvPr id="8" name="Прямоугольник 7">
            <a:extLst>
              <a:ext uri="{FF2B5EF4-FFF2-40B4-BE49-F238E27FC236}">
                <a16:creationId xmlns:a16="http://schemas.microsoft.com/office/drawing/2014/main" id="{28253B6E-41F0-F72E-34CC-71F5CE3EF890}"/>
              </a:ext>
            </a:extLst>
          </p:cNvPr>
          <p:cNvSpPr/>
          <p:nvPr/>
        </p:nvSpPr>
        <p:spPr>
          <a:xfrm>
            <a:off x="8375084" y="1837590"/>
            <a:ext cx="2957988" cy="646331"/>
          </a:xfrm>
          <a:prstGeom prst="rect">
            <a:avLst/>
          </a:prstGeom>
        </p:spPr>
        <p:txBody>
          <a:bodyPr wrap="square">
            <a:spAutoFit/>
          </a:bodyPr>
          <a:lstStyle/>
          <a:p>
            <a:r>
              <a:rPr lang="ru-RU" b="1" dirty="0"/>
              <a:t>function f(</a:t>
            </a:r>
            <a:r>
              <a:rPr lang="ru-RU" b="1" dirty="0" err="1"/>
              <a:t>a,b,c</a:t>
            </a:r>
            <a:r>
              <a:rPr lang="ru-RU" b="1" dirty="0"/>
              <a:t>) {};</a:t>
            </a:r>
          </a:p>
          <a:p>
            <a:r>
              <a:rPr lang="ru-RU" b="1" dirty="0"/>
              <a:t>console.log(</a:t>
            </a:r>
            <a:r>
              <a:rPr lang="ru-RU" b="1" dirty="0" err="1"/>
              <a:t>f.length</a:t>
            </a:r>
            <a:r>
              <a:rPr lang="ru-RU" b="1" dirty="0"/>
              <a:t>); //3</a:t>
            </a:r>
          </a:p>
        </p:txBody>
      </p:sp>
      <p:sp>
        <p:nvSpPr>
          <p:cNvPr id="11" name="Прямоугольник 10">
            <a:extLst>
              <a:ext uri="{FF2B5EF4-FFF2-40B4-BE49-F238E27FC236}">
                <a16:creationId xmlns:a16="http://schemas.microsoft.com/office/drawing/2014/main" id="{5CF1EF1A-7137-3435-E45C-89A8FC29B5F0}"/>
              </a:ext>
            </a:extLst>
          </p:cNvPr>
          <p:cNvSpPr/>
          <p:nvPr/>
        </p:nvSpPr>
        <p:spPr>
          <a:xfrm>
            <a:off x="8375084" y="2712653"/>
            <a:ext cx="4128144" cy="646331"/>
          </a:xfrm>
          <a:prstGeom prst="rect">
            <a:avLst/>
          </a:prstGeom>
        </p:spPr>
        <p:txBody>
          <a:bodyPr wrap="square">
            <a:spAutoFit/>
          </a:bodyPr>
          <a:lstStyle/>
          <a:p>
            <a:r>
              <a:rPr lang="ru-RU" b="1" dirty="0"/>
              <a:t>function f() {};</a:t>
            </a:r>
          </a:p>
          <a:p>
            <a:r>
              <a:rPr lang="ru-RU" b="1" dirty="0"/>
              <a:t>console.log(</a:t>
            </a:r>
            <a:r>
              <a:rPr lang="ru-RU" b="1" dirty="0" err="1"/>
              <a:t>f.prototype</a:t>
            </a:r>
            <a:r>
              <a:rPr lang="ru-RU" b="1" dirty="0"/>
              <a:t>); // f {}</a:t>
            </a:r>
          </a:p>
        </p:txBody>
      </p:sp>
      <p:sp>
        <p:nvSpPr>
          <p:cNvPr id="12" name="Прямоугольник 11">
            <a:extLst>
              <a:ext uri="{FF2B5EF4-FFF2-40B4-BE49-F238E27FC236}">
                <a16:creationId xmlns:a16="http://schemas.microsoft.com/office/drawing/2014/main" id="{20E6922C-D61F-1EEF-6074-B80DB3CE229C}"/>
              </a:ext>
            </a:extLst>
          </p:cNvPr>
          <p:cNvSpPr/>
          <p:nvPr/>
        </p:nvSpPr>
        <p:spPr>
          <a:xfrm>
            <a:off x="3055489" y="2527987"/>
            <a:ext cx="3015313" cy="369332"/>
          </a:xfrm>
          <a:prstGeom prst="rect">
            <a:avLst/>
          </a:prstGeom>
        </p:spPr>
        <p:txBody>
          <a:bodyPr wrap="none">
            <a:spAutoFit/>
          </a:bodyPr>
          <a:lstStyle/>
          <a:p>
            <a:r>
              <a:rPr lang="ru-RU" b="1" dirty="0"/>
              <a:t>ссылка на объект прототипа</a:t>
            </a:r>
          </a:p>
        </p:txBody>
      </p:sp>
    </p:spTree>
    <p:extLst>
      <p:ext uri="{BB962C8B-B14F-4D97-AF65-F5344CB8AC3E}">
        <p14:creationId xmlns:p14="http://schemas.microsoft.com/office/powerpoint/2010/main" val="41486570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Свойства и методы функций</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48</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153BF271-FE54-07A2-CE7A-B8521C86B874}"/>
              </a:ext>
            </a:extLst>
          </p:cNvPr>
          <p:cNvSpPr/>
          <p:nvPr/>
        </p:nvSpPr>
        <p:spPr>
          <a:xfrm>
            <a:off x="411945" y="846349"/>
            <a:ext cx="3179075" cy="461665"/>
          </a:xfrm>
          <a:prstGeom prst="rect">
            <a:avLst/>
          </a:prstGeom>
        </p:spPr>
        <p:txBody>
          <a:bodyPr wrap="none">
            <a:spAutoFit/>
          </a:bodyPr>
          <a:lstStyle/>
          <a:p>
            <a:r>
              <a:rPr lang="ru-RU" sz="2400" b="1" dirty="0">
                <a:solidFill>
                  <a:srgbClr val="C00000"/>
                </a:solidFill>
              </a:rPr>
              <a:t>Методы </a:t>
            </a:r>
            <a:r>
              <a:rPr lang="en-US" sz="2400" b="1" dirty="0">
                <a:solidFill>
                  <a:srgbClr val="C00000"/>
                </a:solidFill>
              </a:rPr>
              <a:t>call() </a:t>
            </a:r>
            <a:r>
              <a:rPr lang="ru-RU" sz="2400" b="1" dirty="0">
                <a:solidFill>
                  <a:srgbClr val="C00000"/>
                </a:solidFill>
              </a:rPr>
              <a:t>и </a:t>
            </a:r>
            <a:r>
              <a:rPr lang="en-US" sz="2400" b="1" dirty="0">
                <a:solidFill>
                  <a:srgbClr val="C00000"/>
                </a:solidFill>
              </a:rPr>
              <a:t>apply()</a:t>
            </a:r>
          </a:p>
        </p:txBody>
      </p:sp>
      <p:sp>
        <p:nvSpPr>
          <p:cNvPr id="4" name="Прямоугольник 3">
            <a:extLst>
              <a:ext uri="{FF2B5EF4-FFF2-40B4-BE49-F238E27FC236}">
                <a16:creationId xmlns:a16="http://schemas.microsoft.com/office/drawing/2014/main" id="{5EF074FB-6186-7986-D1E0-C154CEA95A6A}"/>
              </a:ext>
            </a:extLst>
          </p:cNvPr>
          <p:cNvSpPr/>
          <p:nvPr/>
        </p:nvSpPr>
        <p:spPr>
          <a:xfrm>
            <a:off x="3515218" y="892559"/>
            <a:ext cx="4370364" cy="369332"/>
          </a:xfrm>
          <a:prstGeom prst="rect">
            <a:avLst/>
          </a:prstGeom>
        </p:spPr>
        <p:txBody>
          <a:bodyPr wrap="none">
            <a:spAutoFit/>
          </a:bodyPr>
          <a:lstStyle/>
          <a:p>
            <a:r>
              <a:rPr lang="ru-RU" b="1" dirty="0"/>
              <a:t>выполнение косвенного вызова функции</a:t>
            </a:r>
            <a:endParaRPr lang="ru-RU" dirty="0"/>
          </a:p>
        </p:txBody>
      </p:sp>
      <p:sp>
        <p:nvSpPr>
          <p:cNvPr id="5" name="Прямоугольник 4">
            <a:extLst>
              <a:ext uri="{FF2B5EF4-FFF2-40B4-BE49-F238E27FC236}">
                <a16:creationId xmlns:a16="http://schemas.microsoft.com/office/drawing/2014/main" id="{D97FA926-7240-8B38-1E5E-9B00054DCC71}"/>
              </a:ext>
            </a:extLst>
          </p:cNvPr>
          <p:cNvSpPr/>
          <p:nvPr/>
        </p:nvSpPr>
        <p:spPr>
          <a:xfrm>
            <a:off x="2210757" y="1663846"/>
            <a:ext cx="2070276" cy="646331"/>
          </a:xfrm>
          <a:prstGeom prst="rect">
            <a:avLst/>
          </a:prstGeom>
        </p:spPr>
        <p:txBody>
          <a:bodyPr wrap="square">
            <a:spAutoFit/>
          </a:bodyPr>
          <a:lstStyle/>
          <a:p>
            <a:r>
              <a:rPr lang="ru-RU" b="1" dirty="0" err="1"/>
              <a:t>func.call</a:t>
            </a:r>
            <a:r>
              <a:rPr lang="ru-RU" b="1" dirty="0"/>
              <a:t>(obj);</a:t>
            </a:r>
          </a:p>
          <a:p>
            <a:r>
              <a:rPr lang="ru-RU" b="1" dirty="0" err="1"/>
              <a:t>func.apply</a:t>
            </a:r>
            <a:r>
              <a:rPr lang="ru-RU" b="1" dirty="0"/>
              <a:t>(obj);</a:t>
            </a:r>
          </a:p>
        </p:txBody>
      </p:sp>
      <p:sp>
        <p:nvSpPr>
          <p:cNvPr id="6" name="Прямоугольник 5">
            <a:extLst>
              <a:ext uri="{FF2B5EF4-FFF2-40B4-BE49-F238E27FC236}">
                <a16:creationId xmlns:a16="http://schemas.microsoft.com/office/drawing/2014/main" id="{9CCB00A7-2090-7099-8A28-77C088B9D195}"/>
              </a:ext>
            </a:extLst>
          </p:cNvPr>
          <p:cNvSpPr/>
          <p:nvPr/>
        </p:nvSpPr>
        <p:spPr>
          <a:xfrm>
            <a:off x="4808917" y="1663846"/>
            <a:ext cx="6787418" cy="923330"/>
          </a:xfrm>
          <a:prstGeom prst="rect">
            <a:avLst/>
          </a:prstGeom>
        </p:spPr>
        <p:txBody>
          <a:bodyPr wrap="square">
            <a:spAutoFit/>
          </a:bodyPr>
          <a:lstStyle/>
          <a:p>
            <a:r>
              <a:rPr lang="ru-RU" b="1" dirty="0" err="1"/>
              <a:t>obj.m</a:t>
            </a:r>
            <a:r>
              <a:rPr lang="ru-RU" b="1" dirty="0"/>
              <a:t> = func;	// Временно сделать func методом obj</a:t>
            </a:r>
          </a:p>
          <a:p>
            <a:r>
              <a:rPr lang="ru-RU" b="1" dirty="0" err="1"/>
              <a:t>obj.m</a:t>
            </a:r>
            <a:r>
              <a:rPr lang="ru-RU" b="1" dirty="0"/>
              <a:t>();		// Вызывать его без аргументов.</a:t>
            </a:r>
          </a:p>
          <a:p>
            <a:r>
              <a:rPr lang="ru-RU" b="1" dirty="0"/>
              <a:t>delete </a:t>
            </a:r>
            <a:r>
              <a:rPr lang="ru-RU" b="1" dirty="0" err="1"/>
              <a:t>obj.m</a:t>
            </a:r>
            <a:r>
              <a:rPr lang="ru-RU" b="1" dirty="0"/>
              <a:t>;	// Удалить временный метод.</a:t>
            </a:r>
          </a:p>
        </p:txBody>
      </p:sp>
      <p:sp>
        <p:nvSpPr>
          <p:cNvPr id="8" name="Прямоугольник 7">
            <a:extLst>
              <a:ext uri="{FF2B5EF4-FFF2-40B4-BE49-F238E27FC236}">
                <a16:creationId xmlns:a16="http://schemas.microsoft.com/office/drawing/2014/main" id="{413ECAF5-EADC-4971-A73A-20A738C31ECF}"/>
              </a:ext>
            </a:extLst>
          </p:cNvPr>
          <p:cNvSpPr/>
          <p:nvPr/>
        </p:nvSpPr>
        <p:spPr>
          <a:xfrm>
            <a:off x="108947" y="2729128"/>
            <a:ext cx="11923621" cy="923330"/>
          </a:xfrm>
          <a:prstGeom prst="rect">
            <a:avLst/>
          </a:prstGeom>
        </p:spPr>
        <p:txBody>
          <a:bodyPr wrap="square">
            <a:spAutoFit/>
          </a:bodyPr>
          <a:lstStyle/>
          <a:p>
            <a:pPr algn="just"/>
            <a:r>
              <a:rPr lang="ru-RU" b="1" dirty="0"/>
              <a:t>Все остальные аргументы метода </a:t>
            </a:r>
            <a:r>
              <a:rPr lang="ru-RU" b="1" dirty="0">
                <a:solidFill>
                  <a:srgbClr val="C00000"/>
                </a:solidFill>
              </a:rPr>
              <a:t>call()</a:t>
            </a:r>
            <a:r>
              <a:rPr lang="ru-RU" b="1" dirty="0"/>
              <a:t>, следующие за первым аргументом, определяющим </a:t>
            </a:r>
            <a:r>
              <a:rPr lang="ru-RU" b="1" dirty="0">
                <a:solidFill>
                  <a:srgbClr val="C00000"/>
                </a:solidFill>
              </a:rPr>
              <a:t>контекст вызова</a:t>
            </a:r>
            <a:r>
              <a:rPr lang="ru-RU" b="1" dirty="0"/>
              <a:t>, передаются вызываемой функции. Метод </a:t>
            </a:r>
            <a:r>
              <a:rPr lang="ru-RU" b="1" dirty="0">
                <a:solidFill>
                  <a:srgbClr val="C00000"/>
                </a:solidFill>
              </a:rPr>
              <a:t>apply() </a:t>
            </a:r>
            <a:r>
              <a:rPr lang="ru-RU" b="1" dirty="0"/>
              <a:t>действует подобно методу call(), за исключением того, что </a:t>
            </a:r>
            <a:r>
              <a:rPr lang="ru-RU" b="1" dirty="0">
                <a:solidFill>
                  <a:srgbClr val="C00000"/>
                </a:solidFill>
              </a:rPr>
              <a:t>аргументы для функции передаются в виде массива</a:t>
            </a:r>
            <a:r>
              <a:rPr lang="ru-RU" b="1" dirty="0"/>
              <a:t>. </a:t>
            </a:r>
          </a:p>
        </p:txBody>
      </p:sp>
      <p:sp>
        <p:nvSpPr>
          <p:cNvPr id="11" name="Прямоугольник 10">
            <a:extLst>
              <a:ext uri="{FF2B5EF4-FFF2-40B4-BE49-F238E27FC236}">
                <a16:creationId xmlns:a16="http://schemas.microsoft.com/office/drawing/2014/main" id="{BFC31B67-32F3-9662-5A67-BA9253325A6D}"/>
              </a:ext>
            </a:extLst>
          </p:cNvPr>
          <p:cNvSpPr/>
          <p:nvPr/>
        </p:nvSpPr>
        <p:spPr>
          <a:xfrm>
            <a:off x="293346" y="3775971"/>
            <a:ext cx="1895262" cy="461665"/>
          </a:xfrm>
          <a:prstGeom prst="rect">
            <a:avLst/>
          </a:prstGeom>
        </p:spPr>
        <p:txBody>
          <a:bodyPr wrap="none">
            <a:spAutoFit/>
          </a:bodyPr>
          <a:lstStyle/>
          <a:p>
            <a:r>
              <a:rPr lang="ru-RU" sz="2400" b="1" dirty="0">
                <a:solidFill>
                  <a:srgbClr val="C00000"/>
                </a:solidFill>
              </a:rPr>
              <a:t>Метод bind()</a:t>
            </a:r>
          </a:p>
        </p:txBody>
      </p:sp>
      <p:sp>
        <p:nvSpPr>
          <p:cNvPr id="12" name="Прямоугольник 11">
            <a:extLst>
              <a:ext uri="{FF2B5EF4-FFF2-40B4-BE49-F238E27FC236}">
                <a16:creationId xmlns:a16="http://schemas.microsoft.com/office/drawing/2014/main" id="{D2CDD8B2-4EE4-DAB1-88D0-38AB14058087}"/>
              </a:ext>
            </a:extLst>
          </p:cNvPr>
          <p:cNvSpPr/>
          <p:nvPr/>
        </p:nvSpPr>
        <p:spPr>
          <a:xfrm>
            <a:off x="2405438" y="3843879"/>
            <a:ext cx="4806957" cy="369332"/>
          </a:xfrm>
          <a:prstGeom prst="rect">
            <a:avLst/>
          </a:prstGeom>
        </p:spPr>
        <p:txBody>
          <a:bodyPr wrap="none">
            <a:spAutoFit/>
          </a:bodyPr>
          <a:lstStyle/>
          <a:p>
            <a:r>
              <a:rPr lang="ru-RU" b="1" dirty="0"/>
              <a:t>выполнение связи (bind) функции с объектом</a:t>
            </a:r>
          </a:p>
        </p:txBody>
      </p:sp>
      <p:sp>
        <p:nvSpPr>
          <p:cNvPr id="13" name="Прямоугольник 12">
            <a:extLst>
              <a:ext uri="{FF2B5EF4-FFF2-40B4-BE49-F238E27FC236}">
                <a16:creationId xmlns:a16="http://schemas.microsoft.com/office/drawing/2014/main" id="{C0B808A9-B3CD-D5B1-7A0F-823450A6BCB2}"/>
              </a:ext>
            </a:extLst>
          </p:cNvPr>
          <p:cNvSpPr/>
          <p:nvPr/>
        </p:nvSpPr>
        <p:spPr>
          <a:xfrm>
            <a:off x="3522145" y="4811322"/>
            <a:ext cx="7222743" cy="1200329"/>
          </a:xfrm>
          <a:prstGeom prst="rect">
            <a:avLst/>
          </a:prstGeom>
        </p:spPr>
        <p:txBody>
          <a:bodyPr wrap="square">
            <a:spAutoFit/>
          </a:bodyPr>
          <a:lstStyle/>
          <a:p>
            <a:r>
              <a:rPr lang="ru-RU" b="1" dirty="0"/>
              <a:t>function func(y) { return this.x + y; }</a:t>
            </a:r>
          </a:p>
          <a:p>
            <a:r>
              <a:rPr lang="ru-RU" b="1" dirty="0"/>
              <a:t>var obj = {x:1};	// Объект, к которому выполняется привязка</a:t>
            </a:r>
          </a:p>
          <a:p>
            <a:r>
              <a:rPr lang="ru-RU" b="1" dirty="0"/>
              <a:t>var g = </a:t>
            </a:r>
            <a:r>
              <a:rPr lang="ru-RU" b="1" dirty="0" err="1"/>
              <a:t>func.bind</a:t>
            </a:r>
            <a:r>
              <a:rPr lang="ru-RU" b="1" dirty="0"/>
              <a:t>(obj);	// Вызов g(x) вызовет obj.func(x)</a:t>
            </a:r>
          </a:p>
          <a:p>
            <a:r>
              <a:rPr lang="ru-RU" b="1" dirty="0"/>
              <a:t>console.log(g(6)); //7</a:t>
            </a:r>
          </a:p>
        </p:txBody>
      </p:sp>
      <p:sp>
        <p:nvSpPr>
          <p:cNvPr id="14" name="Прямоугольник 13">
            <a:extLst>
              <a:ext uri="{FF2B5EF4-FFF2-40B4-BE49-F238E27FC236}">
                <a16:creationId xmlns:a16="http://schemas.microsoft.com/office/drawing/2014/main" id="{3FE4B799-9C7F-C183-71AB-A28FC05BE5BF}"/>
              </a:ext>
            </a:extLst>
          </p:cNvPr>
          <p:cNvSpPr/>
          <p:nvPr/>
        </p:nvSpPr>
        <p:spPr>
          <a:xfrm>
            <a:off x="7818554" y="3610993"/>
            <a:ext cx="4282006" cy="1200329"/>
          </a:xfrm>
          <a:prstGeom prst="rect">
            <a:avLst/>
          </a:prstGeom>
        </p:spPr>
        <p:txBody>
          <a:bodyPr wrap="square">
            <a:spAutoFit/>
          </a:bodyPr>
          <a:lstStyle/>
          <a:p>
            <a:pPr algn="just"/>
            <a:r>
              <a:rPr lang="ru-RU" b="1" dirty="0">
                <a:solidFill>
                  <a:srgbClr val="C00000"/>
                </a:solidFill>
              </a:rPr>
              <a:t>Частичное применение </a:t>
            </a:r>
            <a:r>
              <a:rPr lang="ru-RU" b="1" dirty="0"/>
              <a:t>- распространенный прием в функциональном программировании и иногда называется </a:t>
            </a:r>
            <a:r>
              <a:rPr lang="ru-RU" b="1" dirty="0">
                <a:solidFill>
                  <a:srgbClr val="C00000"/>
                </a:solidFill>
              </a:rPr>
              <a:t>каррингом (currying)</a:t>
            </a:r>
          </a:p>
        </p:txBody>
      </p:sp>
      <p:sp>
        <p:nvSpPr>
          <p:cNvPr id="15" name="Прямоугольник 14">
            <a:extLst>
              <a:ext uri="{FF2B5EF4-FFF2-40B4-BE49-F238E27FC236}">
                <a16:creationId xmlns:a16="http://schemas.microsoft.com/office/drawing/2014/main" id="{886202D2-0715-5E8E-EA26-6E0512FCBDC2}"/>
              </a:ext>
            </a:extLst>
          </p:cNvPr>
          <p:cNvSpPr/>
          <p:nvPr/>
        </p:nvSpPr>
        <p:spPr>
          <a:xfrm>
            <a:off x="7212395" y="3714415"/>
            <a:ext cx="595035" cy="584775"/>
          </a:xfrm>
          <a:prstGeom prst="rect">
            <a:avLst/>
          </a:prstGeom>
        </p:spPr>
        <p:txBody>
          <a:bodyPr wrap="none">
            <a:spAutoFit/>
          </a:bodyPr>
          <a:lstStyle/>
          <a:p>
            <a:r>
              <a:rPr lang="en-US" sz="3200" b="1" dirty="0">
                <a:solidFill>
                  <a:srgbClr val="C00000"/>
                </a:solidFill>
              </a:rPr>
              <a:t>&lt;=</a:t>
            </a:r>
            <a:endParaRPr lang="ru-RU" sz="3200" dirty="0">
              <a:solidFill>
                <a:srgbClr val="C00000"/>
              </a:solidFill>
            </a:endParaRPr>
          </a:p>
        </p:txBody>
      </p:sp>
    </p:spTree>
    <p:extLst>
      <p:ext uri="{BB962C8B-B14F-4D97-AF65-F5344CB8AC3E}">
        <p14:creationId xmlns:p14="http://schemas.microsoft.com/office/powerpoint/2010/main" val="29516188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Стрелочные функции</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49</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A1604A6-683B-863E-7344-6AAD27372527}"/>
              </a:ext>
            </a:extLst>
          </p:cNvPr>
          <p:cNvSpPr/>
          <p:nvPr/>
        </p:nvSpPr>
        <p:spPr>
          <a:xfrm>
            <a:off x="155207" y="835736"/>
            <a:ext cx="12036793" cy="369332"/>
          </a:xfrm>
          <a:prstGeom prst="rect">
            <a:avLst/>
          </a:prstGeom>
        </p:spPr>
        <p:txBody>
          <a:bodyPr wrap="square">
            <a:spAutoFit/>
          </a:bodyPr>
          <a:lstStyle/>
          <a:p>
            <a:r>
              <a:rPr lang="ru-RU" b="1" dirty="0"/>
              <a:t>В стандарте </a:t>
            </a:r>
            <a:r>
              <a:rPr lang="en-US" b="1" dirty="0"/>
              <a:t>ESMAScript 6 </a:t>
            </a:r>
            <a:r>
              <a:rPr lang="ru-RU" b="1" dirty="0"/>
              <a:t>появился новый синтаксис для задания функций через «стрелку» </a:t>
            </a:r>
            <a:r>
              <a:rPr lang="ru-RU" b="1" dirty="0">
                <a:solidFill>
                  <a:srgbClr val="C00000"/>
                </a:solidFill>
              </a:rPr>
              <a:t>=&gt; (стрелочные функции)</a:t>
            </a:r>
            <a:r>
              <a:rPr lang="ru-RU" b="1" dirty="0"/>
              <a:t>.</a:t>
            </a:r>
          </a:p>
        </p:txBody>
      </p:sp>
      <p:sp>
        <p:nvSpPr>
          <p:cNvPr id="4" name="Прямоугольник 3">
            <a:extLst>
              <a:ext uri="{FF2B5EF4-FFF2-40B4-BE49-F238E27FC236}">
                <a16:creationId xmlns:a16="http://schemas.microsoft.com/office/drawing/2014/main" id="{7116F933-8225-C37E-5F3B-D7B9E96C5BE7}"/>
              </a:ext>
            </a:extLst>
          </p:cNvPr>
          <p:cNvSpPr/>
          <p:nvPr/>
        </p:nvSpPr>
        <p:spPr>
          <a:xfrm>
            <a:off x="2188364" y="1296835"/>
            <a:ext cx="6096000" cy="461665"/>
          </a:xfrm>
          <a:prstGeom prst="rect">
            <a:avLst/>
          </a:prstGeom>
        </p:spPr>
        <p:txBody>
          <a:bodyPr>
            <a:spAutoFit/>
          </a:bodyPr>
          <a:lstStyle/>
          <a:p>
            <a:r>
              <a:rPr lang="ru-RU" sz="2400" b="1" dirty="0"/>
              <a:t>let inc = x =&gt; x+1;</a:t>
            </a:r>
          </a:p>
        </p:txBody>
      </p:sp>
      <p:sp>
        <p:nvSpPr>
          <p:cNvPr id="5" name="Прямоугольник 4">
            <a:extLst>
              <a:ext uri="{FF2B5EF4-FFF2-40B4-BE49-F238E27FC236}">
                <a16:creationId xmlns:a16="http://schemas.microsoft.com/office/drawing/2014/main" id="{2702B166-F01B-B03B-E050-588808D06D2C}"/>
              </a:ext>
            </a:extLst>
          </p:cNvPr>
          <p:cNvSpPr/>
          <p:nvPr/>
        </p:nvSpPr>
        <p:spPr>
          <a:xfrm>
            <a:off x="5873479" y="1307628"/>
            <a:ext cx="4703852" cy="461665"/>
          </a:xfrm>
          <a:prstGeom prst="rect">
            <a:avLst/>
          </a:prstGeom>
        </p:spPr>
        <p:txBody>
          <a:bodyPr wrap="none">
            <a:spAutoFit/>
          </a:bodyPr>
          <a:lstStyle/>
          <a:p>
            <a:r>
              <a:rPr lang="ru-RU" sz="2400" b="1" dirty="0"/>
              <a:t>let inc = function(x) { return x + 1; };</a:t>
            </a:r>
          </a:p>
        </p:txBody>
      </p:sp>
      <p:sp>
        <p:nvSpPr>
          <p:cNvPr id="6" name="Прямоугольник 5">
            <a:extLst>
              <a:ext uri="{FF2B5EF4-FFF2-40B4-BE49-F238E27FC236}">
                <a16:creationId xmlns:a16="http://schemas.microsoft.com/office/drawing/2014/main" id="{5E653F15-D57D-CA66-DF81-84129F9DD23A}"/>
              </a:ext>
            </a:extLst>
          </p:cNvPr>
          <p:cNvSpPr/>
          <p:nvPr/>
        </p:nvSpPr>
        <p:spPr>
          <a:xfrm>
            <a:off x="3755688" y="1974271"/>
            <a:ext cx="3320268" cy="461665"/>
          </a:xfrm>
          <a:prstGeom prst="rect">
            <a:avLst/>
          </a:prstGeom>
        </p:spPr>
        <p:txBody>
          <a:bodyPr wrap="none">
            <a:spAutoFit/>
          </a:bodyPr>
          <a:lstStyle/>
          <a:p>
            <a:r>
              <a:rPr lang="en-US" sz="2400" b="1" dirty="0"/>
              <a:t>console.log</a:t>
            </a:r>
            <a:r>
              <a:rPr lang="ru-RU" sz="2400" b="1" dirty="0"/>
              <a:t>( inc(1) ); // 2</a:t>
            </a:r>
          </a:p>
        </p:txBody>
      </p:sp>
      <p:sp>
        <p:nvSpPr>
          <p:cNvPr id="8" name="Прямоугольник 7">
            <a:extLst>
              <a:ext uri="{FF2B5EF4-FFF2-40B4-BE49-F238E27FC236}">
                <a16:creationId xmlns:a16="http://schemas.microsoft.com/office/drawing/2014/main" id="{A4D06D65-83BA-6056-5A4A-12FB6EDCD447}"/>
              </a:ext>
            </a:extLst>
          </p:cNvPr>
          <p:cNvSpPr/>
          <p:nvPr/>
        </p:nvSpPr>
        <p:spPr>
          <a:xfrm>
            <a:off x="155207" y="2588336"/>
            <a:ext cx="9091212" cy="646331"/>
          </a:xfrm>
          <a:prstGeom prst="rect">
            <a:avLst/>
          </a:prstGeom>
        </p:spPr>
        <p:txBody>
          <a:bodyPr wrap="square">
            <a:spAutoFit/>
          </a:bodyPr>
          <a:lstStyle/>
          <a:p>
            <a:r>
              <a:rPr lang="ru-RU" b="1" dirty="0"/>
              <a:t>let getTime = () =&gt; new Date().getHours() + ':' + new Date().getMinutes();</a:t>
            </a:r>
          </a:p>
          <a:p>
            <a:r>
              <a:rPr lang="ru-RU" b="1" dirty="0"/>
              <a:t>console.log( getTime() ); // текущее время</a:t>
            </a:r>
          </a:p>
        </p:txBody>
      </p:sp>
      <p:sp>
        <p:nvSpPr>
          <p:cNvPr id="11" name="Прямоугольник 10">
            <a:extLst>
              <a:ext uri="{FF2B5EF4-FFF2-40B4-BE49-F238E27FC236}">
                <a16:creationId xmlns:a16="http://schemas.microsoft.com/office/drawing/2014/main" id="{36481CC8-98DC-8011-F4C1-87BB6ECD7BB1}"/>
              </a:ext>
            </a:extLst>
          </p:cNvPr>
          <p:cNvSpPr/>
          <p:nvPr/>
        </p:nvSpPr>
        <p:spPr>
          <a:xfrm>
            <a:off x="7536192" y="3234667"/>
            <a:ext cx="3743280" cy="923330"/>
          </a:xfrm>
          <a:prstGeom prst="rect">
            <a:avLst/>
          </a:prstGeom>
        </p:spPr>
        <p:txBody>
          <a:bodyPr wrap="square">
            <a:spAutoFit/>
          </a:bodyPr>
          <a:lstStyle/>
          <a:p>
            <a:r>
              <a:rPr lang="ru-RU" b="1" dirty="0"/>
              <a:t>let arr = [5, 8, 3];</a:t>
            </a:r>
          </a:p>
          <a:p>
            <a:r>
              <a:rPr lang="ru-RU" b="1" dirty="0"/>
              <a:t>let </a:t>
            </a:r>
            <a:r>
              <a:rPr lang="ru-RU" b="1" dirty="0" err="1"/>
              <a:t>sorted</a:t>
            </a:r>
            <a:r>
              <a:rPr lang="ru-RU" b="1" dirty="0"/>
              <a:t> = arr.sort( (a,b) =&gt; a - b );</a:t>
            </a:r>
          </a:p>
          <a:p>
            <a:r>
              <a:rPr lang="ru-RU" b="1" dirty="0"/>
              <a:t>console.log(</a:t>
            </a:r>
            <a:r>
              <a:rPr lang="ru-RU" b="1" dirty="0" err="1"/>
              <a:t>sorted</a:t>
            </a:r>
            <a:r>
              <a:rPr lang="ru-RU" b="1" dirty="0"/>
              <a:t>); // 3, 5, 8</a:t>
            </a:r>
          </a:p>
        </p:txBody>
      </p:sp>
      <p:sp>
        <p:nvSpPr>
          <p:cNvPr id="12" name="Прямоугольник 11">
            <a:extLst>
              <a:ext uri="{FF2B5EF4-FFF2-40B4-BE49-F238E27FC236}">
                <a16:creationId xmlns:a16="http://schemas.microsoft.com/office/drawing/2014/main" id="{AB53FB89-DBAB-4A20-C193-9DCDDAB9836A}"/>
              </a:ext>
            </a:extLst>
          </p:cNvPr>
          <p:cNvSpPr/>
          <p:nvPr/>
        </p:nvSpPr>
        <p:spPr>
          <a:xfrm>
            <a:off x="1137216" y="4262760"/>
            <a:ext cx="10439012" cy="707886"/>
          </a:xfrm>
          <a:prstGeom prst="rect">
            <a:avLst/>
          </a:prstGeom>
        </p:spPr>
        <p:txBody>
          <a:bodyPr wrap="square">
            <a:spAutoFit/>
          </a:bodyPr>
          <a:lstStyle/>
          <a:p>
            <a:r>
              <a:rPr lang="ru-RU" sz="2000" b="1" dirty="0">
                <a:solidFill>
                  <a:srgbClr val="C00000"/>
                </a:solidFill>
              </a:rPr>
              <a:t>Функции-стрелки не имеют своего arguments. В качестве arguments используются аргументы внешней «обычной» функции. </a:t>
            </a:r>
          </a:p>
        </p:txBody>
      </p:sp>
      <p:pic>
        <p:nvPicPr>
          <p:cNvPr id="14" name="Рисунок 13">
            <a:extLst>
              <a:ext uri="{FF2B5EF4-FFF2-40B4-BE49-F238E27FC236}">
                <a16:creationId xmlns:a16="http://schemas.microsoft.com/office/drawing/2014/main" id="{294DD2A4-F8FD-B967-DCFB-308D6CC21CA3}"/>
              </a:ext>
            </a:extLst>
          </p:cNvPr>
          <p:cNvPicPr>
            <a:picLocks noChangeAspect="1"/>
          </p:cNvPicPr>
          <p:nvPr/>
        </p:nvPicPr>
        <p:blipFill>
          <a:blip r:embed="rId4"/>
          <a:stretch>
            <a:fillRect/>
          </a:stretch>
        </p:blipFill>
        <p:spPr>
          <a:xfrm>
            <a:off x="8225405" y="5186090"/>
            <a:ext cx="3667637" cy="1448002"/>
          </a:xfrm>
          <a:prstGeom prst="rect">
            <a:avLst/>
          </a:prstGeom>
        </p:spPr>
      </p:pic>
      <p:pic>
        <p:nvPicPr>
          <p:cNvPr id="16" name="Рисунок 15">
            <a:extLst>
              <a:ext uri="{FF2B5EF4-FFF2-40B4-BE49-F238E27FC236}">
                <a16:creationId xmlns:a16="http://schemas.microsoft.com/office/drawing/2014/main" id="{FFA4627D-B5D1-2C0A-4D9F-E4308BBBDB42}"/>
              </a:ext>
            </a:extLst>
          </p:cNvPr>
          <p:cNvPicPr>
            <a:picLocks noChangeAspect="1"/>
          </p:cNvPicPr>
          <p:nvPr/>
        </p:nvPicPr>
        <p:blipFill>
          <a:blip r:embed="rId5"/>
          <a:stretch>
            <a:fillRect/>
          </a:stretch>
        </p:blipFill>
        <p:spPr>
          <a:xfrm>
            <a:off x="350732" y="5162449"/>
            <a:ext cx="4763165" cy="1448002"/>
          </a:xfrm>
          <a:prstGeom prst="rect">
            <a:avLst/>
          </a:prstGeom>
        </p:spPr>
      </p:pic>
    </p:spTree>
    <p:extLst>
      <p:ext uri="{BB962C8B-B14F-4D97-AF65-F5344CB8AC3E}">
        <p14:creationId xmlns:p14="http://schemas.microsoft.com/office/powerpoint/2010/main" val="37825317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Функции обратного вызова (</a:t>
            </a:r>
            <a:r>
              <a:rPr lang="en-US" sz="2400" b="1" dirty="0">
                <a:effectLst>
                  <a:outerShdw blurRad="38100" dist="38100" dir="2700000" algn="tl">
                    <a:srgbClr val="000000">
                      <a:alpha val="43137"/>
                    </a:srgbClr>
                  </a:outerShdw>
                </a:effectLst>
              </a:rPr>
              <a:t>callback)</a:t>
            </a:r>
            <a:endParaRPr lang="ru-RU" sz="2400" b="1"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50</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7EB20F8-8311-F592-FA72-C73A4C776414}"/>
              </a:ext>
            </a:extLst>
          </p:cNvPr>
          <p:cNvSpPr/>
          <p:nvPr/>
        </p:nvSpPr>
        <p:spPr>
          <a:xfrm>
            <a:off x="146035" y="838200"/>
            <a:ext cx="11899930" cy="646331"/>
          </a:xfrm>
          <a:prstGeom prst="rect">
            <a:avLst/>
          </a:prstGeom>
        </p:spPr>
        <p:txBody>
          <a:bodyPr wrap="square">
            <a:spAutoFit/>
          </a:bodyPr>
          <a:lstStyle/>
          <a:p>
            <a:pPr algn="just"/>
            <a:r>
              <a:rPr lang="ru-RU" b="1" dirty="0">
                <a:solidFill>
                  <a:srgbClr val="C00000"/>
                </a:solidFill>
              </a:rPr>
              <a:t>Функция обратного вызова </a:t>
            </a:r>
            <a:r>
              <a:rPr lang="ru-RU" b="1" dirty="0"/>
              <a:t>– это функция, которая передаётся в качестве аргумента другой функции для последующего её вызова.</a:t>
            </a:r>
          </a:p>
        </p:txBody>
      </p:sp>
      <p:pic>
        <p:nvPicPr>
          <p:cNvPr id="6" name="Рисунок 5">
            <a:extLst>
              <a:ext uri="{FF2B5EF4-FFF2-40B4-BE49-F238E27FC236}">
                <a16:creationId xmlns:a16="http://schemas.microsoft.com/office/drawing/2014/main" id="{D7C99B20-DE16-068C-9625-F9BD3C969793}"/>
              </a:ext>
            </a:extLst>
          </p:cNvPr>
          <p:cNvPicPr>
            <a:picLocks noChangeAspect="1"/>
          </p:cNvPicPr>
          <p:nvPr/>
        </p:nvPicPr>
        <p:blipFill>
          <a:blip r:embed="rId4"/>
          <a:stretch>
            <a:fillRect/>
          </a:stretch>
        </p:blipFill>
        <p:spPr>
          <a:xfrm>
            <a:off x="5710587" y="1360144"/>
            <a:ext cx="6335378" cy="3134577"/>
          </a:xfrm>
          <a:prstGeom prst="rect">
            <a:avLst/>
          </a:prstGeom>
        </p:spPr>
      </p:pic>
      <p:pic>
        <p:nvPicPr>
          <p:cNvPr id="11" name="Рисунок 10">
            <a:extLst>
              <a:ext uri="{FF2B5EF4-FFF2-40B4-BE49-F238E27FC236}">
                <a16:creationId xmlns:a16="http://schemas.microsoft.com/office/drawing/2014/main" id="{7FCB385B-A814-41F4-7259-BEFFA9776024}"/>
              </a:ext>
            </a:extLst>
          </p:cNvPr>
          <p:cNvPicPr>
            <a:picLocks noChangeAspect="1"/>
          </p:cNvPicPr>
          <p:nvPr/>
        </p:nvPicPr>
        <p:blipFill>
          <a:blip r:embed="rId5"/>
          <a:stretch>
            <a:fillRect/>
          </a:stretch>
        </p:blipFill>
        <p:spPr>
          <a:xfrm>
            <a:off x="219208" y="2554132"/>
            <a:ext cx="3696216" cy="3620005"/>
          </a:xfrm>
          <a:prstGeom prst="rect">
            <a:avLst/>
          </a:prstGeom>
        </p:spPr>
      </p:pic>
      <p:sp>
        <p:nvSpPr>
          <p:cNvPr id="13" name="TextBox 12">
            <a:extLst>
              <a:ext uri="{FF2B5EF4-FFF2-40B4-BE49-F238E27FC236}">
                <a16:creationId xmlns:a16="http://schemas.microsoft.com/office/drawing/2014/main" id="{A20A163D-8CA7-ADBC-6577-EA7C9AFF2FA1}"/>
              </a:ext>
            </a:extLst>
          </p:cNvPr>
          <p:cNvSpPr txBox="1"/>
          <p:nvPr/>
        </p:nvSpPr>
        <p:spPr>
          <a:xfrm>
            <a:off x="146035" y="1489421"/>
            <a:ext cx="4532101" cy="923330"/>
          </a:xfrm>
          <a:prstGeom prst="rect">
            <a:avLst/>
          </a:prstGeom>
          <a:noFill/>
        </p:spPr>
        <p:txBody>
          <a:bodyPr wrap="square">
            <a:spAutoFit/>
          </a:bodyPr>
          <a:lstStyle/>
          <a:p>
            <a:pPr algn="just"/>
            <a:r>
              <a:rPr lang="ru-RU" b="1" dirty="0"/>
              <a:t>Функции обратного вызова часто используются, в качестве </a:t>
            </a:r>
            <a:r>
              <a:rPr lang="ru-RU" b="1" dirty="0">
                <a:solidFill>
                  <a:srgbClr val="C00000"/>
                </a:solidFill>
              </a:rPr>
              <a:t>обработчиков событий</a:t>
            </a:r>
            <a:r>
              <a:rPr lang="ru-RU" b="1" dirty="0"/>
              <a:t>.</a:t>
            </a:r>
          </a:p>
        </p:txBody>
      </p:sp>
      <p:pic>
        <p:nvPicPr>
          <p:cNvPr id="15" name="Рисунок 14">
            <a:extLst>
              <a:ext uri="{FF2B5EF4-FFF2-40B4-BE49-F238E27FC236}">
                <a16:creationId xmlns:a16="http://schemas.microsoft.com/office/drawing/2014/main" id="{FA42F66C-A696-A6E0-B634-B1564A6F0014}"/>
              </a:ext>
            </a:extLst>
          </p:cNvPr>
          <p:cNvPicPr>
            <a:picLocks noChangeAspect="1"/>
          </p:cNvPicPr>
          <p:nvPr/>
        </p:nvPicPr>
        <p:blipFill>
          <a:blip r:embed="rId6"/>
          <a:stretch>
            <a:fillRect/>
          </a:stretch>
        </p:blipFill>
        <p:spPr>
          <a:xfrm>
            <a:off x="6877257" y="4786404"/>
            <a:ext cx="5125165" cy="1714739"/>
          </a:xfrm>
          <a:prstGeom prst="rect">
            <a:avLst/>
          </a:prstGeom>
        </p:spPr>
      </p:pic>
      <p:sp>
        <p:nvSpPr>
          <p:cNvPr id="17" name="TextBox 16">
            <a:extLst>
              <a:ext uri="{FF2B5EF4-FFF2-40B4-BE49-F238E27FC236}">
                <a16:creationId xmlns:a16="http://schemas.microsoft.com/office/drawing/2014/main" id="{A925E1C5-FB7A-17E3-DEE2-889DC5248FB5}"/>
              </a:ext>
            </a:extLst>
          </p:cNvPr>
          <p:cNvSpPr txBox="1"/>
          <p:nvPr/>
        </p:nvSpPr>
        <p:spPr>
          <a:xfrm>
            <a:off x="6096000" y="4051306"/>
            <a:ext cx="642937" cy="1446550"/>
          </a:xfrm>
          <a:prstGeom prst="rect">
            <a:avLst/>
          </a:prstGeom>
          <a:noFill/>
        </p:spPr>
        <p:txBody>
          <a:bodyPr wrap="square">
            <a:spAutoFit/>
          </a:bodyPr>
          <a:lstStyle/>
          <a:p>
            <a:r>
              <a:rPr lang="ru-RU" sz="8800" b="1" dirty="0">
                <a:solidFill>
                  <a:srgbClr val="C00000"/>
                </a:solidFill>
              </a:rPr>
              <a:t>+</a:t>
            </a:r>
            <a:endParaRPr lang="ru-RU" sz="8800" dirty="0">
              <a:solidFill>
                <a:srgbClr val="C00000"/>
              </a:solidFill>
            </a:endParaRPr>
          </a:p>
        </p:txBody>
      </p:sp>
    </p:spTree>
    <p:extLst>
      <p:ext uri="{BB962C8B-B14F-4D97-AF65-F5344CB8AC3E}">
        <p14:creationId xmlns:p14="http://schemas.microsoft.com/office/powerpoint/2010/main" val="13365599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Параметры по умолчанию</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51</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4DC4633C-7D66-5EE0-94E3-5CA66456045C}"/>
              </a:ext>
            </a:extLst>
          </p:cNvPr>
          <p:cNvSpPr/>
          <p:nvPr/>
        </p:nvSpPr>
        <p:spPr>
          <a:xfrm>
            <a:off x="79263" y="811638"/>
            <a:ext cx="11790636" cy="646331"/>
          </a:xfrm>
          <a:prstGeom prst="rect">
            <a:avLst/>
          </a:prstGeom>
        </p:spPr>
        <p:txBody>
          <a:bodyPr wrap="square">
            <a:spAutoFit/>
          </a:bodyPr>
          <a:lstStyle/>
          <a:p>
            <a:pPr algn="just"/>
            <a:r>
              <a:rPr lang="ru-RU" b="1" dirty="0"/>
              <a:t>Параметры функции можно инициализировать </a:t>
            </a:r>
            <a:r>
              <a:rPr lang="ru-RU" b="1" dirty="0">
                <a:solidFill>
                  <a:srgbClr val="C00000"/>
                </a:solidFill>
              </a:rPr>
              <a:t>значениями по умолчанию</a:t>
            </a:r>
            <a:r>
              <a:rPr lang="ru-RU" b="1" dirty="0"/>
              <a:t>, которые будут использоваться в том случае, если параметры не были инициализированы аргументами при вызове функции.</a:t>
            </a:r>
          </a:p>
        </p:txBody>
      </p:sp>
      <p:sp>
        <p:nvSpPr>
          <p:cNvPr id="4" name="Прямоугольник 3">
            <a:extLst>
              <a:ext uri="{FF2B5EF4-FFF2-40B4-BE49-F238E27FC236}">
                <a16:creationId xmlns:a16="http://schemas.microsoft.com/office/drawing/2014/main" id="{9CBD948A-8437-7EF9-4D92-9A6174DBB2AF}"/>
              </a:ext>
            </a:extLst>
          </p:cNvPr>
          <p:cNvSpPr/>
          <p:nvPr/>
        </p:nvSpPr>
        <p:spPr>
          <a:xfrm>
            <a:off x="3048723" y="1610781"/>
            <a:ext cx="6096000" cy="1200329"/>
          </a:xfrm>
          <a:prstGeom prst="rect">
            <a:avLst/>
          </a:prstGeom>
        </p:spPr>
        <p:txBody>
          <a:bodyPr>
            <a:spAutoFit/>
          </a:bodyPr>
          <a:lstStyle/>
          <a:p>
            <a:r>
              <a:rPr lang="ru-RU" b="1" dirty="0"/>
              <a:t>function foo(</a:t>
            </a:r>
            <a:r>
              <a:rPr lang="ru-RU" b="1" dirty="0" err="1"/>
              <a:t>greeting</a:t>
            </a:r>
            <a:r>
              <a:rPr lang="ru-RU" b="1" dirty="0"/>
              <a:t> = "Привет", name = "Гость") {</a:t>
            </a:r>
          </a:p>
          <a:p>
            <a:r>
              <a:rPr lang="ru-RU" b="1" dirty="0"/>
              <a:t>  console.log(</a:t>
            </a:r>
            <a:r>
              <a:rPr lang="ru-RU" b="1" dirty="0" err="1"/>
              <a:t>greeting</a:t>
            </a:r>
            <a:r>
              <a:rPr lang="ru-RU" b="1" dirty="0"/>
              <a:t> + ", " + name + "!");</a:t>
            </a:r>
          </a:p>
          <a:p>
            <a:r>
              <a:rPr lang="ru-RU" b="1" dirty="0"/>
              <a:t>}</a:t>
            </a:r>
          </a:p>
          <a:p>
            <a:r>
              <a:rPr lang="ru-RU" b="1" dirty="0"/>
              <a:t> foo();   // "Привет, Гость!"</a:t>
            </a:r>
          </a:p>
        </p:txBody>
      </p:sp>
      <p:sp>
        <p:nvSpPr>
          <p:cNvPr id="5" name="Прямоугольник 4">
            <a:extLst>
              <a:ext uri="{FF2B5EF4-FFF2-40B4-BE49-F238E27FC236}">
                <a16:creationId xmlns:a16="http://schemas.microsoft.com/office/drawing/2014/main" id="{2DD3CF96-E172-02E4-A8E2-7A5116EE04A2}"/>
              </a:ext>
            </a:extLst>
          </p:cNvPr>
          <p:cNvSpPr/>
          <p:nvPr/>
        </p:nvSpPr>
        <p:spPr>
          <a:xfrm>
            <a:off x="1428507" y="3230329"/>
            <a:ext cx="9181224" cy="646331"/>
          </a:xfrm>
          <a:prstGeom prst="rect">
            <a:avLst/>
          </a:prstGeom>
        </p:spPr>
        <p:txBody>
          <a:bodyPr wrap="square">
            <a:spAutoFit/>
          </a:bodyPr>
          <a:lstStyle/>
          <a:p>
            <a:r>
              <a:rPr lang="ru-RU" b="1" dirty="0">
                <a:solidFill>
                  <a:srgbClr val="C00000"/>
                </a:solidFill>
              </a:rPr>
              <a:t>Параметры создаются в момент вызова функции в том порядке, в котором они следуют в определении функции.</a:t>
            </a:r>
          </a:p>
        </p:txBody>
      </p:sp>
    </p:spTree>
    <p:extLst>
      <p:ext uri="{BB962C8B-B14F-4D97-AF65-F5344CB8AC3E}">
        <p14:creationId xmlns:p14="http://schemas.microsoft.com/office/powerpoint/2010/main" val="32939287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1000" b="-11000"/>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15D3A-5270-4B0E-BD1E-89BBE93E8868}"/>
              </a:ext>
            </a:extLst>
          </p:cNvPr>
          <p:cNvSpPr>
            <a:spLocks noGrp="1"/>
          </p:cNvSpPr>
          <p:nvPr>
            <p:ph type="title"/>
          </p:nvPr>
        </p:nvSpPr>
        <p:spPr>
          <a:xfrm>
            <a:off x="1251284" y="26831"/>
            <a:ext cx="10940716" cy="654206"/>
          </a:xfrm>
        </p:spPr>
        <p:txBody>
          <a:bodyPr>
            <a:normAutofit/>
          </a:bodyPr>
          <a:lstStyle/>
          <a:p>
            <a:r>
              <a:rPr lang="ru-RU" sz="2400" b="1" dirty="0">
                <a:effectLst>
                  <a:outerShdw blurRad="38100" dist="38100" dir="2700000" algn="tl">
                    <a:srgbClr val="000000">
                      <a:alpha val="43137"/>
                    </a:srgbClr>
                  </a:outerShdw>
                </a:effectLst>
              </a:rPr>
              <a:t>Литература</a:t>
            </a:r>
          </a:p>
        </p:txBody>
      </p:sp>
      <p:sp>
        <p:nvSpPr>
          <p:cNvPr id="7" name="TextBox 6">
            <a:extLst>
              <a:ext uri="{FF2B5EF4-FFF2-40B4-BE49-F238E27FC236}">
                <a16:creationId xmlns:a16="http://schemas.microsoft.com/office/drawing/2014/main" id="{A4A63C79-AAB1-2787-0B08-337FD92F602E}"/>
              </a:ext>
            </a:extLst>
          </p:cNvPr>
          <p:cNvSpPr txBox="1"/>
          <p:nvPr/>
        </p:nvSpPr>
        <p:spPr>
          <a:xfrm>
            <a:off x="11430656" y="356857"/>
            <a:ext cx="542136" cy="253916"/>
          </a:xfrm>
          <a:prstGeom prst="rect">
            <a:avLst/>
          </a:prstGeom>
          <a:noFill/>
        </p:spPr>
        <p:txBody>
          <a:bodyPr wrap="none" rtlCol="0">
            <a:spAutoFit/>
          </a:bodyPr>
          <a:lstStyle/>
          <a:p>
            <a:r>
              <a:rPr lang="en-US" sz="1050" b="1" dirty="0">
                <a:solidFill>
                  <a:schemeClr val="tx1">
                    <a:lumMod val="75000"/>
                    <a:lumOff val="25000"/>
                  </a:schemeClr>
                </a:solidFill>
                <a:latin typeface="Sansation" pitchFamily="2" charset="0"/>
              </a:rPr>
              <a:t>PAGE</a:t>
            </a:r>
            <a:endParaRPr lang="mk-MK" sz="1200" b="1" dirty="0">
              <a:solidFill>
                <a:schemeClr val="tx1">
                  <a:lumMod val="75000"/>
                  <a:lumOff val="25000"/>
                </a:schemeClr>
              </a:solidFill>
            </a:endParaRPr>
          </a:p>
        </p:txBody>
      </p:sp>
      <p:sp>
        <p:nvSpPr>
          <p:cNvPr id="9" name="Rectangle 18">
            <a:extLst>
              <a:ext uri="{FF2B5EF4-FFF2-40B4-BE49-F238E27FC236}">
                <a16:creationId xmlns:a16="http://schemas.microsoft.com/office/drawing/2014/main" id="{51500A2E-3244-55F5-3C13-4E8DC14053E2}"/>
              </a:ext>
            </a:extLst>
          </p:cNvPr>
          <p:cNvSpPr/>
          <p:nvPr/>
        </p:nvSpPr>
        <p:spPr>
          <a:xfrm>
            <a:off x="11507947" y="26831"/>
            <a:ext cx="361952" cy="361952"/>
          </a:xfrm>
          <a:prstGeom prst="rect">
            <a:avLst/>
          </a:prstGeom>
          <a:solidFill>
            <a:srgbClr val="3330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b="1" dirty="0">
                <a:solidFill>
                  <a:schemeClr val="bg1"/>
                </a:solidFill>
                <a:latin typeface="Sansation" pitchFamily="2" charset="0"/>
              </a:rPr>
              <a:t>52</a:t>
            </a:r>
            <a:endParaRPr lang="mk-MK" sz="1000" b="1" dirty="0">
              <a:solidFill>
                <a:schemeClr val="bg1"/>
              </a:solidFill>
            </a:endParaRPr>
          </a:p>
        </p:txBody>
      </p:sp>
      <p:sp>
        <p:nvSpPr>
          <p:cNvPr id="10" name="Subtitle 2">
            <a:extLst>
              <a:ext uri="{FF2B5EF4-FFF2-40B4-BE49-F238E27FC236}">
                <a16:creationId xmlns:a16="http://schemas.microsoft.com/office/drawing/2014/main" id="{D6BBDD95-F748-E159-E12C-04F85D52EF97}"/>
              </a:ext>
            </a:extLst>
          </p:cNvPr>
          <p:cNvSpPr txBox="1">
            <a:spLocks/>
          </p:cNvSpPr>
          <p:nvPr/>
        </p:nvSpPr>
        <p:spPr>
          <a:xfrm>
            <a:off x="0" y="550862"/>
            <a:ext cx="10820400" cy="130175"/>
          </a:xfrm>
          <a:prstGeom prst="rect">
            <a:avLst/>
          </a:prstGeom>
          <a:solidFill>
            <a:srgbClr val="C00000"/>
          </a:solidFill>
          <a:effectLst/>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endParaRPr lang="mk-MK" sz="1600" b="1" dirty="0">
              <a:solidFill>
                <a:schemeClr val="bg1"/>
              </a:solidFill>
            </a:endParaRPr>
          </a:p>
        </p:txBody>
      </p:sp>
      <p:sp>
        <p:nvSpPr>
          <p:cNvPr id="3" name="Прямоугольник 2">
            <a:extLst>
              <a:ext uri="{FF2B5EF4-FFF2-40B4-BE49-F238E27FC236}">
                <a16:creationId xmlns:a16="http://schemas.microsoft.com/office/drawing/2014/main" id="{B7A2305B-E507-4860-360B-960BCBE978E5}"/>
              </a:ext>
            </a:extLst>
          </p:cNvPr>
          <p:cNvSpPr/>
          <p:nvPr/>
        </p:nvSpPr>
        <p:spPr>
          <a:xfrm>
            <a:off x="239968" y="718809"/>
            <a:ext cx="11712063" cy="4293483"/>
          </a:xfrm>
          <a:prstGeom prst="rect">
            <a:avLst/>
          </a:prstGeom>
        </p:spPr>
        <p:txBody>
          <a:bodyPr wrap="square">
            <a:spAutoFit/>
          </a:bodyPr>
          <a:lstStyle/>
          <a:p>
            <a:pPr>
              <a:lnSpc>
                <a:spcPct val="150000"/>
              </a:lnSpc>
            </a:pPr>
            <a:r>
              <a:rPr lang="ru-RU" b="1" dirty="0">
                <a:latin typeface="Calibri" panose="020F0502020204030204" pitchFamily="34" charset="0"/>
                <a:ea typeface="Times New Roman" panose="02020603050405020304" pitchFamily="18" charset="0"/>
                <a:cs typeface="Times New Roman" panose="02020603050405020304" pitchFamily="18" charset="0"/>
              </a:rPr>
              <a:t>Интернет-ресурсы:</a:t>
            </a:r>
          </a:p>
          <a:p>
            <a:pPr marL="342900" indent="-342900">
              <a:lnSpc>
                <a:spcPct val="150000"/>
              </a:lnSpc>
              <a:buFont typeface="+mj-lt"/>
              <a:buAutoNum type="arabicPeriod"/>
            </a:pPr>
            <a:r>
              <a:rPr lang="ru-RU" dirty="0">
                <a:latin typeface="Calibri" panose="020F0502020204030204" pitchFamily="34" charset="0"/>
                <a:ea typeface="Times New Roman" panose="02020603050405020304" pitchFamily="18" charset="0"/>
                <a:cs typeface="Times New Roman" panose="02020603050405020304" pitchFamily="18" charset="0"/>
              </a:rPr>
              <a:t>Современный учебник по </a:t>
            </a:r>
            <a:r>
              <a:rPr lang="en-US" dirty="0">
                <a:latin typeface="Calibri" panose="020F0502020204030204" pitchFamily="34" charset="0"/>
                <a:ea typeface="Times New Roman" panose="02020603050405020304" pitchFamily="18" charset="0"/>
                <a:cs typeface="Times New Roman" panose="02020603050405020304" pitchFamily="18" charset="0"/>
              </a:rPr>
              <a:t>Java Script</a:t>
            </a:r>
            <a:r>
              <a:rPr lang="ru-RU" dirty="0">
                <a:latin typeface="Calibri" panose="020F0502020204030204" pitchFamily="34" charset="0"/>
                <a:ea typeface="Times New Roman" panose="02020603050405020304" pitchFamily="18" charset="0"/>
                <a:cs typeface="Times New Roman" panose="02020603050405020304" pitchFamily="18" charset="0"/>
              </a:rPr>
              <a:t> - </a:t>
            </a:r>
            <a:r>
              <a:rPr lang="ru-RU" u="sng" dirty="0">
                <a:solidFill>
                  <a:srgbClr val="C00000"/>
                </a:solidFill>
                <a:hlinkClick r:id="rId4"/>
              </a:rPr>
              <a:t>https://learn.javascript.ru/books</a:t>
            </a:r>
            <a:endParaRPr lang="ru-RU" u="sng" dirty="0">
              <a:solidFill>
                <a:srgbClr val="C00000"/>
              </a:solidFill>
            </a:endParaRPr>
          </a:p>
          <a:p>
            <a:pPr marL="342900" indent="-342900">
              <a:lnSpc>
                <a:spcPct val="150000"/>
              </a:lnSpc>
              <a:buFont typeface="+mj-lt"/>
              <a:buAutoNum type="arabicPeriod"/>
            </a:pPr>
            <a:r>
              <a:rPr lang="ru-RU" dirty="0"/>
              <a:t>Выразительный </a:t>
            </a:r>
            <a:r>
              <a:rPr lang="en-US" dirty="0"/>
              <a:t>JavaScript</a:t>
            </a:r>
            <a:r>
              <a:rPr lang="ru-RU" dirty="0"/>
              <a:t> - </a:t>
            </a:r>
            <a:r>
              <a:rPr lang="ru-RU" u="sng" dirty="0">
                <a:hlinkClick r:id="rId5"/>
              </a:rPr>
              <a:t>https://www.gitbook.com/book/karmazzin/eloquentjavascript_ru/details</a:t>
            </a:r>
            <a:endParaRPr lang="ru-RU" u="sng" dirty="0"/>
          </a:p>
          <a:p>
            <a:pPr marL="342900" indent="-342900">
              <a:lnSpc>
                <a:spcPct val="150000"/>
              </a:lnSpc>
              <a:buFont typeface="+mj-lt"/>
              <a:buAutoNum type="arabicPeriod"/>
            </a:pPr>
            <a:r>
              <a:rPr lang="ru-RU" dirty="0"/>
              <a:t>Ресурс с кратким изложением основ - </a:t>
            </a:r>
            <a:r>
              <a:rPr lang="ru-RU" u="sng" dirty="0">
                <a:hlinkClick r:id="rId6"/>
              </a:rPr>
              <a:t>http://bonsaiden.github.io/JavaScript-Garden/ru/</a:t>
            </a:r>
            <a:endParaRPr lang="ru-RU" dirty="0"/>
          </a:p>
          <a:p>
            <a:pPr marL="342900" indent="-342900">
              <a:lnSpc>
                <a:spcPct val="150000"/>
              </a:lnSpc>
              <a:buFont typeface="+mj-lt"/>
              <a:buAutoNum type="arabicPeriod"/>
            </a:pPr>
            <a:endParaRPr lang="ru-RU" sz="800" dirty="0"/>
          </a:p>
          <a:p>
            <a:pPr>
              <a:lnSpc>
                <a:spcPct val="150000"/>
              </a:lnSpc>
            </a:pPr>
            <a:r>
              <a:rPr lang="ru-RU" b="1" dirty="0"/>
              <a:t>Печатные издания:</a:t>
            </a:r>
          </a:p>
          <a:p>
            <a:pPr marL="342900" lvl="0" indent="-342900">
              <a:buFont typeface="+mj-lt"/>
              <a:buAutoNum type="arabicPeriod"/>
            </a:pPr>
            <a:r>
              <a:rPr lang="ru-RU" dirty="0"/>
              <a:t>Закас Н. </a:t>
            </a:r>
            <a:r>
              <a:rPr lang="en-US" dirty="0"/>
              <a:t>JavaScript </a:t>
            </a:r>
            <a:r>
              <a:rPr lang="ru-RU" dirty="0"/>
              <a:t>для профессиональных веб-разработчиков / (Пер. с англ. А. Лютича). – СПб.: Питер, 2015. – 960с.</a:t>
            </a:r>
          </a:p>
          <a:p>
            <a:pPr marL="342900" lvl="0" indent="-342900">
              <a:buFont typeface="+mj-lt"/>
              <a:buAutoNum type="arabicPeriod"/>
            </a:pPr>
            <a:r>
              <a:rPr lang="ru-RU" dirty="0"/>
              <a:t>Флэнаган Д. </a:t>
            </a:r>
            <a:r>
              <a:rPr lang="en-US" dirty="0"/>
              <a:t>JavaScript</a:t>
            </a:r>
            <a:r>
              <a:rPr lang="ru-RU" dirty="0"/>
              <a:t>. Подробное руководство, 6-е издание. – Пер. с англ. – СПб: Символ-Плюс, 2012. – 1080 с., ил.</a:t>
            </a:r>
          </a:p>
          <a:p>
            <a:pPr marL="342900" lvl="0" indent="-342900">
              <a:buFont typeface="+mj-lt"/>
              <a:buAutoNum type="arabicPeriod"/>
            </a:pPr>
            <a:r>
              <a:rPr lang="ru-RU" dirty="0"/>
              <a:t>Васильев А.Н. </a:t>
            </a:r>
            <a:r>
              <a:rPr lang="en-US" dirty="0"/>
              <a:t>JavaScript </a:t>
            </a:r>
            <a:r>
              <a:rPr lang="ru-RU" dirty="0"/>
              <a:t>в примерах и задачах. / Алексей Васильев. – М.: Издательство «Э», 2017. – 720 с.</a:t>
            </a:r>
          </a:p>
          <a:p>
            <a:pPr marL="342900" lvl="0" indent="-342900">
              <a:buFont typeface="+mj-lt"/>
              <a:buAutoNum type="arabicPeriod"/>
            </a:pPr>
            <a:r>
              <a:rPr lang="ru-RU" dirty="0"/>
              <a:t>Дакетт, Джон. </a:t>
            </a:r>
            <a:r>
              <a:rPr lang="en-US" dirty="0"/>
              <a:t>JavaScript </a:t>
            </a:r>
            <a:r>
              <a:rPr lang="ru-RU" dirty="0"/>
              <a:t>и </a:t>
            </a:r>
            <a:r>
              <a:rPr lang="en-US" dirty="0"/>
              <a:t>jQuery</a:t>
            </a:r>
            <a:r>
              <a:rPr lang="ru-RU" dirty="0"/>
              <a:t>. Интерактивная веб-разработка / Джон Дакетт ; (пер. с англ. М.А. Райтмана). – М.: Издательство «Э»217. – 640 с.</a:t>
            </a:r>
          </a:p>
        </p:txBody>
      </p:sp>
    </p:spTree>
    <p:extLst>
      <p:ext uri="{BB962C8B-B14F-4D97-AF65-F5344CB8AC3E}">
        <p14:creationId xmlns:p14="http://schemas.microsoft.com/office/powerpoint/2010/main" val="3322630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433825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ИНФ_ТИХН" id="{2EBA96BF-A8A3-43A8-9614-A6A41BE6A38F}" vid="{90ED81AE-57FA-4E68-9BAD-13C5A182DEE7}"/>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Шаблон_инф._технологии</Template>
  <TotalTime>2182</TotalTime>
  <Words>4392</Words>
  <Application>Microsoft Office PowerPoint</Application>
  <PresentationFormat>Широкоэкранный</PresentationFormat>
  <Paragraphs>635</Paragraphs>
  <Slides>53</Slides>
  <Notes>53</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53</vt:i4>
      </vt:variant>
    </vt:vector>
  </HeadingPairs>
  <TitlesOfParts>
    <vt:vector size="59" baseType="lpstr">
      <vt:lpstr>Anonymous Pro</vt:lpstr>
      <vt:lpstr>Arial</vt:lpstr>
      <vt:lpstr>Calibri</vt:lpstr>
      <vt:lpstr>Calibri Light</vt:lpstr>
      <vt:lpstr>Sansation</vt:lpstr>
      <vt:lpstr>Тема Office</vt:lpstr>
      <vt:lpstr>Презентация PowerPoint</vt:lpstr>
      <vt:lpstr>Понятие массива</vt:lpstr>
      <vt:lpstr>Создание массива</vt:lpstr>
      <vt:lpstr>Операции с элементами массива</vt:lpstr>
      <vt:lpstr>Операции с элементами массива</vt:lpstr>
      <vt:lpstr>Разреженные массивы</vt:lpstr>
      <vt:lpstr>Методы класса Array</vt:lpstr>
      <vt:lpstr>Пример использования метода splice</vt:lpstr>
      <vt:lpstr>Многомерные массивы</vt:lpstr>
      <vt:lpstr>Произвольные массивы</vt:lpstr>
      <vt:lpstr>Перебор многомерных массивов</vt:lpstr>
      <vt:lpstr>Заполнение многомерных массивов</vt:lpstr>
      <vt:lpstr>Пример</vt:lpstr>
      <vt:lpstr>Пример</vt:lpstr>
      <vt:lpstr>Деструктуризация массивов</vt:lpstr>
      <vt:lpstr>Деструктуризация массивов</vt:lpstr>
      <vt:lpstr>Деструктуризация массивов</vt:lpstr>
      <vt:lpstr>Деструктуризация массивов</vt:lpstr>
      <vt:lpstr>Пример</vt:lpstr>
      <vt:lpstr>Определение функции</vt:lpstr>
      <vt:lpstr>Определение функции</vt:lpstr>
      <vt:lpstr>Определение функции</vt:lpstr>
      <vt:lpstr>Определение функции</vt:lpstr>
      <vt:lpstr>Определение функции</vt:lpstr>
      <vt:lpstr>Пример</vt:lpstr>
      <vt:lpstr>Вызов функции</vt:lpstr>
      <vt:lpstr>Аргументы и параметры функций</vt:lpstr>
      <vt:lpstr>Аргументы и параметры функций</vt:lpstr>
      <vt:lpstr>Списки аргументов переменной длинны</vt:lpstr>
      <vt:lpstr>Параметры по умолчанию</vt:lpstr>
      <vt:lpstr>Параметры функций</vt:lpstr>
      <vt:lpstr>Параметры-переменные и необязательные параметры функций</vt:lpstr>
      <vt:lpstr>Return в функциях</vt:lpstr>
      <vt:lpstr>Примеры</vt:lpstr>
      <vt:lpstr>Доступ к внешним переменным</vt:lpstr>
      <vt:lpstr>Лексическое окружение функций</vt:lpstr>
      <vt:lpstr>Замыкания в JavaScript</vt:lpstr>
      <vt:lpstr>Счетчики на замыканиях</vt:lpstr>
      <vt:lpstr>Локальная переменная счетчика</vt:lpstr>
      <vt:lpstr>Примеры</vt:lpstr>
      <vt:lpstr>Примеры</vt:lpstr>
      <vt:lpstr>Аргументы и параметры функций</vt:lpstr>
      <vt:lpstr>Аргументы и параметры функций</vt:lpstr>
      <vt:lpstr>Вызов функции</vt:lpstr>
      <vt:lpstr>Списки аргументов переменной длинны</vt:lpstr>
      <vt:lpstr>Деструктуризация параметров функции</vt:lpstr>
      <vt:lpstr>Свойства и методы функций</vt:lpstr>
      <vt:lpstr>Свойства и методы функций</vt:lpstr>
      <vt:lpstr>Стрелочные функции</vt:lpstr>
      <vt:lpstr>Функции обратного вызова (callback)</vt:lpstr>
      <vt:lpstr>Параметры по умолчанию</vt:lpstr>
      <vt:lpstr>Литература</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ТЕМА ЗАНЯТИЯ</dc:title>
  <dc:creator>Сергей Чесноков</dc:creator>
  <cp:lastModifiedBy>Сергей Чесноков</cp:lastModifiedBy>
  <cp:revision>110</cp:revision>
  <dcterms:created xsi:type="dcterms:W3CDTF">2020-11-24T10:07:48Z</dcterms:created>
  <dcterms:modified xsi:type="dcterms:W3CDTF">2025-11-14T10:44:05Z</dcterms:modified>
</cp:coreProperties>
</file>